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1" r:id="rId22"/>
    <p:sldId id="272" r:id="rId23"/>
    <p:sldId id="273" r:id="rId24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54864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3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457200"/>
            <a:ext cx="640080" cy="64008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822960"/>
            <a:ext cx="548640" cy="54864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371600"/>
            <a:ext cx="594360" cy="59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</a:rPr>
              <a:t>DEVELOPER TRAINING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548640" y="9601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&amp; Helm</a:t>
            </a:r>
            <a:endParaRPr lang="en-US" sz="5400" dirty="0"/>
          </a:p>
        </p:txBody>
      </p:sp>
      <p:sp>
        <p:nvSpPr>
          <p:cNvPr id="10" name="Text 5"/>
          <p:cNvSpPr/>
          <p:nvPr/>
        </p:nvSpPr>
        <p:spPr>
          <a:xfrm>
            <a:off x="54864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</a:rPr>
              <a:t>Modern Kubernetes Deployments for New Developers</a:t>
            </a:r>
            <a:endParaRPr lang="en-US" sz="1800" dirty="0"/>
          </a:p>
        </p:txBody>
      </p:sp>
      <p:sp>
        <p:nvSpPr>
          <p:cNvPr id="11" name="Shape 6"/>
          <p:cNvSpPr/>
          <p:nvPr/>
        </p:nvSpPr>
        <p:spPr>
          <a:xfrm>
            <a:off x="548640" y="2971800"/>
            <a:ext cx="4114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48640" y="3200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Instructor: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Senior DevOps Engineer  </a:t>
            </a:r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  •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Topics: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GitOps · Helm · Kubernetes · ArgoCD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4864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What we'll cover today: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48640" y="41605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→  Git as the single source of truth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48640" y="43799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→  What is GitOps?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48640" y="45994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→  Helm charts &amp; templating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48640" y="481888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→  Live examples &amp; best practices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4B8A6"/>
                </a:solidFill>
              </a:rPr>
              <a:t>AGENDA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5577840" cy="749808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0" y="457200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6583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3632" y="612648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434840" y="6400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The Problem with Manual Deployments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91840" y="1344168"/>
            <a:ext cx="5577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344168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0" y="154533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1499616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34840" y="15270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GitOps Fundamentals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291840" y="2231136"/>
            <a:ext cx="5577840" cy="749808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91840" y="2231136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291840" y="24323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2386584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434840" y="241401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Helm: The Kubernetes Package Manager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3291840" y="3118104"/>
            <a:ext cx="55778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291840" y="3118104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291840" y="33192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3273552"/>
            <a:ext cx="420624" cy="4206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434840" y="330098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Helm Charts Deep Dive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3291840" y="4005072"/>
            <a:ext cx="5577840" cy="749808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91840" y="4005072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291840" y="42062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32" y="4160520"/>
            <a:ext cx="420624" cy="42062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434840" y="418795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Real-World Workflows &amp; Best Practices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Manual Deployments Fail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2984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</a:rPr>
              <a:t>"It works on my machine"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7830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Configs differ between dev, staging &amp; prod.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Environment drift causes mysterious failures.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097280"/>
            <a:ext cx="41148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258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50408" y="12984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</a:rPr>
              <a:t>No Audit Trail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983480" y="17830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Who changed what? When? Why?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Manual kubectl commands leave no history.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3017520"/>
            <a:ext cx="41148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4612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15568" y="32186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</a:rPr>
              <a:t>Knowledge Silos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48640" y="37033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Only senior engineers know the magic flags.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Bus factor = 1. Vacations = incidents.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800600" y="3017520"/>
            <a:ext cx="41148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4612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50408" y="32186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</a:rPr>
              <a:t>Slow &amp; Error-Prone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983480" y="37033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Copy-paste YAML, typos in production.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Rollbacks require heroics, not automation.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</a:rPr>
              <a:t>GITOPS FUNDAMENTALS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GitOps?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685800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</a:rPr>
              <a:t>GitOps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 is the practice of using </a:t>
            </a:r>
            <a:pPr indent="0" marL="0">
              <a:buNone/>
            </a:pPr>
            <a:r>
              <a:rPr lang="en-US" sz="1350" b="1" dirty="0">
                <a:solidFill>
                  <a:srgbClr val="0D1117"/>
                </a:solidFill>
              </a:rPr>
              <a:t>Git as the single source of truth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 for declarative infrastructure &amp; app configuration. Changes go through Git — not kubectl commands.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2011680" cy="2651760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11680"/>
            <a:ext cx="20116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1</a:t>
            </a:r>
            <a:endParaRPr lang="en-US" sz="2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76272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75488" y="2670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Declarative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5488" y="3054096"/>
            <a:ext cx="1810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Describe the desired state in files, not imperative scripts.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514600" y="2011680"/>
            <a:ext cx="2011680" cy="26517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14600" y="2011680"/>
            <a:ext cx="20116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87752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2</a:t>
            </a:r>
            <a:endParaRPr lang="en-US" sz="2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176272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24328" y="2670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Versioned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624328" y="3054096"/>
            <a:ext cx="1810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Git history = full audit log of every change ever made.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63440" y="2011680"/>
            <a:ext cx="2011680" cy="2651760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63440" y="2011680"/>
            <a:ext cx="20116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36592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3</a:t>
            </a:r>
            <a:endParaRPr lang="en-US" sz="22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176272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773168" y="2670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Automated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773168" y="3054096"/>
            <a:ext cx="1810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 reconciliation agent (ArgoCD/Flux) continuously syncs state.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812280" y="2011680"/>
            <a:ext cx="2011680" cy="26517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812280" y="2011680"/>
            <a:ext cx="20116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885432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4</a:t>
            </a:r>
            <a:endParaRPr lang="en-US" sz="22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176272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22008" y="2670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Self-healing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922008" y="3054096"/>
            <a:ext cx="1810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Drift is auto-corrected. Prod always matches Git.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</a:rPr>
              <a:t>GITOPS IN ACTION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GitOps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463040" cy="1965960"/>
          </a:xfrm>
          <a:prstGeom prst="rect">
            <a:avLst/>
          </a:prstGeom>
          <a:solidFill>
            <a:srgbClr val="1C2A3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1671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Developer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25877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Writes code,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pushes to Git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828800" y="2400300"/>
            <a:ext cx="2286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11096" y="221742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</a:rPr>
              <a:t>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103120" y="1417320"/>
            <a:ext cx="1463040" cy="1965960"/>
          </a:xfrm>
          <a:prstGeom prst="rect">
            <a:avLst/>
          </a:prstGeom>
          <a:solidFill>
            <a:srgbClr val="1C2A3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6002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48840" y="21671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Git Repo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148840" y="25877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PR review,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merge to main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611880" y="2400300"/>
            <a:ext cx="2286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694176" y="221742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</a:rPr>
              <a:t>›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3886200" y="1417320"/>
            <a:ext cx="1463040" cy="1965960"/>
          </a:xfrm>
          <a:prstGeom prst="rect">
            <a:avLst/>
          </a:prstGeom>
          <a:solidFill>
            <a:srgbClr val="1C2A3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60020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31920" y="21671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CI Pipeline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931920" y="25877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Tests pass,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image built &amp; pushed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394960" y="2400300"/>
            <a:ext cx="2286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477256" y="221742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</a:rPr>
              <a:t>›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5669280" y="1417320"/>
            <a:ext cx="1463040" cy="1965960"/>
          </a:xfrm>
          <a:prstGeom prst="rect">
            <a:avLst/>
          </a:prstGeom>
          <a:solidFill>
            <a:srgbClr val="1C2A3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0020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715000" y="21671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ArgoCD / Flux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715000" y="25877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Detects diff,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syncs cluster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178040" y="2400300"/>
            <a:ext cx="2286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260336" y="221742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</a:rPr>
              <a:t>›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7452360" y="1417320"/>
            <a:ext cx="1463040" cy="1965960"/>
          </a:xfrm>
          <a:prstGeom prst="rect">
            <a:avLst/>
          </a:prstGeom>
          <a:solidFill>
            <a:srgbClr val="1C2A3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1600200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498080" y="21671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Kubernetes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7498080" y="25877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Desired state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applied &amp; running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365760" y="37490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4A3B8"/>
                </a:solidFill>
              </a:rPr>
              <a:t>⟳  Git is always the source of truth — the cluster converges to what's in the repo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</a:rPr>
              <a:t>HELM FUNDAMENTALS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Helm?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💡  Think of Helm like  apt / brew  for Kubernetes — it packages all the YAML you need to deploy an app into a single, versioned, configurable unit called a 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516368" y="117043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</a:rPr>
              <a:t>Chart.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2697480" cy="28803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26974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84832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Chart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30352" y="26700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 bundle of YAML templates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0352" y="31638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Has a Chart.yaml (metadata)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0352" y="36576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Has a values.yaml (defaults)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0352" y="41513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Versioned &amp; shareable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46120" y="1920240"/>
            <a:ext cx="2697480" cy="28803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1920240"/>
            <a:ext cx="26974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084832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88620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Release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3410712" y="26700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An installed chart instance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410712" y="31638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Each release has a unique name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410712" y="36576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Track history with helm history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410712" y="41513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Roll back instantly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126480" y="1920240"/>
            <a:ext cx="2697480" cy="28803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26480" y="1920240"/>
            <a:ext cx="26974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84832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76656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Repository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6291072" y="26700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 collection of Charts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291072" y="31638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Like a package registry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291072" y="36576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Add with helm repo add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291072" y="41513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Bitnami, ArtifactHub, private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</a:rPr>
              <a:t>HELM DEEP 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Anatomy of a Helm Chart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840480" cy="37490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my-app/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Chart.yaml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86537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values.yaml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charts/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52374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templates/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85292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deployment.yaml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18211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service.yaml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51129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ingress.yaml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38404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_helpers.tpl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416966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NOTES.txt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34840" y="1051560"/>
            <a:ext cx="4297680" cy="868680"/>
          </a:xfrm>
          <a:prstGeom prst="rect">
            <a:avLst/>
          </a:prstGeom>
          <a:solidFill>
            <a:srgbClr val="161B22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34840" y="105156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Chart.yaml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17720" y="14813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Declares the chart name, version, appVersion, and description. Required in every chart.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34840" y="1993392"/>
            <a:ext cx="4297680" cy="868680"/>
          </a:xfrm>
          <a:prstGeom prst="rect">
            <a:avLst/>
          </a:prstGeom>
          <a:solidFill>
            <a:srgbClr val="161B22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34840" y="1993392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084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values.yaml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17720" y="24231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Default values users can override. Think of it as the API surface of your chart.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34840" y="2935224"/>
            <a:ext cx="4297680" cy="868680"/>
          </a:xfrm>
          <a:prstGeom prst="rect">
            <a:avLst/>
          </a:prstGeom>
          <a:solidFill>
            <a:srgbClr val="161B22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34840" y="2935224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30266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17720" y="33649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Go-template YAML files. Helm renders them by injecting values at deploy time.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34840" y="3877056"/>
            <a:ext cx="4297680" cy="868680"/>
          </a:xfrm>
          <a:prstGeom prst="rect">
            <a:avLst/>
          </a:prstGeom>
          <a:solidFill>
            <a:srgbClr val="161B22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34840" y="3877056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39684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_helpers.tpl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17720" y="43068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Reusable template snippets. Keeps your templates DRY and maintainable.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</a:rPr>
              <a:t>HELM TEMPLATING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Values &amp; Templates in Action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886200" cy="233172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3886200" cy="32918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replicaCount: 2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repository: my-app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tag: "1.4.2"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pullPolicy: IfNotPresent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ClusterIP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port: 80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limits: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cpu: 500m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memory: 256Mi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1596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023360" cy="233172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51560"/>
            <a:ext cx="4023360" cy="32918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0972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templates/deployment.yaml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444752"/>
            <a:ext cx="3749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{{ .Values.replicaCount 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{{ .Chart.Name 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image: "{{ .Values.image.repository }}: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{{- .Values.image.tag }}"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ports: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containerPort: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{{ .Values.service.port }}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841248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30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Key Helm Commands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9319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my-app ./my-app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41879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chart into your cluster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39319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 my-app ./my-app -f prod.yaml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37760" y="41879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Upgrade with custom values file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448056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rollback my-app 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47365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Roll back to revision #1 instantly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448056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template ./my-app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47365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Render YAML locally, no deploy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</a:rPr>
              <a:t>HELM + GITOPS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Better Together: ArgoCD + Helm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377440" cy="2377440"/>
          </a:xfrm>
          <a:prstGeom prst="ellipse">
            <a:avLst/>
          </a:prstGeom>
          <a:solidFill>
            <a:srgbClr val="1C2A3A"/>
          </a:solidFill>
          <a:ln w="1905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5544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94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Git Repo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560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Helm charts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+ values files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88036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</a:rPr>
              <a:t>→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3383280" y="1188720"/>
            <a:ext cx="2377440" cy="2377440"/>
          </a:xfrm>
          <a:prstGeom prst="ellipse">
            <a:avLst/>
          </a:prstGeom>
          <a:solidFill>
            <a:srgbClr val="1C2A3A"/>
          </a:solidFill>
          <a:ln w="1905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5544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194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ArgoCD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83280" y="2560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Watches repo,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runs helm template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80644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Shape 11"/>
          <p:cNvSpPr/>
          <p:nvPr/>
        </p:nvSpPr>
        <p:spPr>
          <a:xfrm>
            <a:off x="6309360" y="1188720"/>
            <a:ext cx="2377440" cy="2377440"/>
          </a:xfrm>
          <a:prstGeom prst="ellipse">
            <a:avLst/>
          </a:prstGeom>
          <a:solidFill>
            <a:srgbClr val="1C2A3A"/>
          </a:solidFill>
          <a:ln w="1905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5544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194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Kubernetes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09360" y="2560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Desired state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running in cluster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03320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04672" y="36850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Values overridden per environment (dev/staging/prod) via separate values files in Git</a:t>
            </a:r>
            <a:endParaRPr lang="en-US" sz="11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23360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04672" y="40050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ArgoCD detects when live cluster drifts from Helm chart — alerts or auto-heals</a:t>
            </a:r>
            <a:endParaRPr lang="en-US" sz="11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343400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04672" y="43251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Every Helm release maps to a Git commit — full traceability, one-line rollback</a:t>
            </a:r>
            <a:endParaRPr lang="en-US" sz="11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663440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04672" y="46451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PR-based workflow: no one touches the cluster directly — Git is the only door in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</a:rPr>
              <a:t>REAL WORLD EXAMPLE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GitOps Repo Layout: Multi-Env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886200" cy="374904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3886200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gitops-repo/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7099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my-api/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9568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Chart.yaml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2037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values.yaml        # base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4505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values-dev.yaml    # dev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697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values-staging.yaml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9443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values-prod.yaml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1912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my-frontend/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4381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...same pattern...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6850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infra/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9319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cert-manager/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41788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ingress-nginx/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44256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monitoring/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34840" y="1051560"/>
            <a:ext cx="429768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34840" y="1051560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One chart, many values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17720" y="14538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The same Helm chart is reused across environments. Only the values file changes. No copy-paste YAML.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34840" y="1965960"/>
            <a:ext cx="429768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34840" y="1965960"/>
            <a:ext cx="54864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2057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Environment isolation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17720" y="23682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dev values: 1 replica, debug logs.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prod values: 5 replicas, HPA enabled, resource limits strict.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34840" y="2880360"/>
            <a:ext cx="429768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34840" y="2880360"/>
            <a:ext cx="54864" cy="822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2971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Infra as code too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17720" y="32826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Cluster-level tools (cert-manager, ingress) are also Helm charts tracked in Git.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3794760"/>
            <a:ext cx="429768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34840" y="3794760"/>
            <a:ext cx="54864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3886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PR = deployment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17720" y="41970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Want to bump the image tag in prod? Edit values-prod.yaml in a PR. ArgoCD does the rest.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</a:rPr>
              <a:t>BEST PRACTICES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Do's &amp; Don'ts for New Developers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931920" cy="32918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80744"/>
            <a:ext cx="3931920" cy="3419856"/>
          </a:xfrm>
          <a:prstGeom prst="rect">
            <a:avLst/>
          </a:prstGeom>
          <a:solidFill>
            <a:srgbClr val="0D1117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›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Store ALL config in Git — never kubectl apply by hand in prod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›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Use semantic versioning for your Chart (MAJOR.MINOR.PATCH)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›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Keep values.yaml well-commented — it's your chart's documentation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1089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›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Use helm lint and helm template in CI before merging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6576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›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Separate app charts from infra charts in the repo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2062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›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Use Secrets management (Vault / Sealed Secrets) — never commit raw secrets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3931920" cy="329184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0972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DON'T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380744"/>
            <a:ext cx="3931920" cy="3419856"/>
          </a:xfrm>
          <a:prstGeom prst="rect">
            <a:avLst/>
          </a:prstGeom>
          <a:solidFill>
            <a:srgbClr val="0D1117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4630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✕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Don't hardcode image tags as 'latest' — always pin versions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83480" y="20116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✕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Don't modify the running cluster directly — make a PR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83480" y="25603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✕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Don't put environment-specific logic inside templates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31089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✕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Don't ignore ArgoCD sync warnings — they signal drift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36576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✕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Don't put secrets in values.yaml or commit them to Git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83480" y="42062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✕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Don't skip code review for values-prod.yaml changes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3200400"/>
            <a:ext cx="3657600" cy="36576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</a:rPr>
              <a:t>KEY TAKEAWAYS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You Should Remember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8412480" cy="548640"/>
          </a:xfrm>
          <a:prstGeom prst="rect">
            <a:avLst/>
          </a:prstGeom>
          <a:solidFill>
            <a:srgbClr val="161B22"/>
          </a:solidFill>
          <a:ln w="6350">
            <a:solidFill>
              <a:srgbClr val="1C3A4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44752"/>
            <a:ext cx="457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508760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5361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Git is the single source of truth — if it's not in Git, it doesn't exist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65760" y="2103120"/>
            <a:ext cx="8412480" cy="548640"/>
          </a:xfrm>
          <a:prstGeom prst="rect">
            <a:avLst/>
          </a:prstGeom>
          <a:solidFill>
            <a:srgbClr val="161B22"/>
          </a:solidFill>
          <a:ln w="6350">
            <a:solidFill>
              <a:srgbClr val="1C3A4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103120"/>
            <a:ext cx="457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2167128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21945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Helm packages your Kubernetes YAML into versioned, configurable, reusable charts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65760" y="2761488"/>
            <a:ext cx="8412480" cy="548640"/>
          </a:xfrm>
          <a:prstGeom prst="rect">
            <a:avLst/>
          </a:prstGeom>
          <a:solidFill>
            <a:srgbClr val="161B22"/>
          </a:solidFill>
          <a:ln w="6350">
            <a:solidFill>
              <a:srgbClr val="1C3A4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761488"/>
            <a:ext cx="457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2825496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28529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ArgoCD watches your Git repo and auto-syncs the cluster to match — no human needed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365760" y="3419856"/>
            <a:ext cx="8412480" cy="548640"/>
          </a:xfrm>
          <a:prstGeom prst="rect">
            <a:avLst/>
          </a:prstGeom>
          <a:solidFill>
            <a:srgbClr val="161B22"/>
          </a:solidFill>
          <a:ln w="6350">
            <a:solidFill>
              <a:srgbClr val="1C3A4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5760" y="3419856"/>
            <a:ext cx="457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3483864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51560" y="351129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GitOps gives you audit trails, rollbacks, and security as a natural side-effect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365760" y="4078224"/>
            <a:ext cx="8412480" cy="548640"/>
          </a:xfrm>
          <a:prstGeom prst="rect">
            <a:avLst/>
          </a:prstGeom>
          <a:solidFill>
            <a:srgbClr val="161B22"/>
          </a:solidFill>
          <a:ln w="6350">
            <a:solidFill>
              <a:srgbClr val="1C3A4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65760" y="4078224"/>
            <a:ext cx="457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414223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416966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The PR is your deployment — review, approve, merge → done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B8A6"/>
                </a:solidFill>
              </a:rPr>
              <a:t>Questions? Let's dig into your specific use cases  —  Lab exercises next!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</a:rPr>
              <a:t>HELM DEEP DIVE  —  HOOKS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Helm Hooks: Run Jobs at the Right Moment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47548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064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you run Kubernetes Jobs at specific points: before/after install, upgrade, rollback, or delete.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2761488" cy="1600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27632"/>
            <a:ext cx="2761488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81051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755648"/>
            <a:ext cx="2075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pre-install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93192" y="2340864"/>
            <a:ext cx="263347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9768" y="2450592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any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resources are created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45536" y="1627632"/>
            <a:ext cx="2761488" cy="1600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45536" y="1627632"/>
            <a:ext cx="2761488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81051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39896" y="1755648"/>
            <a:ext cx="2075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post-install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3218688" y="2340864"/>
            <a:ext cx="263347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255264" y="2450592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all resources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been deployed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971032" y="1627632"/>
            <a:ext cx="2761488" cy="1600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971032" y="1627632"/>
            <a:ext cx="2761488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36" y="1810512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65392" y="1755648"/>
            <a:ext cx="2075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pre-upgrade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044184" y="2340864"/>
            <a:ext cx="263347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080760" y="2450592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upgrade starts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take a DB backup)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20040" y="3364992"/>
            <a:ext cx="2761488" cy="1600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20040" y="3364992"/>
            <a:ext cx="2761488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3547872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4400" y="3493008"/>
            <a:ext cx="2075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post-upgrade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393192" y="4078224"/>
            <a:ext cx="263347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29768" y="4187952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upgrade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successfully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3145536" y="3364992"/>
            <a:ext cx="2761488" cy="1600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145536" y="3364992"/>
            <a:ext cx="2761488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547872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739896" y="3493008"/>
            <a:ext cx="2075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pre-rollback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3218688" y="4078224"/>
            <a:ext cx="263347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3255264" y="4187952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a rollback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alert the on-call)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5971032" y="3364992"/>
            <a:ext cx="2761488" cy="1600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5971032" y="3364992"/>
            <a:ext cx="2761488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336" y="3547872"/>
            <a:ext cx="365760" cy="36576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565392" y="3493008"/>
            <a:ext cx="2075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post-delete</a:t>
            </a:r>
            <a:endParaRPr lang="en-US" sz="1300" dirty="0"/>
          </a:p>
        </p:txBody>
      </p:sp>
      <p:sp>
        <p:nvSpPr>
          <p:cNvPr id="41" name="Shape 33"/>
          <p:cNvSpPr/>
          <p:nvPr/>
        </p:nvSpPr>
        <p:spPr>
          <a:xfrm>
            <a:off x="6044184" y="4078224"/>
            <a:ext cx="263347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6080760" y="4187952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tasks after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uninstall finishes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320040" y="488289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annotate any Kubernetes Job with  "helm.sh/hook": pre-install  to register it as a hook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</a:rPr>
              <a:t>HELM DEEP DIVE  —  DEPENDENCIES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Helm Dependencies: Subcharts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914400"/>
          </a:xfrm>
          <a:prstGeom prst="rect">
            <a:avLst/>
          </a:prstGeom>
          <a:solidFill>
            <a:srgbClr val="0D9488">
              <a:alpha val="90000"/>
            </a:srgbClr>
          </a:solidFill>
          <a:ln w="1905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0700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2618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my-app  (parent chart)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1560" y="16276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</a:rPr>
              <a:t>Your application chart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463040" y="2011680"/>
            <a:ext cx="0" cy="914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63040" y="2606040"/>
            <a:ext cx="6400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94560" y="2286000"/>
            <a:ext cx="2103120" cy="640080"/>
          </a:xfrm>
          <a:prstGeom prst="rect">
            <a:avLst/>
          </a:prstGeom>
          <a:solidFill>
            <a:srgbClr val="1C2A3A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288" y="239572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88920" y="24414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463040" y="2011680"/>
            <a:ext cx="0" cy="8686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463040" y="3383280"/>
            <a:ext cx="6400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194560" y="3063240"/>
            <a:ext cx="2103120" cy="640080"/>
          </a:xfrm>
          <a:prstGeom prst="rect">
            <a:avLst/>
          </a:prstGeom>
          <a:solidFill>
            <a:srgbClr val="1C2A3A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288" y="317296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788920" y="321868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1463040" y="2011680"/>
            <a:ext cx="0" cy="1645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463040" y="4160520"/>
            <a:ext cx="6400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194560" y="3840480"/>
            <a:ext cx="2103120" cy="640080"/>
          </a:xfrm>
          <a:prstGeom prst="rect">
            <a:avLst/>
          </a:prstGeom>
          <a:solidFill>
            <a:srgbClr val="1C2A3A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288" y="3950208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788920" y="399592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cert-manager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0" y="1097280"/>
            <a:ext cx="4160520" cy="224028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2000" y="1097280"/>
            <a:ext cx="4160520" cy="3108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709160" y="114300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Chart.yaml  — dependencies section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736592" y="1481328"/>
            <a:ext cx="3886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postgresql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version: "12.x.x"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repository: "https://charts.bitnami.com"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condition: postgresql.enabled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redis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version: "17.x.x"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repository: "https://charts.bitnami.com"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572000" y="3474720"/>
            <a:ext cx="4160520" cy="141732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572000" y="3474720"/>
            <a:ext cx="4160520" cy="3108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709160" y="352044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commands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736592" y="385876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Download deps into charts/ folder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dependency update ./my-app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with deps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my-app ./my-app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Tip: set  condition: postgresql.enabled  so teams can toggle individual dependencies via values.yaml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</a:rPr>
              <a:t>HELM DEEP DIVE  —  OCI REGISTRIES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Storing Charts in OCI Registries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</a:rPr>
              <a:t>OCI (Open Container Initiative)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 support lets you store Helm charts in the same registry as your Docker images — no separate chart server needed.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3931920" cy="86868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7452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07568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87552" y="1965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Package chart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87552" y="2276856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package ./my-app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011680" y="27432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65760" y="2880360"/>
            <a:ext cx="3931920" cy="86868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288036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3081528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87552" y="29718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Push to registry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87552" y="3282696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push my-app-1.0.0.tgz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oci://ghcr.io/my-org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011680" y="3749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365760" y="3886200"/>
            <a:ext cx="3931920" cy="86868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65760" y="388620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087368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87552" y="3977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Pull &amp; install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987552" y="4288536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my-app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oci://ghcr.io/my-org/my-app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--version 1.0.0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466344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Popular Registries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663440" y="2212848"/>
            <a:ext cx="4069080" cy="420624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663440" y="2212848"/>
            <a:ext cx="4572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773168" y="22494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GitHub GHCR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773168" y="24505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oci://ghcr.io/…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663440" y="2715768"/>
            <a:ext cx="4069080" cy="420624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663440" y="2715768"/>
            <a:ext cx="45720" cy="4206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773168" y="27523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AWS ECR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4773168" y="295351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oci://aws_account.dkr.ecr.…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4663440" y="3218688"/>
            <a:ext cx="4069080" cy="420624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663440" y="3218688"/>
            <a:ext cx="45720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773168" y="32552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Google Artifact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4773168" y="34564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oci://… -docker.pkg.dev/…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4663440" y="3721608"/>
            <a:ext cx="4069080" cy="420624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4663440" y="3721608"/>
            <a:ext cx="45720" cy="42062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4773168" y="3758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Harbor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4773168" y="39593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oci://harbor.company.com/…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4663440" y="4224528"/>
            <a:ext cx="4069080" cy="420624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4663440" y="4224528"/>
            <a:ext cx="4572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4773168" y="42611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ArtifactHub</a:t>
            </a:r>
            <a:endParaRPr lang="en-US" sz="1100" dirty="0"/>
          </a:p>
        </p:txBody>
      </p:sp>
      <p:sp>
        <p:nvSpPr>
          <p:cNvPr id="44" name="Text 39"/>
          <p:cNvSpPr/>
          <p:nvPr/>
        </p:nvSpPr>
        <p:spPr>
          <a:xfrm>
            <a:off x="4773168" y="446227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https://artifacthub.io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4663440" y="47731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 first:  helm registry login ghcr.io -u USERNAME --password-stdin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</a:rPr>
              <a:t>HELM DEEP DIVE  —  LIFECYCLE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Upgrading &amp; Rolling Back Releases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920240" cy="1920240"/>
          </a:xfrm>
          <a:prstGeom prst="ellipse">
            <a:avLst/>
          </a:prstGeom>
          <a:solidFill>
            <a:srgbClr val="1C2A3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508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Rev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21284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Initial deploy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v1.0.0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40280" y="1874520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32888" y="1188720"/>
            <a:ext cx="1920240" cy="1920240"/>
          </a:xfrm>
          <a:prstGeom prst="ellipse">
            <a:avLst/>
          </a:prstGeom>
          <a:solidFill>
            <a:srgbClr val="1C2A3A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32888" y="1508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Rev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32888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32888" y="221284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Ship v1.1.0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new feature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53128" y="1874520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745736" y="1188720"/>
            <a:ext cx="1920240" cy="1920240"/>
          </a:xfrm>
          <a:prstGeom prst="ellipse">
            <a:avLst/>
          </a:prstGeom>
          <a:solidFill>
            <a:srgbClr val="1C2A3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5736" y="1508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Rev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45736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45736" y="221284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Ship v1.2.0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💥 bug found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65976" y="1874520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↩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958584" y="1188720"/>
            <a:ext cx="1920240" cy="1920240"/>
          </a:xfrm>
          <a:prstGeom prst="ellipse">
            <a:avLst/>
          </a:prstGeom>
          <a:solidFill>
            <a:srgbClr val="1C2A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58584" y="1508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Rev 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58584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rollback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58584" y="221284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Back to Rev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in seconds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291840"/>
            <a:ext cx="4297680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1C3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291840"/>
            <a:ext cx="457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32841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helm history my-app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53872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See every revision with timestamps, status, &amp; chart version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3291840"/>
            <a:ext cx="4297680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1C3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291840"/>
            <a:ext cx="457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32841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helm upgrade my-app ./my-app --version 2.0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353872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Upgrade to a specific chart version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3794760"/>
            <a:ext cx="4297680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1C3A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794760"/>
            <a:ext cx="457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83133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helm rollback my-app 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04164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Instantly roll back to revision 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794760"/>
            <a:ext cx="4297680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1C3A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794760"/>
            <a:ext cx="457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83133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helm upgrade ... --atomic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92040" y="404164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Auto-rollback if the upgrade fails health checks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4297680"/>
            <a:ext cx="4297680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1C3A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4297680"/>
            <a:ext cx="457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33425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helm upgrade ... --cleanup-on-fail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454456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Remove new resources if upgrade fails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4297680"/>
            <a:ext cx="4297680" cy="438912"/>
          </a:xfrm>
          <a:prstGeom prst="rect">
            <a:avLst/>
          </a:prstGeom>
          <a:solidFill>
            <a:srgbClr val="0D1117"/>
          </a:solidFill>
          <a:ln w="6350">
            <a:solidFill>
              <a:srgbClr val="1C3A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4297680"/>
            <a:ext cx="457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433425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helm upgrade ... --wait --timeout 5m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92040" y="454456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Wait for pods to be Ready before marking success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</a:rPr>
              <a:t>HELM DEEP DIVE  —  TESTING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Helm Testing: Verify Your Deployments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test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 runs specially-annotated Pods after a release installs to verify the app is healthy — like a smoke test inside the cluster.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114800" cy="228600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83080"/>
            <a:ext cx="4114800" cy="3108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288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templates/tests/test-connection.yaml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2167128"/>
            <a:ext cx="3840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"{{ .Release.Name }}-test"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annotations: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"helm.sh/hook": 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restartPolicy: Never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curlimages/curl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curl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"http://{{ .Release.Name }}:80/health"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4206240"/>
            <a:ext cx="4114800" cy="82296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4206240"/>
            <a:ext cx="4114800" cy="3108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2519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your tests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45902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test my-app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Pod runs, exit 0 = PASSED, exit 1 = FAILED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737360"/>
            <a:ext cx="1965960" cy="144475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737360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187452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754880" y="24231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HTTP health check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54880" y="277977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curl your service endpoint and assert HTTP 200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66560" y="1737360"/>
            <a:ext cx="1965960" cy="144475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766560" y="1737360"/>
            <a:ext cx="196596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874520"/>
            <a:ext cx="457200" cy="4572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858000" y="24231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Database connectivity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858000" y="277977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Run a SQL query to confirm the DB is accepting connections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663440" y="3337560"/>
            <a:ext cx="1965960" cy="144475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663440" y="3337560"/>
            <a:ext cx="196596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3474720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754880" y="40233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Config validation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4754880" y="437997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Verify env vars, secrets, and mounts are present and readable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6766560" y="3337560"/>
            <a:ext cx="1965960" cy="144475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766560" y="3337560"/>
            <a:ext cx="19659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3474720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858000" y="40233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Integration smoke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858000" y="437997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Call a real API endpoint end-to-end after deploy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4663440" y="48006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Integrate with CI: run  helm test  after every  helm upgrade  in your pipeline to catch regressions early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</a:rPr>
              <a:t>HELM DEEP DIVE  —  SECRETS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Managing Secrets Safely with Helm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5A5"/>
                </a:solidFill>
              </a:rPr>
              <a:t>⚠️   NEVER put raw secrets in values.yaml or commit them to Git — they are not encrypted and will be exposed.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755648"/>
            <a:ext cx="2788920" cy="3154680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755648"/>
            <a:ext cx="27889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189280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29768" y="2450592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Sealed Secrets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85292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Encrypt secrets with kubeseal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→ safe to commit the encrypted YAML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→ Sealed Secrets controller decrypts in-cluster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9768" y="3785616"/>
            <a:ext cx="2578608" cy="987552"/>
          </a:xfrm>
          <a:prstGeom prst="rect">
            <a:avLst/>
          </a:prstGeom>
          <a:solidFill>
            <a:srgbClr val="0D111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1208" y="385876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kubeseal &lt; secret.yaml &gt; sealed.yaml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sealed.yaml  # ✅ safe to commit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755648"/>
            <a:ext cx="2788920" cy="31546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46120" y="1755648"/>
            <a:ext cx="278892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892808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55848" y="2450592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External Secrets Operator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383280" y="285292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Secrets live in AWS SSM / GCP Secret Manager / Vault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→ ESO syncs them into K8s Secrets automatically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→ values.yaml only has the secret's name/path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355848" y="3785616"/>
            <a:ext cx="2578608" cy="987552"/>
          </a:xfrm>
          <a:prstGeom prst="rect">
            <a:avLst/>
          </a:prstGeom>
          <a:solidFill>
            <a:srgbClr val="0D111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447288" y="385876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values.yaml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secretRef: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my-app/db-password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provider: aws-ssm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6172200" y="1755648"/>
            <a:ext cx="2788920" cy="3154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72200" y="1755648"/>
            <a:ext cx="27889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1892808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81928" y="2450592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HashiCorp Vault + Agent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309360" y="285292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Vault stores all secrets centrally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→ Vault Agent sidecar injects secrets as files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→ Helm chart deploys the sidecar annotation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281928" y="3785616"/>
            <a:ext cx="2578608" cy="987552"/>
          </a:xfrm>
          <a:prstGeom prst="rect">
            <a:avLst/>
          </a:prstGeom>
          <a:solidFill>
            <a:srgbClr val="0D111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373368" y="385876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vault.hashicorp.com/agent-inject: "true"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vault.hashicorp.com/role: "my-app"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365760" y="48463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Rule of thumb: Helm manages the shape of your workload. Secrets come from outside Helm.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GitOps &amp; Helm: Modern Kubernetes Deployment</dc:title>
  <dc:subject>PptxGenJS Presentation</dc:subject>
  <dc:creator>Senior DevOps Engineer</dc:creator>
  <cp:lastModifiedBy>Senior DevOps Engineer</cp:lastModifiedBy>
  <cp:revision>1</cp:revision>
  <dcterms:created xsi:type="dcterms:W3CDTF">2026-05-28T05:11:13Z</dcterms:created>
  <dcterms:modified xsi:type="dcterms:W3CDTF">2026-05-28T05:11:13Z</dcterms:modified>
</cp:coreProperties>
</file>