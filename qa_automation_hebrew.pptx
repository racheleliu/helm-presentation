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2011680" cy="201168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QA ואוטומציה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מדריך מקיף לסוגי הבדיקות בפיתוח תוכנה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 &amp; Test Automation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QA?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1463040"/>
          </a:xfrm>
          <a:prstGeom prst="rect">
            <a:avLst/>
          </a:prstGeom>
          <a:solidFill>
            <a:srgbClr val="243B5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914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(Quality Assurance) היא תהליך שיטתי להבטחת איכות התוכנה לפני שחרורה ללקוח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971800"/>
            <a:ext cx="4114800" cy="1463040"/>
          </a:xfrm>
          <a:prstGeom prst="rect">
            <a:avLst/>
          </a:prstGeom>
          <a:solidFill>
            <a:srgbClr val="243B5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971800"/>
            <a:ext cx="914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81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44728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מציאת באגים מוקדם, מניעת תקלות בפרודקשן, ושמירה על חווית משתמש טובה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114800" cy="1463040"/>
          </a:xfrm>
          <a:prstGeom prst="rect">
            <a:avLst/>
          </a:prstGeom>
          <a:solidFill>
            <a:srgbClr val="243B5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80160"/>
            <a:ext cx="914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עקרונות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75564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מוקדמת, בדיקה מתמשכת לאורך מחזור החיים, שיפור תהליכים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114800" cy="1463040"/>
          </a:xfrm>
          <a:prstGeom prst="rect">
            <a:avLst/>
          </a:prstGeom>
          <a:solidFill>
            <a:srgbClr val="243B5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71800"/>
            <a:ext cx="914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81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vs Testing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44728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הוא תהליך רחב הכולל בדיקות. בדיקות הן כלי אחד בתוך מסגרת ה-QA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פירמידת הבדיקות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7863840" cy="914400"/>
          </a:xfrm>
          <a:prstGeom prst="rect">
            <a:avLst/>
          </a:prstGeom>
          <a:solidFill>
            <a:srgbClr val="0D9488"/>
          </a:solidFill>
          <a:ln w="254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05079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— בדיקות יחידה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48056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מהירות, זולות, כמות גדולה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4142232"/>
            <a:ext cx="594360" cy="594360"/>
          </a:xfrm>
          <a:prstGeom prst="ellipse">
            <a:avLst/>
          </a:prstGeom>
          <a:solidFill>
            <a:srgbClr val="1A2A4A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416052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2926080"/>
            <a:ext cx="6035040" cy="914400"/>
          </a:xfrm>
          <a:prstGeom prst="rect">
            <a:avLst/>
          </a:prstGeom>
          <a:solidFill>
            <a:srgbClr val="0EA5E9"/>
          </a:solidFill>
          <a:ln w="25400">
            <a:solidFill>
              <a:srgbClr val="1A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999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 — בדיקות אינטגרציה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3429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בינוניות, בודקות חיבורים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090672"/>
            <a:ext cx="594360" cy="594360"/>
          </a:xfrm>
          <a:prstGeom prst="ellipse">
            <a:avLst/>
          </a:prstGeom>
          <a:solidFill>
            <a:srgbClr val="1A2A4A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10896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1874520"/>
            <a:ext cx="3474720" cy="914400"/>
          </a:xfrm>
          <a:prstGeom prst="rect">
            <a:avLst/>
          </a:prstGeom>
          <a:solidFill>
            <a:srgbClr val="F59E0B"/>
          </a:solidFill>
          <a:ln w="25400">
            <a:solidFill>
              <a:srgbClr val="1A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1947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/ UI Tests — בדיקות מקצה לקצה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77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איטיות, יקרות, flows קריטיים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2039112"/>
            <a:ext cx="594360" cy="594360"/>
          </a:xfrm>
          <a:prstGeom prst="ellipse">
            <a:avLst/>
          </a:prstGeom>
          <a:solidFill>
            <a:srgbClr val="1A2A4A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05740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114800"/>
            <a:ext cx="0" cy="-2468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0" y="18288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↑ איטי / יקר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0" y="3749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מהיר / זול ↓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יחידה (Unit Tests)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234440"/>
            <a:ext cx="4206240" cy="1463040"/>
          </a:xfrm>
          <a:prstGeom prst="rect">
            <a:avLst/>
          </a:prstGeom>
          <a:solidFill>
            <a:srgbClr val="243B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234440"/>
            <a:ext cx="914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מה זה?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בדיקת פונקציה או מחלקה בודדת באופן מבודד מהמערכת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2926080"/>
            <a:ext cx="4206240" cy="1463040"/>
          </a:xfrm>
          <a:prstGeom prst="rect">
            <a:avLst/>
          </a:prstGeom>
          <a:solidFill>
            <a:srgbClr val="243B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2926080"/>
            <a:ext cx="914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מתי?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33832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בזמן פיתוח, עבור כל פיסת קוד חדשה שנכתבת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1234440"/>
            <a:ext cx="4206240" cy="1463040"/>
          </a:xfrm>
          <a:prstGeom prst="rect">
            <a:avLst/>
          </a:prstGeom>
          <a:solidFill>
            <a:srgbClr val="243B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1234440"/>
            <a:ext cx="914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כלים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92040" y="16916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Jest, JUnit, pytest, NUnit, Mocha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2926080"/>
            <a:ext cx="4206240" cy="1463040"/>
          </a:xfrm>
          <a:prstGeom prst="rect">
            <a:avLst/>
          </a:prstGeom>
          <a:solidFill>
            <a:srgbClr val="243B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2926080"/>
            <a:ext cx="914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יתרונות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892040" y="33832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מהיר מאוד, זול, מאתר באגים מוקדם, קל לתחזק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55371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describe('add', () =&gt; { it('returns 5 for add(2,3)', () =&gt; { expect(add(2,3)).toBe(5); }); });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אינטגרציה (Integration Tests)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463040"/>
            <a:ext cx="2286000" cy="685800"/>
          </a:xfrm>
          <a:prstGeom prst="rect">
            <a:avLst/>
          </a:prstGeom>
          <a:solidFill>
            <a:srgbClr val="0EA5E9">
              <a:alpha val="80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שירות 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1463040"/>
            <a:ext cx="2286000" cy="685800"/>
          </a:xfrm>
          <a:prstGeom prst="rect">
            <a:avLst/>
          </a:prstGeom>
          <a:solidFill>
            <a:srgbClr val="0EA5E9">
              <a:alpha val="80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API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035040" y="1463040"/>
            <a:ext cx="2286000" cy="685800"/>
          </a:xfrm>
          <a:prstGeom prst="rect">
            <a:avLst/>
          </a:prstGeom>
          <a:solidFill>
            <a:srgbClr val="0EA5E9">
              <a:alpha val="80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DB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51760" y="180594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0" y="180594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286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בדיקת שילוב בין רכיבים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74320" y="2834640"/>
            <a:ext cx="420624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834640"/>
            <a:ext cx="9144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DD3FC"/>
                </a:solidFill>
              </a:rPr>
              <a:t>מה בודקים?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3218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תקשורת בין שכבות המערכת: API, DB, שירותים חיצוניים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931920"/>
            <a:ext cx="420624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3931920"/>
            <a:ext cx="9144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DD3FC"/>
                </a:solidFill>
              </a:rPr>
              <a:t>אתגרים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4315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דורש סביבת בדיקה מוכנה, לרוב איטי יותר מ-Unit Tests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09160" y="2834640"/>
            <a:ext cx="420624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2834640"/>
            <a:ext cx="9144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DD3FC"/>
                </a:solidFill>
              </a:rPr>
              <a:t>כלים פופולריים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92040" y="3218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Postman, REST-Assured, Spring Boot Test, TestContainers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09160" y="3931920"/>
            <a:ext cx="420624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3931920"/>
            <a:ext cx="9144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9204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DD3FC"/>
                </a:solidFill>
              </a:rPr>
              <a:t>מה בודקים כולל?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892040" y="4315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קריאות API, שמירה ב-DB, תגובת שירותים, authentication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E2E (End-to-End)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234440"/>
            <a:ext cx="1920240" cy="73152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26187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משתמש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לוחץ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94560" y="160020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77440" y="1234440"/>
            <a:ext cx="1920240" cy="73152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7440" y="126187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UI /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דפדפן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60020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1234440"/>
            <a:ext cx="1920240" cy="73152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126187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0" y="160020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1234440"/>
            <a:ext cx="1920240" cy="73152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126187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מסד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נתונים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2057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סימולציה של תהליך עסקי שלם מהמשתמש ועד ה-DB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74320" y="2560320"/>
            <a:ext cx="4206240" cy="1051560"/>
          </a:xfrm>
          <a:prstGeom prst="rect">
            <a:avLst/>
          </a:prstGeom>
          <a:solidFill>
            <a:srgbClr val="243B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256032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CD34D"/>
                </a:solidFill>
              </a:rPr>
              <a:t>מה זה?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2971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בדיקה של כל המערכת מהממשק עד ה-DB, כפי שמשתמש אמיתי עושה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749040"/>
            <a:ext cx="4206240" cy="1051560"/>
          </a:xfrm>
          <a:prstGeom prst="rect">
            <a:avLst/>
          </a:prstGeom>
          <a:solidFill>
            <a:srgbClr val="243B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374904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CD34D"/>
                </a:solidFill>
              </a:rPr>
              <a:t>מתי?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עבור flows קריטיים: login, checkout, יצירת חשבון, תשלום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09160" y="2560320"/>
            <a:ext cx="4206240" cy="1051560"/>
          </a:xfrm>
          <a:prstGeom prst="rect">
            <a:avLst/>
          </a:prstGeom>
          <a:solidFill>
            <a:srgbClr val="243B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09160" y="256032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9204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CD34D"/>
                </a:solidFill>
              </a:rPr>
              <a:t>כלים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892040" y="2971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Playwright, Cypress, Selenium, Puppeteer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09160" y="3749040"/>
            <a:ext cx="4206240" cy="1051560"/>
          </a:xfrm>
          <a:prstGeom prst="rect">
            <a:avLst/>
          </a:prstGeom>
          <a:solidFill>
            <a:srgbClr val="243B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09160" y="374904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9204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CD34D"/>
                </a:solidFill>
              </a:rPr>
              <a:t>אתגרים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89204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איטי, עלול להיות שברירי (flaky), דורש תחזוקה מרובה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פונקציונליות, שפיות ומקרי קצה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834640" cy="3749040"/>
          </a:xfrm>
          <a:prstGeom prst="rect">
            <a:avLst/>
          </a:prstGeom>
          <a:solidFill>
            <a:srgbClr val="243B55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83464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בדיקות פונקציונליות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6733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Functional Testing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2606040" cy="22860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57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מה בודקים?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בודקות שהמערכת עושה בדיוק מה שהמשתמש מצפה לפי הדרישות העסקיות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154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דוגמה: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429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לחיצה על 'הוסף לסל' → מוצר מופיע בסל הקניות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4142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מתי?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44074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על כל פיצ'ר חדש, לפני כל release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834640" cy="3749040"/>
          </a:xfrm>
          <a:prstGeom prst="rect">
            <a:avLst/>
          </a:prstGeom>
          <a:solidFill>
            <a:srgbClr val="243B55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43000"/>
            <a:ext cx="283464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280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בדיקות שפיות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16733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Sanity Testing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965960"/>
            <a:ext cx="2606040" cy="22860"/>
          </a:xfrm>
          <a:prstGeom prst="rect">
            <a:avLst/>
          </a:prstGeom>
          <a:solidFill>
            <a:srgbClr val="FBBF24">
              <a:alpha val="50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057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מה בודקים?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331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בדיקה מהירה שהפיצ'ר הספציפי שתוקן/נוסף עובד, ללא בדיקה מלאה של כל המערכת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154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דוגמה: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429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תוקן באג בטופס login → בודקים רק login ולא את כל האפליקציה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4142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מתי?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44074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אחרי תיקון באג ספציפי, build חדש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1143000"/>
            <a:ext cx="2834640" cy="3749040"/>
          </a:xfrm>
          <a:prstGeom prst="rect">
            <a:avLst/>
          </a:prstGeom>
          <a:solidFill>
            <a:srgbClr val="243B55"/>
          </a:solidFill>
          <a:ln w="254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143000"/>
            <a:ext cx="283464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280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מקרי קצה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16733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Edge Cases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1965960"/>
            <a:ext cx="2606040" cy="22860"/>
          </a:xfrm>
          <a:prstGeom prst="rect">
            <a:avLst/>
          </a:prstGeom>
          <a:solidFill>
            <a:srgbClr val="F87171">
              <a:alpha val="50000"/>
            </a:srgbClr>
          </a:solidFill>
          <a:ln w="12700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057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מה בודקים?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331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בדיקת ערכים קיצוניים, גבולות, ומצבים לא צפויים שעלולים לשבור את המערכת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154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דוגמה: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429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שדה גיל: 0, -1, 999, אותיות במקום מספר, שדה ריק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4142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מתי?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44074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בכל פיצ'ר, במיוחד בטפסים, חישובים, ו-API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A2E"/>
          </a:solidFill>
          <a:ln w="12700">
            <a:solidFill>
              <a:srgbClr val="1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עומסים, ביצועים ורגרסיה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200400" cy="2194560"/>
          </a:xfrm>
          <a:prstGeom prst="rect">
            <a:avLst/>
          </a:prstGeom>
          <a:solidFill>
            <a:srgbClr val="243B5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זמן תגובה לפי עומס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822960" cy="301752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8249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users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0432" y="1682496"/>
            <a:ext cx="658368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075688"/>
            <a:ext cx="822960" cy="301752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1226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100 users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70432" y="2112264"/>
            <a:ext cx="1207008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05456"/>
            <a:ext cx="822960" cy="301752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42032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500 users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70432" y="2542032"/>
            <a:ext cx="1645920" cy="2560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35224"/>
            <a:ext cx="822960" cy="301752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7180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1000 users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70432" y="2971800"/>
            <a:ext cx="2084832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170432"/>
            <a:ext cx="5303520" cy="1143000"/>
          </a:xfrm>
          <a:prstGeom prst="rect">
            <a:avLst/>
          </a:prstGeom>
          <a:solidFill>
            <a:srgbClr val="243B5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1170432"/>
            <a:ext cx="91440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6472" y="1234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בדיקות עומסים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76472" y="12344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Load Testing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76472" y="15544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בודקות כיצד המערכת מתנהגת תחת עומס גבוה של משתמשים בו-זמנית. בודקים throughput, זמן תגובה, ושגיאות.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76472" y="2039112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A78BFA"/>
                </a:solidFill>
              </a:rPr>
              <a:t>כלים: JMeter, k6, Locust, Gatling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11880" y="2450592"/>
            <a:ext cx="5303520" cy="1143000"/>
          </a:xfrm>
          <a:prstGeom prst="rect">
            <a:avLst/>
          </a:prstGeom>
          <a:solidFill>
            <a:srgbClr val="243B5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2450592"/>
            <a:ext cx="91440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76472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בדיקות ביצועים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76472" y="25146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Performance Testing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76472" y="28346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מדידת מהירות, יציבות ומשאבי מערכת. כולל זמן טעינה, שימוש ב-CPU/Memory, ותגובת DB תחת עומס.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76472" y="3319272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38BDF8"/>
                </a:solidFill>
              </a:rPr>
              <a:t>כלים: k6, Lighthouse, WebPageTest, Dynatrace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11880" y="3730752"/>
            <a:ext cx="5303520" cy="1143000"/>
          </a:xfrm>
          <a:prstGeom prst="rect">
            <a:avLst/>
          </a:prstGeom>
          <a:solidFill>
            <a:srgbClr val="243B5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730752"/>
            <a:ext cx="91440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76472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בדיקות רגרסיה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76472" y="37947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Regression Testing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76472" y="41148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ריצה מחדש של כל הבדיקות הקיימות לאחר שינוי קוד, כדי לוודא שפיצ'רים ישנים לא נשברו. בדרך כלל אוטומטיות ב-CI/CD.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76472" y="4599432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34D399"/>
                </a:solidFill>
              </a:rPr>
              <a:t>כלים: Jest, Pytest, Selenium, כל framework בדיקות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520440"/>
            <a:ext cx="3200400" cy="1417320"/>
          </a:xfrm>
          <a:prstGeom prst="rect">
            <a:avLst/>
          </a:prstGeom>
          <a:solidFill>
            <a:srgbClr val="243B5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⚡ Stress Testing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0040" y="391363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בדיקה מעבר לגבולות המערכת — עד כמה עומס היא יכולה לשאת לפני קריסה? מה קורה כשהיא קורסת?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אוטומציית בדיקות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188720"/>
            <a:ext cx="1143000" cy="594360"/>
          </a:xfrm>
          <a:prstGeom prst="rect">
            <a:avLst/>
          </a:prstGeom>
          <a:solidFill>
            <a:srgbClr val="1E3A5F"/>
          </a:solidFill>
          <a:ln w="19050">
            <a:solidFill>
              <a:srgbClr val="4A90A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1252728"/>
            <a:ext cx="1143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Commit קוד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25880" y="1485900"/>
            <a:ext cx="11887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1188720"/>
            <a:ext cx="1143000" cy="594360"/>
          </a:xfrm>
          <a:prstGeom prst="rect">
            <a:avLst/>
          </a:prstGeom>
          <a:solidFill>
            <a:srgbClr val="1E3A5F"/>
          </a:solidFill>
          <a:ln w="19050">
            <a:solidFill>
              <a:srgbClr val="4A90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44752" y="1252728"/>
            <a:ext cx="1143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87752" y="1485900"/>
            <a:ext cx="11887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06624" y="1188720"/>
            <a:ext cx="1143000" cy="594360"/>
          </a:xfrm>
          <a:prstGeom prst="rect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06624" y="1252728"/>
            <a:ext cx="1143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Unit Tests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49624" y="1485900"/>
            <a:ext cx="11887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68496" y="1188720"/>
            <a:ext cx="1143000" cy="594360"/>
          </a:xfrm>
          <a:prstGeom prst="rect">
            <a:avLst/>
          </a:prstGeom>
          <a:solidFill>
            <a:srgbClr val="1E3A5F"/>
          </a:solidFill>
          <a:ln w="19050">
            <a:solidFill>
              <a:srgbClr val="4A90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68496" y="1252728"/>
            <a:ext cx="1143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Integration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111496" y="1485900"/>
            <a:ext cx="11887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30368" y="1188720"/>
            <a:ext cx="1143000" cy="594360"/>
          </a:xfrm>
          <a:prstGeom prst="rect">
            <a:avLst/>
          </a:prstGeom>
          <a:solidFill>
            <a:srgbClr val="1E3A5F"/>
          </a:solidFill>
          <a:ln w="19050">
            <a:solidFill>
              <a:srgbClr val="4A90A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30368" y="1252728"/>
            <a:ext cx="1143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Deploy Staging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373368" y="1485900"/>
            <a:ext cx="11887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1188720"/>
            <a:ext cx="1143000" cy="594360"/>
          </a:xfrm>
          <a:prstGeom prst="rect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1252728"/>
            <a:ext cx="1143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E2E Tests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635240" y="1485900"/>
            <a:ext cx="11887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54112" y="1188720"/>
            <a:ext cx="1143000" cy="594360"/>
          </a:xfrm>
          <a:prstGeom prst="rect">
            <a:avLst/>
          </a:prstGeom>
          <a:solidFill>
            <a:srgbClr val="1E3A5F"/>
          </a:solidFill>
          <a:ln w="19050">
            <a:solidFill>
              <a:srgbClr val="4A90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54112" y="1252728"/>
            <a:ext cx="1143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Deploy Prod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74320" y="19019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CI/CD Pipeline - כל commit מפעיל בדיקות אוטומטיות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2331720"/>
            <a:ext cx="4206240" cy="1143000"/>
          </a:xfrm>
          <a:prstGeom prst="rect">
            <a:avLst/>
          </a:prstGeom>
          <a:solidFill>
            <a:srgbClr val="243B55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651760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14400" y="2423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חסכון בזמן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914400" y="28072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בדיקות שלוקחות שעות רצות בדקות — פינוי זמן למפתחים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274320" y="3657600"/>
            <a:ext cx="4206240" cy="1143000"/>
          </a:xfrm>
          <a:prstGeom prst="rect">
            <a:avLst/>
          </a:prstGeom>
          <a:solidFill>
            <a:srgbClr val="243B55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77640"/>
            <a:ext cx="457200" cy="4572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14400" y="3749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אמינות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914400" y="41330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אותן בדיקות בכל ריצה, ללא טעויות אנוש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709160" y="2331720"/>
            <a:ext cx="4206240" cy="1143000"/>
          </a:xfrm>
          <a:prstGeom prst="rect">
            <a:avLst/>
          </a:prstGeom>
          <a:solidFill>
            <a:srgbClr val="243B55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651760"/>
            <a:ext cx="457200" cy="4572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349240" y="2423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כיסוי גבוה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5349240" y="28072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ניתן לבדוק מאות תרחישים בו-זמנית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709160" y="3657600"/>
            <a:ext cx="4206240" cy="1143000"/>
          </a:xfrm>
          <a:prstGeom prst="rect">
            <a:avLst/>
          </a:prstGeom>
          <a:solidFill>
            <a:srgbClr val="243B55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977640"/>
            <a:ext cx="457200" cy="4572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349240" y="3749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מניעת רגרסיה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5349240" y="41330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גילוי מיידי של שבירות עקב שינויים בקוד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- שיטות עבודה מומלצות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115568"/>
          </a:xfrm>
          <a:prstGeom prst="rect">
            <a:avLst/>
          </a:prstGeom>
          <a:solidFill>
            <a:srgbClr val="243B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44752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6304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כתוב בדיקות עם הקוד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TDD / BDD - כתוב בדיקות לפני הקוד או במקביל, לא אחרי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4206240" cy="1115568"/>
          </a:xfrm>
          <a:prstGeom prst="rect">
            <a:avLst/>
          </a:prstGeom>
          <a:solidFill>
            <a:srgbClr val="243B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706624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724912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5420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שמור על בדיקות עצמאיות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90779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כל בדיקה צריכה לרוץ עצמאית, ללא תלות בבדיקות אחרות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712464"/>
            <a:ext cx="4206240" cy="1115568"/>
          </a:xfrm>
          <a:prstGeom prst="rect">
            <a:avLst/>
          </a:prstGeom>
          <a:solidFill>
            <a:srgbClr val="243B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968496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986784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8039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שמות ברורים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1696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שם הבדיקה צריך להסביר מה נבדק ומה התוצאה הצפויה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206240" cy="1115568"/>
          </a:xfrm>
          <a:prstGeom prst="rect">
            <a:avLst/>
          </a:prstGeom>
          <a:solidFill>
            <a:srgbClr val="243B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8888" y="1444752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46304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12801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Arrange, Act, Assert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מבנה AAA: הכן נתונים, הפעל קוד, בדוק תוצאה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450592"/>
            <a:ext cx="4206240" cy="1115568"/>
          </a:xfrm>
          <a:prstGeom prst="rect">
            <a:avLst/>
          </a:prstGeom>
          <a:solidFill>
            <a:srgbClr val="243B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18888" y="2706624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724912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25420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אל תבדוק פרטי מימוש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290779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בדוק תוצאות ולוגיקה עסקית, לא איך הקוד מממש אותה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712464"/>
            <a:ext cx="4206240" cy="1115568"/>
          </a:xfrm>
          <a:prstGeom prst="rect">
            <a:avLst/>
          </a:prstGeom>
          <a:solidFill>
            <a:srgbClr val="243B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3968496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3986784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8039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שמור על בדיקות מהירות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41696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Mock שירותים חיצוניים ב-Unit Tests, הגבל זמן ריצה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286000" cy="356616"/>
          </a:xfrm>
          <a:prstGeom prst="rect">
            <a:avLst/>
          </a:prstGeom>
          <a:solidFill>
            <a:srgbClr val="0D9488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כלים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325880"/>
            <a:ext cx="1920240" cy="356616"/>
          </a:xfrm>
          <a:prstGeom prst="rect">
            <a:avLst/>
          </a:prstGeom>
          <a:solidFill>
            <a:srgbClr val="0D9488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41732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מתי?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2560320" cy="356616"/>
          </a:xfrm>
          <a:prstGeom prst="rect">
            <a:avLst/>
          </a:prstGeom>
          <a:solidFill>
            <a:srgbClr val="0D9488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417320"/>
            <a:ext cx="2468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מה בודקים?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1325880"/>
            <a:ext cx="1920240" cy="356616"/>
          </a:xfrm>
          <a:prstGeom prst="rect">
            <a:avLst/>
          </a:prstGeom>
          <a:solidFill>
            <a:srgbClr val="0D9488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41732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סוג בדיקה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682496"/>
            <a:ext cx="228600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773936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Jest, pytest, JUnit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682496"/>
            <a:ext cx="192024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773936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תמיד, עם הקוד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682496"/>
            <a:ext cx="256032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773936"/>
            <a:ext cx="2468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פונקציה בודדת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1682496"/>
            <a:ext cx="192024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773936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Unit Tests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039112"/>
            <a:ext cx="228600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130552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Postman, REST-Assured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2039112"/>
            <a:ext cx="192024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130552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אחרי Unit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2039112"/>
            <a:ext cx="256032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130552"/>
            <a:ext cx="2468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חיבור בין שירותים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2039112"/>
            <a:ext cx="192024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2130552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Integration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395728"/>
            <a:ext cx="228600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487168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Playwright, Cypress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2395728"/>
            <a:ext cx="192024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487168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Flows קריטיים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2395728"/>
            <a:ext cx="256032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2487168"/>
            <a:ext cx="2468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כל המערכת מקצה לקצה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0" y="2395728"/>
            <a:ext cx="192024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2487168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E2E / UI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2752344"/>
            <a:ext cx="228600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843784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כל framework בדיקות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0" y="2752344"/>
            <a:ext cx="192024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2843784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אחרי כל שינוי קוד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80560" y="2752344"/>
            <a:ext cx="256032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2843784"/>
            <a:ext cx="2468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שלמות הפיצ'רים הקיימים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40880" y="2752344"/>
            <a:ext cx="192024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2843784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רגרסיה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108960"/>
            <a:ext cx="228600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200400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Manual / Automation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60320" y="3108960"/>
            <a:ext cx="192024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6040" y="320040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על כל פיצ'ר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80560" y="3108960"/>
            <a:ext cx="256032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26280" y="3200400"/>
            <a:ext cx="2468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התנהגות לפי דרישות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40880" y="3108960"/>
            <a:ext cx="192024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320040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פונקציונליות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465576"/>
            <a:ext cx="228600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557016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Manual מהיר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60320" y="3465576"/>
            <a:ext cx="192024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3557016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אחרי תיקון באג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480560" y="3465576"/>
            <a:ext cx="256032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26280" y="3557016"/>
            <a:ext cx="2468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הפיצ'ר הספציפי שתוקן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40880" y="3465576"/>
            <a:ext cx="192024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86600" y="3557016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שפיות (Sanity)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3822192"/>
            <a:ext cx="228600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913632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Manual / Automation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560320" y="3822192"/>
            <a:ext cx="192024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06040" y="3913632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בכל פיצ'ר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480560" y="3822192"/>
            <a:ext cx="256032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26280" y="3913632"/>
            <a:ext cx="2468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גבולות וערכים קיצוניים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040880" y="3822192"/>
            <a:ext cx="192024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86600" y="3913632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מקרי קצה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74320" y="4178808"/>
            <a:ext cx="228600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4270248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JMeter, k6, Locust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560320" y="4178808"/>
            <a:ext cx="192024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06040" y="4270248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לפני Release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480560" y="4178808"/>
            <a:ext cx="256032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26280" y="4270248"/>
            <a:ext cx="2468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ביצועים ועומסים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040880" y="4178808"/>
            <a:ext cx="1920240" cy="356616"/>
          </a:xfrm>
          <a:prstGeom prst="rect">
            <a:avLst/>
          </a:prstGeom>
          <a:solidFill>
            <a:srgbClr val="243B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86600" y="4270248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עומסים (Load)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4535424"/>
            <a:ext cx="228600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4626864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OWASP ZAP, Burp Suite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560320" y="4535424"/>
            <a:ext cx="192024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06040" y="4626864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לפני Release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480560" y="4535424"/>
            <a:ext cx="256032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26280" y="4626864"/>
            <a:ext cx="2468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חולשות אבטחה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040880" y="4535424"/>
            <a:ext cx="1920240" cy="356616"/>
          </a:xfrm>
          <a:prstGeom prst="rect">
            <a:avLst/>
          </a:prstGeom>
          <a:solidFill>
            <a:srgbClr val="1E3055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86600" y="4626864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Security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בדיקות איכות הן השקעה, לא הוצאה!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בדיקות QA ואוטומציה</dc:title>
  <dc:subject>PptxGenJS Presentation</dc:subject>
  <dc:creator>PptxGenJS</dc:creator>
  <cp:lastModifiedBy>PptxGenJS</cp:lastModifiedBy>
  <cp:revision>1</cp:revision>
  <dcterms:created xsi:type="dcterms:W3CDTF">2026-05-31T06:47:42Z</dcterms:created>
  <dcterms:modified xsi:type="dcterms:W3CDTF">2026-05-31T06:47:42Z</dcterms:modified>
</cp:coreProperties>
</file>