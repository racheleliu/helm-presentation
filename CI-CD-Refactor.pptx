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walking through the refactor of our CI/CD setup: why we changed it, exactly how the new pipeline works end to end, and how to actually run it day-to-day. We'll go from the old 3-project model to the new Nx-affected + catdevops model, cover why this is really a move toward GitOps, and finish with a practical run-through.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where we came from, why we're changing it — the GitOps motivation — what's changing mechanically, a detailed walk through the new pipeline including poly repos, then a practical how-to-run section, and time for questions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Historically, deploying meant starting in one of three separate projects depending on the target: chaos-ci for the automation environment and test run, cflow-cd for test, and deploy-cd for prod. The developer picks the service in that project's GitLab UI, and that's what kicks off the rest of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precise about direction: the developer starts in whichever of chaos-ci, cflow-cd, or deploy-cd matches the environment they want, and enters the service there. That project triggers the Nx project's root pipeline, which reads the variables it received and includes the matching app's .gitlab-ci.yml — that's where the actual build and deploy jobs run. So the trigger flows from the CD project, through Nx, down into the app-level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worth being explicit about why we're doing this at all: the goal is to move to a GitOps model, where the Helm project is the declarative source of truth and OpenShift reflects exactly what's committed there. Nx affected and catdevops are what make it practical to commit a tag update to Helm on every relevant change, instead of only occasionally.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pieces make up the new model: catdevops as a shared library so pipeline logic lives in one place across every repo, nx affected so we only build what changed, and Helm-based delivery so OpenShift reflects exactly what's committed — the GitOps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flow end to end. A push or MR — in the Nx project or in a poly repo — triggers nx affected, which generates a dynamic pipeline with one build job per changed service. Each build commits its new tag into the Helm project under a branch-named folder. The developer then manually picks an environment, a deploy job runs helm upgrade for just the changed services, and automation tests run automatically on the automation environment deploy, covering our 3 default categories. We'll go through each of these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just for the Nx monorepo — poly repos are adopting catdevops too, with the exact same push-triggers-build-and-Helm-commit-and-then-pick-environment flow. The important operational note: if a feature spans both the Nx repo and a poly repo, both branches need the same name, since that name is the folder key in the Helm project — that's how the two repos' services end up landing together for the same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basis depends on context: without an open MR, we diff against the previous commit; with an MR open, we diff against its target branch. Either way, only the affected services get a build job in the generated pipeline — in this example, only billing-service and notification-service actually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service builds successfully, the job commits its new tag into the Helm project, under a folder named after the slugified source branch. That folder holds the serviceName, image, and tag — this is what OpenShift reflects, and it's shared by both the Nx repo and any poly repo using the same branch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 options aren't a fixed set of three for every run — they depend on the branch. Feature branches offer automation and test. The preprod branch offers automation tests and integration. Master offers production. In every case, the developer still manually clicks which one to trigger — nothing happens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an automation/QA deploy automatically runs our 3 standard test categories — deploying to test or prod doesn't trigger anything on its own, same as before. If a developer needs the full category set or a custom combination, chaos-ci is still available for that: enter the branch to deploy, the automation branch name, and which categories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side by side: config moves from manual UI variables to shared catdevops includes plus nx affected; build scope narrows to only what changed; delivery consolidates into one Helm project with OpenShift reflecting each commit — the GitOps piece; this now spans poly repos too, not just the Nx monorepo; environment choice becomes a manual pick within a single pipeline; and automation tests keep their default trigger point, with chaos-ci repurposed as the tool for full or custom category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push or open your MR as normal, keeping branch names in sync if the feature spans a poly repo, watch the generated pipeline to see which services it picked up, confirm the build succeeds, then manually click the environment you want. Check the deploy logs to confirm what got upgraded. On automation, the 3 default categories run automatically; for full or custom coverage, use chaos-ci. The companion document has this written out in full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full picture — happy to answer any questions, and the written guide covers every step in more detail if you want to reference 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65A82">
              <a:alpha val="45000"/>
            </a:srgbClr>
          </a:solidFill>
          <a:ln/>
        </p:spPr>
      </p:sp>
      <p:sp>
        <p:nvSpPr>
          <p:cNvPr id="3" name="Shape 1"/>
          <p:cNvSpPr/>
          <p:nvPr/>
        </p:nvSpPr>
        <p:spPr>
          <a:xfrm>
            <a:off x="10607040" y="4023360"/>
            <a:ext cx="3840480" cy="3840480"/>
          </a:xfrm>
          <a:prstGeom prst="ellipse">
            <a:avLst/>
          </a:prstGeom>
          <a:solidFill>
            <a:srgbClr val="1C7293">
              <a:alpha val="60000"/>
            </a:srgbClr>
          </a:solidFill>
          <a:ln/>
        </p:spPr>
      </p:sp>
      <p:sp>
        <p:nvSpPr>
          <p:cNvPr id="4" name="Text 2"/>
          <p:cNvSpPr/>
          <p:nvPr/>
        </p:nvSpPr>
        <p:spPr>
          <a:xfrm>
            <a:off x="731520" y="2148840"/>
            <a:ext cx="9144000" cy="457200"/>
          </a:xfrm>
          <a:prstGeom prst="rect">
            <a:avLst/>
          </a:prstGeom>
          <a:noFill/>
          <a:ln/>
        </p:spPr>
        <p:txBody>
          <a:bodyPr wrap="square" rtlCol="0" anchor="ctr"/>
          <a:lstStyle/>
          <a:p>
            <a:pPr indent="0" marL="0">
              <a:buNone/>
            </a:pPr>
            <a:r>
              <a:rPr lang="en-US" sz="1400" b="1" spc="300" kern="0" dirty="0">
                <a:solidFill>
                  <a:srgbClr val="6FD6C4"/>
                </a:solidFill>
                <a:latin typeface="Calibri" pitchFamily="34" charset="0"/>
                <a:ea typeface="Calibri" pitchFamily="34" charset="-122"/>
                <a:cs typeface="Calibri" pitchFamily="34" charset="-120"/>
              </a:rPr>
              <a:t>CI / CD REFACTOR</a:t>
            </a:r>
            <a:endParaRPr lang="en-US" sz="1400" dirty="0"/>
          </a:p>
        </p:txBody>
      </p:sp>
      <p:sp>
        <p:nvSpPr>
          <p:cNvPr id="5" name="Text 3"/>
          <p:cNvSpPr/>
          <p:nvPr/>
        </p:nvSpPr>
        <p:spPr>
          <a:xfrm>
            <a:off x="731520" y="2560320"/>
            <a:ext cx="9875520" cy="1737360"/>
          </a:xfrm>
          <a:prstGeom prst="rect">
            <a:avLst/>
          </a:prstGeom>
          <a:noFill/>
          <a:ln/>
        </p:spPr>
        <p:txBody>
          <a:bodyPr wrap="square"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One Unified Pipeline,</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Built on Nx Affected + catdevops</a:t>
            </a:r>
            <a:endParaRPr lang="en-US" sz="4000" dirty="0"/>
          </a:p>
        </p:txBody>
      </p:sp>
      <p:sp>
        <p:nvSpPr>
          <p:cNvPr id="6" name="Text 4"/>
          <p:cNvSpPr/>
          <p:nvPr/>
        </p:nvSpPr>
        <p:spPr>
          <a:xfrm>
            <a:off x="731520" y="4343400"/>
            <a:ext cx="9601200" cy="73152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How we moved from three disconnected CI/CD projects to a single,</a:t>
            </a:r>
            <a:endParaRPr lang="en-US" sz="1600" dirty="0"/>
          </a:p>
          <a:p>
            <a:pPr indent="0" marL="0">
              <a:buNone/>
            </a:pPr>
            <a:r>
              <a:rPr lang="en-US" sz="1600" dirty="0">
                <a:solidFill>
                  <a:srgbClr val="CADCFC"/>
                </a:solidFill>
                <a:latin typeface="Calibri" pitchFamily="34" charset="0"/>
                <a:ea typeface="Calibri" pitchFamily="34" charset="-122"/>
                <a:cs typeface="Calibri" pitchFamily="34" charset="-120"/>
              </a:rPr>
              <a:t>GitOps-driven, service-aware pipeline — and how to run it.</a:t>
            </a:r>
            <a:endParaRPr lang="en-US" sz="1600" dirty="0"/>
          </a:p>
        </p:txBody>
      </p:sp>
      <p:sp>
        <p:nvSpPr>
          <p:cNvPr id="7" name="Shape 5"/>
          <p:cNvSpPr/>
          <p:nvPr/>
        </p:nvSpPr>
        <p:spPr>
          <a:xfrm>
            <a:off x="731520" y="5623560"/>
            <a:ext cx="1005840" cy="0"/>
          </a:xfrm>
          <a:prstGeom prst="line">
            <a:avLst/>
          </a:prstGeom>
          <a:noFill/>
          <a:ln w="38100">
            <a:solidFill>
              <a:srgbClr val="6FD6C4"/>
            </a:solidFill>
            <a:prstDash val="solid"/>
          </a:ln>
        </p:spPr>
      </p:sp>
      <p:sp>
        <p:nvSpPr>
          <p:cNvPr id="8" name="Text 6"/>
          <p:cNvSpPr/>
          <p:nvPr/>
        </p:nvSpPr>
        <p:spPr>
          <a:xfrm>
            <a:off x="731520" y="5806440"/>
            <a:ext cx="7315200" cy="365760"/>
          </a:xfrm>
          <a:prstGeom prst="rect">
            <a:avLst/>
          </a:prstGeom>
          <a:noFill/>
          <a:ln/>
        </p:spPr>
        <p:txBody>
          <a:bodyPr wrap="square" rtlCol="0" anchor="ctr"/>
          <a:lstStyle/>
          <a:p>
            <a:pPr indent="0" marL="0">
              <a:buNone/>
            </a:pPr>
            <a:r>
              <a:rPr lang="en-US" sz="1300" dirty="0">
                <a:solidFill>
                  <a:srgbClr val="9FB3D9"/>
                </a:solidFill>
                <a:latin typeface="Calibri" pitchFamily="34" charset="0"/>
                <a:ea typeface="Calibri" pitchFamily="34" charset="-122"/>
                <a:cs typeface="Calibri" pitchFamily="34" charset="-120"/>
              </a:rPr>
              <a:t>Platform &amp; DevOps  •  Team Presentation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46304"/>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640080" y="1417320"/>
            <a:ext cx="530352" cy="530352"/>
          </a:xfrm>
          <a:prstGeom prst="ellipse">
            <a:avLst/>
          </a:prstGeom>
          <a:solidFill>
            <a:srgbClr val="065A82"/>
          </a:solidFill>
          <a:ln/>
        </p:spPr>
      </p:sp>
      <p:sp>
        <p:nvSpPr>
          <p:cNvPr id="5" name="Text 3"/>
          <p:cNvSpPr/>
          <p:nvPr/>
        </p:nvSpPr>
        <p:spPr>
          <a:xfrm>
            <a:off x="640080" y="1417320"/>
            <a:ext cx="530352" cy="530352"/>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01</a:t>
            </a:r>
            <a:endParaRPr lang="en-US" sz="2000" dirty="0"/>
          </a:p>
        </p:txBody>
      </p:sp>
      <p:sp>
        <p:nvSpPr>
          <p:cNvPr id="6" name="Text 4"/>
          <p:cNvSpPr/>
          <p:nvPr/>
        </p:nvSpPr>
        <p:spPr>
          <a:xfrm>
            <a:off x="1417320" y="1399032"/>
            <a:ext cx="5120640" cy="347472"/>
          </a:xfrm>
          <a:prstGeom prst="rect">
            <a:avLst/>
          </a:prstGeom>
          <a:noFill/>
          <a:ln/>
        </p:spPr>
        <p:txBody>
          <a:bodyPr wrap="square"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Where we came from</a:t>
            </a:r>
            <a:endParaRPr lang="en-US" sz="1700" dirty="0"/>
          </a:p>
        </p:txBody>
      </p:sp>
      <p:sp>
        <p:nvSpPr>
          <p:cNvPr id="7" name="Text 5"/>
          <p:cNvSpPr/>
          <p:nvPr/>
        </p:nvSpPr>
        <p:spPr>
          <a:xfrm>
            <a:off x="1417320" y="1746504"/>
            <a:ext cx="7680960" cy="329184"/>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The old 3-project CI/CD model and its pain points</a:t>
            </a:r>
            <a:endParaRPr lang="en-US" sz="1250" dirty="0"/>
          </a:p>
        </p:txBody>
      </p:sp>
      <p:sp>
        <p:nvSpPr>
          <p:cNvPr id="8" name="Shape 6"/>
          <p:cNvSpPr/>
          <p:nvPr/>
        </p:nvSpPr>
        <p:spPr>
          <a:xfrm>
            <a:off x="640080" y="2258568"/>
            <a:ext cx="530352" cy="530352"/>
          </a:xfrm>
          <a:prstGeom prst="ellipse">
            <a:avLst/>
          </a:prstGeom>
          <a:solidFill>
            <a:srgbClr val="065A82"/>
          </a:solidFill>
          <a:ln/>
        </p:spPr>
      </p:sp>
      <p:sp>
        <p:nvSpPr>
          <p:cNvPr id="9" name="Text 7"/>
          <p:cNvSpPr/>
          <p:nvPr/>
        </p:nvSpPr>
        <p:spPr>
          <a:xfrm>
            <a:off x="640080" y="2258568"/>
            <a:ext cx="530352" cy="530352"/>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02</a:t>
            </a:r>
            <a:endParaRPr lang="en-US" sz="2000" dirty="0"/>
          </a:p>
        </p:txBody>
      </p:sp>
      <p:sp>
        <p:nvSpPr>
          <p:cNvPr id="10" name="Text 8"/>
          <p:cNvSpPr/>
          <p:nvPr/>
        </p:nvSpPr>
        <p:spPr>
          <a:xfrm>
            <a:off x="1417320" y="2240280"/>
            <a:ext cx="5120640" cy="347472"/>
          </a:xfrm>
          <a:prstGeom prst="rect">
            <a:avLst/>
          </a:prstGeom>
          <a:noFill/>
          <a:ln/>
        </p:spPr>
        <p:txBody>
          <a:bodyPr wrap="square"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Why we're changing it</a:t>
            </a:r>
            <a:endParaRPr lang="en-US" sz="1700" dirty="0"/>
          </a:p>
        </p:txBody>
      </p:sp>
      <p:sp>
        <p:nvSpPr>
          <p:cNvPr id="11" name="Text 9"/>
          <p:cNvSpPr/>
          <p:nvPr/>
        </p:nvSpPr>
        <p:spPr>
          <a:xfrm>
            <a:off x="1417320" y="2587752"/>
            <a:ext cx="7680960" cy="329184"/>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Moving toward GitOps</a:t>
            </a:r>
            <a:endParaRPr lang="en-US" sz="1250" dirty="0"/>
          </a:p>
        </p:txBody>
      </p:sp>
      <p:sp>
        <p:nvSpPr>
          <p:cNvPr id="12" name="Shape 10"/>
          <p:cNvSpPr/>
          <p:nvPr/>
        </p:nvSpPr>
        <p:spPr>
          <a:xfrm>
            <a:off x="640080" y="3099816"/>
            <a:ext cx="530352" cy="530352"/>
          </a:xfrm>
          <a:prstGeom prst="ellipse">
            <a:avLst/>
          </a:prstGeom>
          <a:solidFill>
            <a:srgbClr val="065A82"/>
          </a:solidFill>
          <a:ln/>
        </p:spPr>
      </p:sp>
      <p:sp>
        <p:nvSpPr>
          <p:cNvPr id="13" name="Text 11"/>
          <p:cNvSpPr/>
          <p:nvPr/>
        </p:nvSpPr>
        <p:spPr>
          <a:xfrm>
            <a:off x="640080" y="3099816"/>
            <a:ext cx="530352" cy="530352"/>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03</a:t>
            </a:r>
            <a:endParaRPr lang="en-US" sz="2000" dirty="0"/>
          </a:p>
        </p:txBody>
      </p:sp>
      <p:sp>
        <p:nvSpPr>
          <p:cNvPr id="14" name="Text 12"/>
          <p:cNvSpPr/>
          <p:nvPr/>
        </p:nvSpPr>
        <p:spPr>
          <a:xfrm>
            <a:off x="1417320" y="3081528"/>
            <a:ext cx="5120640" cy="347472"/>
          </a:xfrm>
          <a:prstGeom prst="rect">
            <a:avLst/>
          </a:prstGeom>
          <a:noFill/>
          <a:ln/>
        </p:spPr>
        <p:txBody>
          <a:bodyPr wrap="square"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What's changing</a:t>
            </a:r>
            <a:endParaRPr lang="en-US" sz="1700" dirty="0"/>
          </a:p>
        </p:txBody>
      </p:sp>
      <p:sp>
        <p:nvSpPr>
          <p:cNvPr id="15" name="Text 13"/>
          <p:cNvSpPr/>
          <p:nvPr/>
        </p:nvSpPr>
        <p:spPr>
          <a:xfrm>
            <a:off x="1417320" y="3429000"/>
            <a:ext cx="7680960" cy="329184"/>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catdevops, Nx affected, and Helm-based delivery</a:t>
            </a:r>
            <a:endParaRPr lang="en-US" sz="1250" dirty="0"/>
          </a:p>
        </p:txBody>
      </p:sp>
      <p:sp>
        <p:nvSpPr>
          <p:cNvPr id="16" name="Shape 14"/>
          <p:cNvSpPr/>
          <p:nvPr/>
        </p:nvSpPr>
        <p:spPr>
          <a:xfrm>
            <a:off x="640080" y="3941064"/>
            <a:ext cx="530352" cy="530352"/>
          </a:xfrm>
          <a:prstGeom prst="ellipse">
            <a:avLst/>
          </a:prstGeom>
          <a:solidFill>
            <a:srgbClr val="065A82"/>
          </a:solidFill>
          <a:ln/>
        </p:spPr>
      </p:sp>
      <p:sp>
        <p:nvSpPr>
          <p:cNvPr id="17" name="Text 15"/>
          <p:cNvSpPr/>
          <p:nvPr/>
        </p:nvSpPr>
        <p:spPr>
          <a:xfrm>
            <a:off x="640080" y="3941064"/>
            <a:ext cx="530352" cy="530352"/>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04</a:t>
            </a:r>
            <a:endParaRPr lang="en-US" sz="2000" dirty="0"/>
          </a:p>
        </p:txBody>
      </p:sp>
      <p:sp>
        <p:nvSpPr>
          <p:cNvPr id="18" name="Text 16"/>
          <p:cNvSpPr/>
          <p:nvPr/>
        </p:nvSpPr>
        <p:spPr>
          <a:xfrm>
            <a:off x="1417320" y="3922776"/>
            <a:ext cx="5120640" cy="347472"/>
          </a:xfrm>
          <a:prstGeom prst="rect">
            <a:avLst/>
          </a:prstGeom>
          <a:noFill/>
          <a:ln/>
        </p:spPr>
        <p:txBody>
          <a:bodyPr wrap="square"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The new pipeline, step by step</a:t>
            </a:r>
            <a:endParaRPr lang="en-US" sz="1700" dirty="0"/>
          </a:p>
        </p:txBody>
      </p:sp>
      <p:sp>
        <p:nvSpPr>
          <p:cNvPr id="19" name="Text 17"/>
          <p:cNvSpPr/>
          <p:nvPr/>
        </p:nvSpPr>
        <p:spPr>
          <a:xfrm>
            <a:off x="1417320" y="4270248"/>
            <a:ext cx="7680960" cy="329184"/>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From push to production — Nx repo and poly repos alike</a:t>
            </a:r>
            <a:endParaRPr lang="en-US" sz="1250" dirty="0"/>
          </a:p>
        </p:txBody>
      </p:sp>
      <p:sp>
        <p:nvSpPr>
          <p:cNvPr id="20" name="Shape 18"/>
          <p:cNvSpPr/>
          <p:nvPr/>
        </p:nvSpPr>
        <p:spPr>
          <a:xfrm>
            <a:off x="640080" y="4782312"/>
            <a:ext cx="530352" cy="530352"/>
          </a:xfrm>
          <a:prstGeom prst="ellipse">
            <a:avLst/>
          </a:prstGeom>
          <a:solidFill>
            <a:srgbClr val="065A82"/>
          </a:solidFill>
          <a:ln/>
        </p:spPr>
      </p:sp>
      <p:sp>
        <p:nvSpPr>
          <p:cNvPr id="21" name="Text 19"/>
          <p:cNvSpPr/>
          <p:nvPr/>
        </p:nvSpPr>
        <p:spPr>
          <a:xfrm>
            <a:off x="640080" y="4782312"/>
            <a:ext cx="530352" cy="530352"/>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05</a:t>
            </a:r>
            <a:endParaRPr lang="en-US" sz="2000" dirty="0"/>
          </a:p>
        </p:txBody>
      </p:sp>
      <p:sp>
        <p:nvSpPr>
          <p:cNvPr id="22" name="Text 20"/>
          <p:cNvSpPr/>
          <p:nvPr/>
        </p:nvSpPr>
        <p:spPr>
          <a:xfrm>
            <a:off x="1417320" y="4764024"/>
            <a:ext cx="5120640" cy="347472"/>
          </a:xfrm>
          <a:prstGeom prst="rect">
            <a:avLst/>
          </a:prstGeom>
          <a:noFill/>
          <a:ln/>
        </p:spPr>
        <p:txBody>
          <a:bodyPr wrap="square"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How to run it</a:t>
            </a:r>
            <a:endParaRPr lang="en-US" sz="1700" dirty="0"/>
          </a:p>
        </p:txBody>
      </p:sp>
      <p:sp>
        <p:nvSpPr>
          <p:cNvPr id="23" name="Text 21"/>
          <p:cNvSpPr/>
          <p:nvPr/>
        </p:nvSpPr>
        <p:spPr>
          <a:xfrm>
            <a:off x="1417320" y="5111496"/>
            <a:ext cx="7680960" cy="329184"/>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A practical walkthrough for daily use</a:t>
            </a:r>
            <a:endParaRPr lang="en-US" sz="1250" dirty="0"/>
          </a:p>
        </p:txBody>
      </p:sp>
      <p:sp>
        <p:nvSpPr>
          <p:cNvPr id="24" name="Shape 22"/>
          <p:cNvSpPr/>
          <p:nvPr/>
        </p:nvSpPr>
        <p:spPr>
          <a:xfrm>
            <a:off x="640080" y="5623560"/>
            <a:ext cx="530352" cy="530352"/>
          </a:xfrm>
          <a:prstGeom prst="ellipse">
            <a:avLst/>
          </a:prstGeom>
          <a:solidFill>
            <a:srgbClr val="065A82"/>
          </a:solidFill>
          <a:ln/>
        </p:spPr>
      </p:sp>
      <p:sp>
        <p:nvSpPr>
          <p:cNvPr id="25" name="Text 23"/>
          <p:cNvSpPr/>
          <p:nvPr/>
        </p:nvSpPr>
        <p:spPr>
          <a:xfrm>
            <a:off x="640080" y="5623560"/>
            <a:ext cx="530352" cy="530352"/>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06</a:t>
            </a:r>
            <a:endParaRPr lang="en-US" sz="2000" dirty="0"/>
          </a:p>
        </p:txBody>
      </p:sp>
      <p:sp>
        <p:nvSpPr>
          <p:cNvPr id="26" name="Text 24"/>
          <p:cNvSpPr/>
          <p:nvPr/>
        </p:nvSpPr>
        <p:spPr>
          <a:xfrm>
            <a:off x="1417320" y="5605272"/>
            <a:ext cx="5120640" cy="347472"/>
          </a:xfrm>
          <a:prstGeom prst="rect">
            <a:avLst/>
          </a:prstGeom>
          <a:noFill/>
          <a:ln/>
        </p:spPr>
        <p:txBody>
          <a:bodyPr wrap="square"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Questions</a:t>
            </a:r>
            <a:endParaRPr lang="en-US" sz="1700" dirty="0"/>
          </a:p>
        </p:txBody>
      </p:sp>
      <p:sp>
        <p:nvSpPr>
          <p:cNvPr id="27" name="Text 25"/>
          <p:cNvSpPr/>
          <p:nvPr/>
        </p:nvSpPr>
        <p:spPr>
          <a:xfrm>
            <a:off x="1417320" y="5952744"/>
            <a:ext cx="7680960" cy="329184"/>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Open discussion</a:t>
            </a:r>
            <a:endParaRPr lang="en-US" sz="1250" dirty="0"/>
          </a:p>
        </p:txBody>
      </p:sp>
      <p:sp>
        <p:nvSpPr>
          <p:cNvPr id="28" name="Text 26"/>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B6572"/>
                </a:solidFill>
                <a:latin typeface="Calibri" pitchFamily="34" charset="0"/>
                <a:ea typeface="Calibri" pitchFamily="34" charset="-122"/>
                <a:cs typeface="Calibri" pitchFamily="34" charset="-120"/>
              </a:rPr>
              <a:t>CI/CD Refactor</a:t>
            </a:r>
            <a:endParaRPr lang="en-US" sz="1000" dirty="0"/>
          </a:p>
        </p:txBody>
      </p:sp>
      <p:sp>
        <p:nvSpPr>
          <p:cNvPr id="29" name="Text 27"/>
          <p:cNvSpPr/>
          <p:nvPr/>
        </p:nvSpPr>
        <p:spPr>
          <a:xfrm>
            <a:off x="11457432" y="6528816"/>
            <a:ext cx="365760" cy="274320"/>
          </a:xfrm>
          <a:prstGeom prst="rect">
            <a:avLst/>
          </a:prstGeom>
          <a:noFill/>
          <a:ln/>
        </p:spPr>
        <p:txBody>
          <a:bodyPr wrap="square" rtlCol="0" anchor="ctr"/>
          <a:lstStyle/>
          <a:p>
            <a:pPr algn="r" indent="0" marL="0">
              <a:buNone/>
            </a:pPr>
            <a:r>
              <a:rPr lang="en-US" sz="1000" dirty="0">
                <a:solidFill>
                  <a:srgbClr val="5B6572"/>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146304"/>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WHERE WE CAME FROM</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Three separate CI/CD projects</a:t>
            </a:r>
            <a:endParaRPr lang="en-US" sz="3000" dirty="0"/>
          </a:p>
        </p:txBody>
      </p:sp>
      <p:sp>
        <p:nvSpPr>
          <p:cNvPr id="4" name="Shape 2"/>
          <p:cNvSpPr/>
          <p:nvPr/>
        </p:nvSpPr>
        <p:spPr>
          <a:xfrm>
            <a:off x="548640" y="1691640"/>
            <a:ext cx="3429000" cy="3063240"/>
          </a:xfrm>
          <a:prstGeom prst="roundRect">
            <a:avLst>
              <a:gd name="adj" fmla="val 2388"/>
            </a:avLst>
          </a:prstGeom>
          <a:solidFill>
            <a:srgbClr val="FFFFFF"/>
          </a:solidFill>
          <a:ln w="12700">
            <a:solidFill>
              <a:srgbClr val="DCE3E8"/>
            </a:solidFill>
            <a:prstDash val="solid"/>
          </a:ln>
          <a:effectLst>
            <a:outerShdw sx="100000" sy="100000" kx="0" ky="0" algn="bl" rotWithShape="0" blurRad="76200" dist="25400" dir="5400000">
              <a:srgbClr val="9AA5AF">
                <a:alpha val="25000"/>
              </a:srgbClr>
            </a:outerShdw>
          </a:effectLst>
        </p:spPr>
      </p:sp>
      <p:sp>
        <p:nvSpPr>
          <p:cNvPr id="5" name="Shape 3"/>
          <p:cNvSpPr/>
          <p:nvPr/>
        </p:nvSpPr>
        <p:spPr>
          <a:xfrm>
            <a:off x="822960" y="1965960"/>
            <a:ext cx="548640" cy="548640"/>
          </a:xfrm>
          <a:prstGeom prst="roundRect">
            <a:avLst>
              <a:gd name="adj" fmla="val 16667"/>
            </a:avLst>
          </a:prstGeom>
          <a:solidFill>
            <a:srgbClr val="065A82"/>
          </a:solidFill>
          <a:ln/>
        </p:spPr>
      </p:sp>
      <p:sp>
        <p:nvSpPr>
          <p:cNvPr id="6" name="Text 4"/>
          <p:cNvSpPr/>
          <p:nvPr/>
        </p:nvSpPr>
        <p:spPr>
          <a:xfrm>
            <a:off x="822960" y="2697480"/>
            <a:ext cx="2880360" cy="457200"/>
          </a:xfrm>
          <a:prstGeom prst="rect">
            <a:avLst/>
          </a:prstGeom>
          <a:noFill/>
          <a:ln/>
        </p:spPr>
        <p:txBody>
          <a:bodyPr wrap="square" rtlCol="0" anchor="ctr"/>
          <a:lstStyle/>
          <a:p>
            <a:pPr indent="0" marL="0">
              <a:buNone/>
            </a:pPr>
            <a:r>
              <a:rPr lang="en-US" sz="2000" b="1" dirty="0">
                <a:solidFill>
                  <a:srgbClr val="1B1F2A"/>
                </a:solidFill>
                <a:latin typeface="Cambria" pitchFamily="34" charset="0"/>
                <a:ea typeface="Cambria" pitchFamily="34" charset="-122"/>
                <a:cs typeface="Cambria" pitchFamily="34" charset="-120"/>
              </a:rPr>
              <a:t>chaos-ci</a:t>
            </a:r>
            <a:endParaRPr lang="en-US" sz="2000" dirty="0"/>
          </a:p>
        </p:txBody>
      </p:sp>
      <p:sp>
        <p:nvSpPr>
          <p:cNvPr id="7" name="Text 5"/>
          <p:cNvSpPr/>
          <p:nvPr/>
        </p:nvSpPr>
        <p:spPr>
          <a:xfrm>
            <a:off x="822960" y="3200400"/>
            <a:ext cx="2880360" cy="1371600"/>
          </a:xfrm>
          <a:prstGeom prst="rect">
            <a:avLst/>
          </a:prstGeom>
          <a:noFill/>
          <a:ln/>
        </p:spPr>
        <p:txBody>
          <a:bodyPr wrap="square" rtlCol="0" anchor="ctr"/>
          <a:lstStyle/>
          <a:p>
            <a:pPr indent="0" marL="0">
              <a:lnSpc>
                <a:spcPct val="115000"/>
              </a:lnSpc>
              <a:buNone/>
            </a:pPr>
            <a:r>
              <a:rPr lang="en-US" sz="1300" dirty="0">
                <a:solidFill>
                  <a:srgbClr val="5B6572"/>
                </a:solidFill>
                <a:latin typeface="Calibri" pitchFamily="34" charset="0"/>
                <a:ea typeface="Calibri" pitchFamily="34" charset="-122"/>
                <a:cs typeface="Calibri" pitchFamily="34" charset="-120"/>
              </a:rPr>
              <a:t>Deploys the automation / QA environment, then runs automation tests against it.</a:t>
            </a:r>
            <a:endParaRPr lang="en-US" sz="1300" dirty="0"/>
          </a:p>
        </p:txBody>
      </p:sp>
      <p:sp>
        <p:nvSpPr>
          <p:cNvPr id="8" name="Shape 6"/>
          <p:cNvSpPr/>
          <p:nvPr/>
        </p:nvSpPr>
        <p:spPr>
          <a:xfrm>
            <a:off x="4297680" y="1691640"/>
            <a:ext cx="3429000" cy="3063240"/>
          </a:xfrm>
          <a:prstGeom prst="roundRect">
            <a:avLst>
              <a:gd name="adj" fmla="val 2388"/>
            </a:avLst>
          </a:prstGeom>
          <a:solidFill>
            <a:srgbClr val="FFFFFF"/>
          </a:solidFill>
          <a:ln w="12700">
            <a:solidFill>
              <a:srgbClr val="DCE3E8"/>
            </a:solidFill>
            <a:prstDash val="solid"/>
          </a:ln>
          <a:effectLst>
            <a:outerShdw sx="100000" sy="100000" kx="0" ky="0" algn="bl" rotWithShape="0" blurRad="76200" dist="25400" dir="5400000">
              <a:srgbClr val="9AA5AF">
                <a:alpha val="25000"/>
              </a:srgbClr>
            </a:outerShdw>
          </a:effectLst>
        </p:spPr>
      </p:sp>
      <p:sp>
        <p:nvSpPr>
          <p:cNvPr id="9" name="Shape 7"/>
          <p:cNvSpPr/>
          <p:nvPr/>
        </p:nvSpPr>
        <p:spPr>
          <a:xfrm>
            <a:off x="4572000" y="1965960"/>
            <a:ext cx="548640" cy="548640"/>
          </a:xfrm>
          <a:prstGeom prst="roundRect">
            <a:avLst>
              <a:gd name="adj" fmla="val 16667"/>
            </a:avLst>
          </a:prstGeom>
          <a:solidFill>
            <a:srgbClr val="1C7293"/>
          </a:solidFill>
          <a:ln/>
        </p:spPr>
      </p:sp>
      <p:sp>
        <p:nvSpPr>
          <p:cNvPr id="10" name="Text 8"/>
          <p:cNvSpPr/>
          <p:nvPr/>
        </p:nvSpPr>
        <p:spPr>
          <a:xfrm>
            <a:off x="4572000" y="2697480"/>
            <a:ext cx="2880360" cy="457200"/>
          </a:xfrm>
          <a:prstGeom prst="rect">
            <a:avLst/>
          </a:prstGeom>
          <a:noFill/>
          <a:ln/>
        </p:spPr>
        <p:txBody>
          <a:bodyPr wrap="square" rtlCol="0" anchor="ctr"/>
          <a:lstStyle/>
          <a:p>
            <a:pPr indent="0" marL="0">
              <a:buNone/>
            </a:pPr>
            <a:r>
              <a:rPr lang="en-US" sz="2000" b="1" dirty="0">
                <a:solidFill>
                  <a:srgbClr val="1B1F2A"/>
                </a:solidFill>
                <a:latin typeface="Cambria" pitchFamily="34" charset="0"/>
                <a:ea typeface="Cambria" pitchFamily="34" charset="-122"/>
                <a:cs typeface="Cambria" pitchFamily="34" charset="-120"/>
              </a:rPr>
              <a:t>cflow-cd</a:t>
            </a:r>
            <a:endParaRPr lang="en-US" sz="2000" dirty="0"/>
          </a:p>
        </p:txBody>
      </p:sp>
      <p:sp>
        <p:nvSpPr>
          <p:cNvPr id="11" name="Text 9"/>
          <p:cNvSpPr/>
          <p:nvPr/>
        </p:nvSpPr>
        <p:spPr>
          <a:xfrm>
            <a:off x="4572000" y="3200400"/>
            <a:ext cx="2880360" cy="1371600"/>
          </a:xfrm>
          <a:prstGeom prst="rect">
            <a:avLst/>
          </a:prstGeom>
          <a:noFill/>
          <a:ln/>
        </p:spPr>
        <p:txBody>
          <a:bodyPr wrap="square" rtlCol="0" anchor="ctr"/>
          <a:lstStyle/>
          <a:p>
            <a:pPr indent="0" marL="0">
              <a:lnSpc>
                <a:spcPct val="115000"/>
              </a:lnSpc>
              <a:buNone/>
            </a:pPr>
            <a:r>
              <a:rPr lang="en-US" sz="1300" dirty="0">
                <a:solidFill>
                  <a:srgbClr val="5B6572"/>
                </a:solidFill>
                <a:latin typeface="Calibri" pitchFamily="34" charset="0"/>
                <a:ea typeface="Calibri" pitchFamily="34" charset="-122"/>
                <a:cs typeface="Calibri" pitchFamily="34" charset="-120"/>
              </a:rPr>
              <a:t>Deploys to the test environment.</a:t>
            </a:r>
            <a:endParaRPr lang="en-US" sz="1300" dirty="0"/>
          </a:p>
        </p:txBody>
      </p:sp>
      <p:sp>
        <p:nvSpPr>
          <p:cNvPr id="12" name="Shape 10"/>
          <p:cNvSpPr/>
          <p:nvPr/>
        </p:nvSpPr>
        <p:spPr>
          <a:xfrm>
            <a:off x="8046720" y="1691640"/>
            <a:ext cx="3429000" cy="3063240"/>
          </a:xfrm>
          <a:prstGeom prst="roundRect">
            <a:avLst>
              <a:gd name="adj" fmla="val 2388"/>
            </a:avLst>
          </a:prstGeom>
          <a:solidFill>
            <a:srgbClr val="FFFFFF"/>
          </a:solidFill>
          <a:ln w="12700">
            <a:solidFill>
              <a:srgbClr val="DCE3E8"/>
            </a:solidFill>
            <a:prstDash val="solid"/>
          </a:ln>
          <a:effectLst>
            <a:outerShdw sx="100000" sy="100000" kx="0" ky="0" algn="bl" rotWithShape="0" blurRad="76200" dist="25400" dir="5400000">
              <a:srgbClr val="9AA5AF">
                <a:alpha val="25000"/>
              </a:srgbClr>
            </a:outerShdw>
          </a:effectLst>
        </p:spPr>
      </p:sp>
      <p:sp>
        <p:nvSpPr>
          <p:cNvPr id="13" name="Shape 11"/>
          <p:cNvSpPr/>
          <p:nvPr/>
        </p:nvSpPr>
        <p:spPr>
          <a:xfrm>
            <a:off x="8321040" y="1965960"/>
            <a:ext cx="548640" cy="548640"/>
          </a:xfrm>
          <a:prstGeom prst="roundRect">
            <a:avLst>
              <a:gd name="adj" fmla="val 16667"/>
            </a:avLst>
          </a:prstGeom>
          <a:solidFill>
            <a:srgbClr val="21295C"/>
          </a:solidFill>
          <a:ln/>
        </p:spPr>
      </p:sp>
      <p:sp>
        <p:nvSpPr>
          <p:cNvPr id="14" name="Text 12"/>
          <p:cNvSpPr/>
          <p:nvPr/>
        </p:nvSpPr>
        <p:spPr>
          <a:xfrm>
            <a:off x="8321040" y="2697480"/>
            <a:ext cx="2880360" cy="457200"/>
          </a:xfrm>
          <a:prstGeom prst="rect">
            <a:avLst/>
          </a:prstGeom>
          <a:noFill/>
          <a:ln/>
        </p:spPr>
        <p:txBody>
          <a:bodyPr wrap="square" rtlCol="0" anchor="ctr"/>
          <a:lstStyle/>
          <a:p>
            <a:pPr indent="0" marL="0">
              <a:buNone/>
            </a:pPr>
            <a:r>
              <a:rPr lang="en-US" sz="2000" b="1" dirty="0">
                <a:solidFill>
                  <a:srgbClr val="1B1F2A"/>
                </a:solidFill>
                <a:latin typeface="Cambria" pitchFamily="34" charset="0"/>
                <a:ea typeface="Cambria" pitchFamily="34" charset="-122"/>
                <a:cs typeface="Cambria" pitchFamily="34" charset="-120"/>
              </a:rPr>
              <a:t>deploy-cd</a:t>
            </a:r>
            <a:endParaRPr lang="en-US" sz="2000" dirty="0"/>
          </a:p>
        </p:txBody>
      </p:sp>
      <p:sp>
        <p:nvSpPr>
          <p:cNvPr id="15" name="Text 13"/>
          <p:cNvSpPr/>
          <p:nvPr/>
        </p:nvSpPr>
        <p:spPr>
          <a:xfrm>
            <a:off x="8321040" y="3200400"/>
            <a:ext cx="2880360" cy="1371600"/>
          </a:xfrm>
          <a:prstGeom prst="rect">
            <a:avLst/>
          </a:prstGeom>
          <a:noFill/>
          <a:ln/>
        </p:spPr>
        <p:txBody>
          <a:bodyPr wrap="square" rtlCol="0" anchor="ctr"/>
          <a:lstStyle/>
          <a:p>
            <a:pPr indent="0" marL="0">
              <a:lnSpc>
                <a:spcPct val="115000"/>
              </a:lnSpc>
              <a:buNone/>
            </a:pPr>
            <a:r>
              <a:rPr lang="en-US" sz="1300" dirty="0">
                <a:solidFill>
                  <a:srgbClr val="5B6572"/>
                </a:solidFill>
                <a:latin typeface="Calibri" pitchFamily="34" charset="0"/>
                <a:ea typeface="Calibri" pitchFamily="34" charset="-122"/>
                <a:cs typeface="Calibri" pitchFamily="34" charset="-120"/>
              </a:rPr>
              <a:t>Deploys to production.</a:t>
            </a:r>
            <a:endParaRPr lang="en-US" sz="1300" dirty="0"/>
          </a:p>
        </p:txBody>
      </p:sp>
      <p:sp>
        <p:nvSpPr>
          <p:cNvPr id="16" name="Text 14"/>
          <p:cNvSpPr/>
          <p:nvPr/>
        </p:nvSpPr>
        <p:spPr>
          <a:xfrm>
            <a:off x="548640" y="4892040"/>
            <a:ext cx="11064240" cy="457200"/>
          </a:xfrm>
          <a:prstGeom prst="rect">
            <a:avLst/>
          </a:prstGeom>
          <a:noFill/>
          <a:ln/>
        </p:spPr>
        <p:txBody>
          <a:bodyPr wrap="square" rtlCol="0" anchor="ctr"/>
          <a:lstStyle/>
          <a:p>
            <a:pPr indent="0" marL="0">
              <a:buNone/>
            </a:pPr>
            <a:r>
              <a:rPr lang="en-US" sz="1350" i="1" dirty="0">
                <a:solidFill>
                  <a:srgbClr val="1C7293"/>
                </a:solidFill>
                <a:latin typeface="Calibri" pitchFamily="34" charset="0"/>
                <a:ea typeface="Calibri" pitchFamily="34" charset="-122"/>
                <a:cs typeface="Calibri" pitchFamily="34" charset="-120"/>
              </a:rPr>
              <a:t>The developer starts here: picks a service and clicks run in whichever of the three projects matches the target environment.</a:t>
            </a:r>
            <a:endParaRPr lang="en-US" sz="1350" dirty="0"/>
          </a:p>
        </p:txBody>
      </p:sp>
      <p:sp>
        <p:nvSpPr>
          <p:cNvPr id="17" name="Text 15"/>
          <p:cNvSpPr/>
          <p:nvPr/>
        </p:nvSpPr>
        <p:spPr>
          <a:xfrm>
            <a:off x="548640" y="5303520"/>
            <a:ext cx="11064240" cy="457200"/>
          </a:xfrm>
          <a:prstGeom prst="rect">
            <a:avLst/>
          </a:prstGeom>
          <a:noFill/>
          <a:ln/>
        </p:spPr>
        <p:txBody>
          <a:bodyPr wrap="square" rtlCol="0" anchor="ctr"/>
          <a:lstStyle/>
          <a:p>
            <a:pPr indent="0" marL="0">
              <a:buNone/>
            </a:pPr>
            <a:r>
              <a:rPr lang="en-US" sz="1350" i="1" dirty="0">
                <a:solidFill>
                  <a:srgbClr val="5B6572"/>
                </a:solidFill>
                <a:latin typeface="Calibri" pitchFamily="34" charset="0"/>
                <a:ea typeface="Calibri" pitchFamily="34" charset="-122"/>
                <a:cs typeface="Calibri" pitchFamily="34" charset="-120"/>
              </a:rPr>
              <a:t>That project then triggers the Nx project, which triggers the relevant app's build/deploy jobs — see next slide.</a:t>
            </a:r>
            <a:endParaRPr lang="en-US" sz="1350" dirty="0"/>
          </a:p>
        </p:txBody>
      </p:sp>
      <p:sp>
        <p:nvSpPr>
          <p:cNvPr id="18" name="Text 16"/>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B6572"/>
                </a:solidFill>
                <a:latin typeface="Calibri" pitchFamily="34" charset="0"/>
                <a:ea typeface="Calibri" pitchFamily="34" charset="-122"/>
                <a:cs typeface="Calibri" pitchFamily="34" charset="-120"/>
              </a:rPr>
              <a:t>CI/CD Refactor</a:t>
            </a:r>
            <a:endParaRPr lang="en-US" sz="1000" dirty="0"/>
          </a:p>
        </p:txBody>
      </p:sp>
      <p:sp>
        <p:nvSpPr>
          <p:cNvPr id="19" name="Text 17"/>
          <p:cNvSpPr/>
          <p:nvPr/>
        </p:nvSpPr>
        <p:spPr>
          <a:xfrm>
            <a:off x="11457432" y="6528816"/>
            <a:ext cx="365760" cy="274320"/>
          </a:xfrm>
          <a:prstGeom prst="rect">
            <a:avLst/>
          </a:prstGeom>
          <a:noFill/>
          <a:ln/>
        </p:spPr>
        <p:txBody>
          <a:bodyPr wrap="square" rtlCol="0" anchor="ctr"/>
          <a:lstStyle/>
          <a:p>
            <a:pPr algn="r" indent="0" marL="0">
              <a:buNone/>
            </a:pPr>
            <a:r>
              <a:rPr lang="en-US" sz="1000" dirty="0">
                <a:solidFill>
                  <a:srgbClr val="5B65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46304"/>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WHERE WE CAME FROM</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The old flow</a:t>
            </a:r>
            <a:endParaRPr lang="en-US" sz="3000" dirty="0"/>
          </a:p>
        </p:txBody>
      </p:sp>
      <p:sp>
        <p:nvSpPr>
          <p:cNvPr id="4" name="Shape 2"/>
          <p:cNvSpPr/>
          <p:nvPr/>
        </p:nvSpPr>
        <p:spPr>
          <a:xfrm>
            <a:off x="457200" y="1691640"/>
            <a:ext cx="2880360" cy="3566160"/>
          </a:xfrm>
          <a:prstGeom prst="roundRect">
            <a:avLst>
              <a:gd name="adj" fmla="val 2540"/>
            </a:avLst>
          </a:prstGeom>
          <a:solidFill>
            <a:srgbClr val="EAF2FA"/>
          </a:solidFill>
          <a:ln w="12700">
            <a:solidFill>
              <a:srgbClr val="DCE3E8"/>
            </a:solidFill>
            <a:prstDash val="solid"/>
          </a:ln>
          <a:effectLst>
            <a:outerShdw sx="100000" sy="100000" kx="0" ky="0" algn="bl" rotWithShape="0" blurRad="76200" dist="25400" dir="5400000">
              <a:srgbClr val="9AA5AF">
                <a:alpha val="25000"/>
              </a:srgbClr>
            </a:outerShdw>
          </a:effectLst>
        </p:spPr>
      </p:sp>
      <p:sp>
        <p:nvSpPr>
          <p:cNvPr id="5" name="Text 3"/>
          <p:cNvSpPr/>
          <p:nvPr/>
        </p:nvSpPr>
        <p:spPr>
          <a:xfrm>
            <a:off x="685800" y="1874520"/>
            <a:ext cx="457200" cy="365760"/>
          </a:xfrm>
          <a:prstGeom prst="rect">
            <a:avLst/>
          </a:prstGeom>
          <a:noFill/>
          <a:ln/>
        </p:spPr>
        <p:txBody>
          <a:bodyPr wrap="square" rtlCol="0" anchor="ctr"/>
          <a:lstStyle/>
          <a:p>
            <a:pPr indent="0" marL="0">
              <a:buNone/>
            </a:pPr>
            <a:r>
              <a:rPr lang="en-US" sz="1600" b="1" dirty="0">
                <a:solidFill>
                  <a:srgbClr val="065A82"/>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685800" y="2240280"/>
            <a:ext cx="2468880" cy="548640"/>
          </a:xfrm>
          <a:prstGeom prst="rect">
            <a:avLst/>
          </a:prstGeom>
          <a:noFill/>
          <a:ln/>
        </p:spPr>
        <p:txBody>
          <a:bodyPr wrap="square" rtlCol="0" anchor="ctr"/>
          <a:lstStyle/>
          <a:p>
            <a:pPr indent="0" marL="0">
              <a:buNone/>
            </a:pPr>
            <a:r>
              <a:rPr lang="en-US" sz="1300" b="1" dirty="0">
                <a:solidFill>
                  <a:srgbClr val="1B1F2A"/>
                </a:solidFill>
                <a:latin typeface="Cambria" pitchFamily="34" charset="0"/>
                <a:ea typeface="Cambria" pitchFamily="34" charset="-122"/>
                <a:cs typeface="Cambria" pitchFamily="34" charset="-120"/>
              </a:rPr>
              <a:t>Developer enters variables in the UI</a:t>
            </a:r>
            <a:endParaRPr lang="en-US" sz="1300" dirty="0"/>
          </a:p>
        </p:txBody>
      </p:sp>
      <p:sp>
        <p:nvSpPr>
          <p:cNvPr id="7" name="Shape 5"/>
          <p:cNvSpPr/>
          <p:nvPr/>
        </p:nvSpPr>
        <p:spPr>
          <a:xfrm>
            <a:off x="685800" y="2880360"/>
            <a:ext cx="2423160" cy="457200"/>
          </a:xfrm>
          <a:prstGeom prst="roundRect">
            <a:avLst>
              <a:gd name="adj" fmla="val 12000"/>
            </a:avLst>
          </a:prstGeom>
          <a:solidFill>
            <a:srgbClr val="FFFFFF"/>
          </a:solidFill>
          <a:ln w="15240">
            <a:solidFill>
              <a:srgbClr val="065A82"/>
            </a:solidFill>
            <a:prstDash val="solid"/>
          </a:ln>
        </p:spPr>
      </p:sp>
      <p:sp>
        <p:nvSpPr>
          <p:cNvPr id="8" name="Text 6"/>
          <p:cNvSpPr/>
          <p:nvPr/>
        </p:nvSpPr>
        <p:spPr>
          <a:xfrm>
            <a:off x="777240" y="2880360"/>
            <a:ext cx="2240280" cy="457200"/>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chaos-ci</a:t>
            </a:r>
            <a:endParaRPr lang="en-US" sz="1250" dirty="0"/>
          </a:p>
        </p:txBody>
      </p:sp>
      <p:sp>
        <p:nvSpPr>
          <p:cNvPr id="9" name="Shape 7"/>
          <p:cNvSpPr/>
          <p:nvPr/>
        </p:nvSpPr>
        <p:spPr>
          <a:xfrm>
            <a:off x="685800" y="3502152"/>
            <a:ext cx="2423160" cy="457200"/>
          </a:xfrm>
          <a:prstGeom prst="roundRect">
            <a:avLst>
              <a:gd name="adj" fmla="val 12000"/>
            </a:avLst>
          </a:prstGeom>
          <a:solidFill>
            <a:srgbClr val="FFFFFF"/>
          </a:solidFill>
          <a:ln w="15240">
            <a:solidFill>
              <a:srgbClr val="065A82"/>
            </a:solidFill>
            <a:prstDash val="solid"/>
          </a:ln>
        </p:spPr>
      </p:sp>
      <p:sp>
        <p:nvSpPr>
          <p:cNvPr id="10" name="Text 8"/>
          <p:cNvSpPr/>
          <p:nvPr/>
        </p:nvSpPr>
        <p:spPr>
          <a:xfrm>
            <a:off x="777240" y="3502152"/>
            <a:ext cx="2240280" cy="457200"/>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cflow-cd</a:t>
            </a:r>
            <a:endParaRPr lang="en-US" sz="1250" dirty="0"/>
          </a:p>
        </p:txBody>
      </p:sp>
      <p:sp>
        <p:nvSpPr>
          <p:cNvPr id="11" name="Shape 9"/>
          <p:cNvSpPr/>
          <p:nvPr/>
        </p:nvSpPr>
        <p:spPr>
          <a:xfrm>
            <a:off x="685800" y="4123944"/>
            <a:ext cx="2423160" cy="457200"/>
          </a:xfrm>
          <a:prstGeom prst="roundRect">
            <a:avLst>
              <a:gd name="adj" fmla="val 12000"/>
            </a:avLst>
          </a:prstGeom>
          <a:solidFill>
            <a:srgbClr val="FFFFFF"/>
          </a:solidFill>
          <a:ln w="15240">
            <a:solidFill>
              <a:srgbClr val="065A82"/>
            </a:solidFill>
            <a:prstDash val="solid"/>
          </a:ln>
        </p:spPr>
      </p:sp>
      <p:sp>
        <p:nvSpPr>
          <p:cNvPr id="12" name="Text 10"/>
          <p:cNvSpPr/>
          <p:nvPr/>
        </p:nvSpPr>
        <p:spPr>
          <a:xfrm>
            <a:off x="777240" y="4123944"/>
            <a:ext cx="2240280" cy="457200"/>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deploy-cd</a:t>
            </a:r>
            <a:endParaRPr lang="en-US" sz="1250" dirty="0"/>
          </a:p>
        </p:txBody>
      </p:sp>
      <p:sp>
        <p:nvSpPr>
          <p:cNvPr id="13" name="Shape 11"/>
          <p:cNvSpPr/>
          <p:nvPr/>
        </p:nvSpPr>
        <p:spPr>
          <a:xfrm>
            <a:off x="3337560" y="3456432"/>
            <a:ext cx="502920" cy="0"/>
          </a:xfrm>
          <a:prstGeom prst="line">
            <a:avLst/>
          </a:prstGeom>
          <a:noFill/>
          <a:ln w="25400">
            <a:solidFill>
              <a:srgbClr val="5B6572"/>
            </a:solidFill>
            <a:prstDash val="solid"/>
            <a:tailEnd type="triangle"/>
          </a:ln>
        </p:spPr>
      </p:sp>
      <p:sp>
        <p:nvSpPr>
          <p:cNvPr id="14" name="Shape 12"/>
          <p:cNvSpPr/>
          <p:nvPr/>
        </p:nvSpPr>
        <p:spPr>
          <a:xfrm>
            <a:off x="3840480" y="1691640"/>
            <a:ext cx="3246120" cy="3566160"/>
          </a:xfrm>
          <a:prstGeom prst="roundRect">
            <a:avLst>
              <a:gd name="adj" fmla="val 2254"/>
            </a:avLst>
          </a:prstGeom>
          <a:solidFill>
            <a:srgbClr val="F0F4F8"/>
          </a:solidFill>
          <a:ln w="12700">
            <a:solidFill>
              <a:srgbClr val="DCE3E8"/>
            </a:solidFill>
            <a:prstDash val="solid"/>
          </a:ln>
          <a:effectLst>
            <a:outerShdw sx="100000" sy="100000" kx="0" ky="0" algn="bl" rotWithShape="0" blurRad="76200" dist="25400" dir="5400000">
              <a:srgbClr val="9AA5AF">
                <a:alpha val="25000"/>
              </a:srgbClr>
            </a:outerShdw>
          </a:effectLst>
        </p:spPr>
      </p:sp>
      <p:sp>
        <p:nvSpPr>
          <p:cNvPr id="15" name="Text 13"/>
          <p:cNvSpPr/>
          <p:nvPr/>
        </p:nvSpPr>
        <p:spPr>
          <a:xfrm>
            <a:off x="4069080" y="1874520"/>
            <a:ext cx="457200" cy="365760"/>
          </a:xfrm>
          <a:prstGeom prst="rect">
            <a:avLst/>
          </a:prstGeom>
          <a:noFill/>
          <a:ln/>
        </p:spPr>
        <p:txBody>
          <a:bodyPr wrap="square"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2</a:t>
            </a:r>
            <a:endParaRPr lang="en-US" sz="1600" dirty="0"/>
          </a:p>
        </p:txBody>
      </p:sp>
      <p:sp>
        <p:nvSpPr>
          <p:cNvPr id="16" name="Text 14"/>
          <p:cNvSpPr/>
          <p:nvPr/>
        </p:nvSpPr>
        <p:spPr>
          <a:xfrm>
            <a:off x="4069080" y="2377440"/>
            <a:ext cx="2743200" cy="365760"/>
          </a:xfrm>
          <a:prstGeom prst="rect">
            <a:avLst/>
          </a:prstGeom>
          <a:noFill/>
          <a:ln/>
        </p:spPr>
        <p:txBody>
          <a:bodyPr wrap="square"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Nx project</a:t>
            </a:r>
            <a:endParaRPr lang="en-US" sz="1600" dirty="0"/>
          </a:p>
        </p:txBody>
      </p:sp>
      <p:sp>
        <p:nvSpPr>
          <p:cNvPr id="17" name="Text 15"/>
          <p:cNvSpPr/>
          <p:nvPr/>
        </p:nvSpPr>
        <p:spPr>
          <a:xfrm>
            <a:off x="4069080" y="2761488"/>
            <a:ext cx="2743200" cy="320040"/>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Root .gitlab-ci.yml</a:t>
            </a:r>
            <a:endParaRPr lang="en-US" sz="1250" dirty="0"/>
          </a:p>
        </p:txBody>
      </p:sp>
      <p:sp>
        <p:nvSpPr>
          <p:cNvPr id="18" name="Text 16"/>
          <p:cNvSpPr/>
          <p:nvPr/>
        </p:nvSpPr>
        <p:spPr>
          <a:xfrm>
            <a:off x="4069080" y="3200400"/>
            <a:ext cx="2788920" cy="1828800"/>
          </a:xfrm>
          <a:prstGeom prst="rect">
            <a:avLst/>
          </a:prstGeom>
          <a:noFill/>
          <a:ln/>
        </p:spPr>
        <p:txBody>
          <a:bodyPr wrap="square" rtlCol="0" anchor="ctr"/>
          <a:lstStyle/>
          <a:p>
            <a:pPr indent="0" marL="0">
              <a:lnSpc>
                <a:spcPct val="120000"/>
              </a:lnSpc>
              <a:buNone/>
            </a:pPr>
            <a:r>
              <a:rPr lang="en-US" sz="1250" dirty="0">
                <a:solidFill>
                  <a:srgbClr val="1B1F2A"/>
                </a:solidFill>
                <a:latin typeface="Calibri" pitchFamily="34" charset="0"/>
                <a:ea typeface="Calibri" pitchFamily="34" charset="-122"/>
                <a:cs typeface="Calibri" pitchFamily="34" charset="-120"/>
              </a:rPr>
              <a:t>Triggered by whichever CD project the developer used. Reads the variables it was sent and, based on them, includes the .gitlab-ci.yml of the relevant app(s).</a:t>
            </a:r>
            <a:endParaRPr lang="en-US" sz="1250" dirty="0"/>
          </a:p>
        </p:txBody>
      </p:sp>
      <p:sp>
        <p:nvSpPr>
          <p:cNvPr id="19" name="Shape 17"/>
          <p:cNvSpPr/>
          <p:nvPr/>
        </p:nvSpPr>
        <p:spPr>
          <a:xfrm>
            <a:off x="7086600" y="3456432"/>
            <a:ext cx="502920" cy="0"/>
          </a:xfrm>
          <a:prstGeom prst="line">
            <a:avLst/>
          </a:prstGeom>
          <a:noFill/>
          <a:ln w="25400">
            <a:solidFill>
              <a:srgbClr val="5B6572"/>
            </a:solidFill>
            <a:prstDash val="solid"/>
            <a:tailEnd type="triangle"/>
          </a:ln>
        </p:spPr>
      </p:sp>
      <p:sp>
        <p:nvSpPr>
          <p:cNvPr id="20" name="Shape 18"/>
          <p:cNvSpPr/>
          <p:nvPr/>
        </p:nvSpPr>
        <p:spPr>
          <a:xfrm>
            <a:off x="7589520" y="1691640"/>
            <a:ext cx="4114800" cy="3566160"/>
          </a:xfrm>
          <a:prstGeom prst="roundRect">
            <a:avLst>
              <a:gd name="adj" fmla="val 2051"/>
            </a:avLst>
          </a:prstGeom>
          <a:solidFill>
            <a:srgbClr val="21295C"/>
          </a:solidFill>
          <a:ln/>
          <a:effectLst>
            <a:outerShdw sx="100000" sy="100000" kx="0" ky="0" algn="bl" rotWithShape="0" blurRad="76200" dist="25400" dir="5400000">
              <a:srgbClr val="9AA5AF">
                <a:alpha val="25000"/>
              </a:srgbClr>
            </a:outerShdw>
          </a:effectLst>
        </p:spPr>
      </p:sp>
      <p:sp>
        <p:nvSpPr>
          <p:cNvPr id="21" name="Text 19"/>
          <p:cNvSpPr/>
          <p:nvPr/>
        </p:nvSpPr>
        <p:spPr>
          <a:xfrm>
            <a:off x="7818120" y="1874520"/>
            <a:ext cx="457200" cy="365760"/>
          </a:xfrm>
          <a:prstGeom prst="rect">
            <a:avLst/>
          </a:prstGeom>
          <a:noFill/>
          <a:ln/>
        </p:spPr>
        <p:txBody>
          <a:bodyPr wrap="square" rtlCol="0" anchor="ctr"/>
          <a:lstStyle/>
          <a:p>
            <a:pPr indent="0" marL="0">
              <a:buNone/>
            </a:pPr>
            <a:r>
              <a:rPr lang="en-US" sz="1600" b="1" dirty="0">
                <a:solidFill>
                  <a:srgbClr val="6FD6C4"/>
                </a:solidFill>
                <a:latin typeface="Cambria" pitchFamily="34" charset="0"/>
                <a:ea typeface="Cambria" pitchFamily="34" charset="-122"/>
                <a:cs typeface="Cambria" pitchFamily="34" charset="-120"/>
              </a:rPr>
              <a:t>3</a:t>
            </a:r>
            <a:endParaRPr lang="en-US" sz="1600" dirty="0"/>
          </a:p>
        </p:txBody>
      </p:sp>
      <p:sp>
        <p:nvSpPr>
          <p:cNvPr id="22" name="Text 20"/>
          <p:cNvSpPr/>
          <p:nvPr/>
        </p:nvSpPr>
        <p:spPr>
          <a:xfrm>
            <a:off x="7818120" y="2377440"/>
            <a:ext cx="3657600" cy="3657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App project's .gitlab-ci.yml</a:t>
            </a:r>
            <a:endParaRPr lang="en-US" sz="1600" dirty="0"/>
          </a:p>
        </p:txBody>
      </p:sp>
      <p:sp>
        <p:nvSpPr>
          <p:cNvPr id="23" name="Text 21"/>
          <p:cNvSpPr/>
          <p:nvPr/>
        </p:nvSpPr>
        <p:spPr>
          <a:xfrm>
            <a:off x="7818120" y="2834640"/>
            <a:ext cx="3657600" cy="1188720"/>
          </a:xfrm>
          <a:prstGeom prst="rect">
            <a:avLst/>
          </a:prstGeom>
          <a:noFill/>
          <a:ln/>
        </p:spPr>
        <p:txBody>
          <a:bodyPr wrap="square" rtlCol="0" anchor="ctr"/>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Included into the Nx pipeline run. Contains this app's build and deploy jobs, which now actually execute.</a:t>
            </a:r>
            <a:endParaRPr lang="en-US" sz="1250" dirty="0"/>
          </a:p>
        </p:txBody>
      </p:sp>
      <p:sp>
        <p:nvSpPr>
          <p:cNvPr id="24" name="Text 22"/>
          <p:cNvSpPr/>
          <p:nvPr/>
        </p:nvSpPr>
        <p:spPr>
          <a:xfrm>
            <a:off x="7818120" y="4160520"/>
            <a:ext cx="3657600" cy="1005840"/>
          </a:xfrm>
          <a:prstGeom prst="rect">
            <a:avLst/>
          </a:prstGeom>
          <a:noFill/>
          <a:ln/>
        </p:spPr>
        <p:txBody>
          <a:bodyPr wrap="square" rtlCol="0" anchor="ctr"/>
          <a:lstStyle/>
          <a:p>
            <a:pPr indent="0" marL="0">
              <a:buNone/>
            </a:pPr>
            <a:r>
              <a:rPr lang="en-US" sz="1200" i="1" dirty="0">
                <a:solidFill>
                  <a:srgbClr val="6FD6C4"/>
                </a:solidFill>
                <a:latin typeface="Calibri" pitchFamily="34" charset="0"/>
                <a:ea typeface="Calibri" pitchFamily="34" charset="-122"/>
                <a:cs typeface="Calibri" pitchFamily="34" charset="-120"/>
              </a:rPr>
              <a:t>Result: the selected service is built and deployed to the environment tied to the CD project used in step 1.</a:t>
            </a:r>
            <a:endParaRPr lang="en-US" sz="1200" dirty="0"/>
          </a:p>
        </p:txBody>
      </p:sp>
      <p:sp>
        <p:nvSpPr>
          <p:cNvPr id="25" name="Shape 23"/>
          <p:cNvSpPr/>
          <p:nvPr/>
        </p:nvSpPr>
        <p:spPr>
          <a:xfrm>
            <a:off x="457200" y="5486400"/>
            <a:ext cx="11247120" cy="868680"/>
          </a:xfrm>
          <a:prstGeom prst="roundRect">
            <a:avLst>
              <a:gd name="adj" fmla="val 8421"/>
            </a:avLst>
          </a:prstGeom>
          <a:solidFill>
            <a:srgbClr val="FFF5EC"/>
          </a:solidFill>
          <a:ln w="12700">
            <a:solidFill>
              <a:srgbClr val="F0C6A0"/>
            </a:solidFill>
            <a:prstDash val="solid"/>
          </a:ln>
          <a:effectLst>
            <a:outerShdw sx="100000" sy="100000" kx="0" ky="0" algn="bl" rotWithShape="0" blurRad="76200" dist="25400" dir="5400000">
              <a:srgbClr val="9AA5AF">
                <a:alpha val="25000"/>
              </a:srgbClr>
            </a:outerShdw>
          </a:effectLst>
        </p:spPr>
      </p:sp>
      <p:sp>
        <p:nvSpPr>
          <p:cNvPr id="26" name="Text 24"/>
          <p:cNvSpPr/>
          <p:nvPr/>
        </p:nvSpPr>
        <p:spPr>
          <a:xfrm>
            <a:off x="731520" y="5486400"/>
            <a:ext cx="10698480" cy="868680"/>
          </a:xfrm>
          <a:prstGeom prst="rect">
            <a:avLst/>
          </a:prstGeom>
          <a:noFill/>
          <a:ln/>
        </p:spPr>
        <p:txBody>
          <a:bodyPr wrap="square" rtlCol="0" anchor="ctr"/>
          <a:lstStyle/>
          <a:p>
            <a:pPr indent="0" marL="0">
              <a:buNone/>
            </a:pPr>
            <a:r>
              <a:rPr lang="en-US" sz="1250" b="1" dirty="0">
                <a:solidFill>
                  <a:srgbClr val="C9622A"/>
                </a:solidFill>
                <a:latin typeface="Calibri" pitchFamily="34" charset="0"/>
                <a:ea typeface="Calibri" pitchFamily="34" charset="-122"/>
                <a:cs typeface="Calibri" pitchFamily="34" charset="-120"/>
              </a:rPr>
              <a:t>Pain points: manual variables per run, every push able to rebuild regardless of real change, and pipeline logic duplicated across every app instead of shared.</a:t>
            </a:r>
            <a:endParaRPr lang="en-US" sz="1250" dirty="0"/>
          </a:p>
        </p:txBody>
      </p:sp>
      <p:sp>
        <p:nvSpPr>
          <p:cNvPr id="27" name="Text 25"/>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B6572"/>
                </a:solidFill>
                <a:latin typeface="Calibri" pitchFamily="34" charset="0"/>
                <a:ea typeface="Calibri" pitchFamily="34" charset="-122"/>
                <a:cs typeface="Calibri" pitchFamily="34" charset="-120"/>
              </a:rPr>
              <a:t>CI/CD Refactor</a:t>
            </a:r>
            <a:endParaRPr lang="en-US" sz="1000" dirty="0"/>
          </a:p>
        </p:txBody>
      </p:sp>
      <p:sp>
        <p:nvSpPr>
          <p:cNvPr id="28" name="Text 26"/>
          <p:cNvSpPr/>
          <p:nvPr/>
        </p:nvSpPr>
        <p:spPr>
          <a:xfrm>
            <a:off x="11457432" y="6528816"/>
            <a:ext cx="365760" cy="274320"/>
          </a:xfrm>
          <a:prstGeom prst="rect">
            <a:avLst/>
          </a:prstGeom>
          <a:noFill/>
          <a:ln/>
        </p:spPr>
        <p:txBody>
          <a:bodyPr wrap="square" rtlCol="0" anchor="ctr"/>
          <a:lstStyle/>
          <a:p>
            <a:pPr algn="r" indent="0" marL="0">
              <a:buNone/>
            </a:pPr>
            <a:r>
              <a:rPr lang="en-US" sz="1000" dirty="0">
                <a:solidFill>
                  <a:srgbClr val="5B65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146304"/>
            <a:ext cx="9144000" cy="274320"/>
          </a:xfrm>
          <a:prstGeom prst="rect">
            <a:avLst/>
          </a:prstGeom>
          <a:noFill/>
          <a:ln/>
        </p:spPr>
        <p:txBody>
          <a:bodyPr wrap="square" rtlCol="0" anchor="ctr"/>
          <a:lstStyle/>
          <a:p>
            <a:pPr indent="0" marL="0">
              <a:buNone/>
            </a:pPr>
            <a:r>
              <a:rPr lang="en-US" sz="1200" b="1" spc="200" kern="0" dirty="0">
                <a:solidFill>
                  <a:srgbClr val="6FD6C4"/>
                </a:solidFill>
                <a:latin typeface="Calibri" pitchFamily="34" charset="0"/>
                <a:ea typeface="Calibri" pitchFamily="34" charset="-122"/>
                <a:cs typeface="Calibri" pitchFamily="34" charset="-120"/>
              </a:rPr>
              <a:t>WHY WE'RE CHANGING IT</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Moving to a GitOps model</a:t>
            </a:r>
            <a:endParaRPr lang="en-US" sz="3000" dirty="0"/>
          </a:p>
        </p:txBody>
      </p:sp>
      <p:sp>
        <p:nvSpPr>
          <p:cNvPr id="4" name="Shape 2"/>
          <p:cNvSpPr/>
          <p:nvPr/>
        </p:nvSpPr>
        <p:spPr>
          <a:xfrm>
            <a:off x="548640" y="1691640"/>
            <a:ext cx="5394960" cy="3977640"/>
          </a:xfrm>
          <a:prstGeom prst="roundRect">
            <a:avLst>
              <a:gd name="adj" fmla="val 1839"/>
            </a:avLst>
          </a:prstGeom>
          <a:solidFill>
            <a:srgbClr val="2C3766"/>
          </a:solidFill>
          <a:ln/>
          <a:effectLst>
            <a:outerShdw sx="100000" sy="100000" kx="0" ky="0" algn="bl" rotWithShape="0" blurRad="76200" dist="25400" dir="5400000">
              <a:srgbClr val="9AA5AF">
                <a:alpha val="25000"/>
              </a:srgbClr>
            </a:outerShdw>
          </a:effectLst>
        </p:spPr>
      </p:sp>
      <p:sp>
        <p:nvSpPr>
          <p:cNvPr id="5" name="Text 3"/>
          <p:cNvSpPr/>
          <p:nvPr/>
        </p:nvSpPr>
        <p:spPr>
          <a:xfrm>
            <a:off x="868680" y="1920240"/>
            <a:ext cx="4754880" cy="365760"/>
          </a:xfrm>
          <a:prstGeom prst="rect">
            <a:avLst/>
          </a:prstGeom>
          <a:noFill/>
          <a:ln/>
        </p:spPr>
        <p:txBody>
          <a:bodyPr wrap="square" rtlCol="0" anchor="ctr"/>
          <a:lstStyle/>
          <a:p>
            <a:pPr indent="0" marL="0">
              <a:buNone/>
            </a:pPr>
            <a:r>
              <a:rPr lang="en-US" sz="1700" b="1" dirty="0">
                <a:solidFill>
                  <a:srgbClr val="8892B0"/>
                </a:solidFill>
                <a:latin typeface="Cambria" pitchFamily="34" charset="0"/>
                <a:ea typeface="Cambria" pitchFamily="34" charset="-122"/>
                <a:cs typeface="Cambria" pitchFamily="34" charset="-120"/>
              </a:rPr>
              <a:t>Before</a:t>
            </a:r>
            <a:endParaRPr lang="en-US" sz="1700" dirty="0"/>
          </a:p>
        </p:txBody>
      </p:sp>
      <p:sp>
        <p:nvSpPr>
          <p:cNvPr id="6" name="Text 4"/>
          <p:cNvSpPr/>
          <p:nvPr/>
        </p:nvSpPr>
        <p:spPr>
          <a:xfrm>
            <a:off x="868680" y="2377440"/>
            <a:ext cx="4846320" cy="1463040"/>
          </a:xfrm>
          <a:prstGeom prst="rect">
            <a:avLst/>
          </a:prstGeom>
          <a:noFill/>
          <a:ln/>
        </p:spPr>
        <p:txBody>
          <a:bodyPr wrap="square" rtlCol="0" anchor="ctr"/>
          <a:lstStyle/>
          <a:p>
            <a:pPr indent="0" marL="0">
              <a:lnSpc>
                <a:spcPct val="125000"/>
              </a:lnSpc>
              <a:buNone/>
            </a:pPr>
            <a:r>
              <a:rPr lang="en-US" sz="1350" dirty="0">
                <a:solidFill>
                  <a:srgbClr val="CADCFC"/>
                </a:solidFill>
                <a:latin typeface="Calibri" pitchFamily="34" charset="0"/>
                <a:ea typeface="Calibri" pitchFamily="34" charset="-122"/>
                <a:cs typeface="Calibri" pitchFamily="34" charset="-120"/>
              </a:rPr>
              <a:t>Pipelines acted directly on the cluster. What was actually running in OpenShift lived only in deploy-job history — not written down anywhere durable or reviewable.</a:t>
            </a:r>
            <a:endParaRPr lang="en-US" sz="1350" dirty="0"/>
          </a:p>
        </p:txBody>
      </p:sp>
      <p:sp>
        <p:nvSpPr>
          <p:cNvPr id="7" name="Shape 5"/>
          <p:cNvSpPr/>
          <p:nvPr/>
        </p:nvSpPr>
        <p:spPr>
          <a:xfrm>
            <a:off x="6263640" y="1691640"/>
            <a:ext cx="5394960" cy="3977640"/>
          </a:xfrm>
          <a:prstGeom prst="roundRect">
            <a:avLst>
              <a:gd name="adj" fmla="val 1839"/>
            </a:avLst>
          </a:prstGeom>
          <a:solidFill>
            <a:srgbClr val="1C7293"/>
          </a:solidFill>
          <a:ln/>
          <a:effectLst>
            <a:outerShdw sx="100000" sy="100000" kx="0" ky="0" algn="bl" rotWithShape="0" blurRad="76200" dist="25400" dir="5400000">
              <a:srgbClr val="9AA5AF">
                <a:alpha val="25000"/>
              </a:srgbClr>
            </a:outerShdw>
          </a:effectLst>
        </p:spPr>
      </p:sp>
      <p:sp>
        <p:nvSpPr>
          <p:cNvPr id="8" name="Text 6"/>
          <p:cNvSpPr/>
          <p:nvPr/>
        </p:nvSpPr>
        <p:spPr>
          <a:xfrm>
            <a:off x="6583680" y="1920240"/>
            <a:ext cx="4754880"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After — GitOps</a:t>
            </a:r>
            <a:endParaRPr lang="en-US" sz="1700" dirty="0"/>
          </a:p>
        </p:txBody>
      </p:sp>
      <p:sp>
        <p:nvSpPr>
          <p:cNvPr id="9" name="Text 7"/>
          <p:cNvSpPr/>
          <p:nvPr/>
        </p:nvSpPr>
        <p:spPr>
          <a:xfrm>
            <a:off x="6583680" y="2377440"/>
            <a:ext cx="4846320" cy="1828800"/>
          </a:xfrm>
          <a:prstGeom prst="rect">
            <a:avLst/>
          </a:prstGeom>
          <a:noFill/>
          <a:ln/>
        </p:spPr>
        <p:txBody>
          <a:bodyPr wrap="square" rtlCol="0" anchor="ctr"/>
          <a:lstStyle/>
          <a:p>
            <a:pPr indent="0" marL="0">
              <a:lnSpc>
                <a:spcPct val="125000"/>
              </a:lnSpc>
              <a:buNone/>
            </a:pPr>
            <a:r>
              <a:rPr lang="en-US" sz="1350" dirty="0">
                <a:solidFill>
                  <a:srgbClr val="FFFFFF"/>
                </a:solidFill>
                <a:latin typeface="Calibri" pitchFamily="34" charset="0"/>
                <a:ea typeface="Calibri" pitchFamily="34" charset="-122"/>
                <a:cs typeface="Calibri" pitchFamily="34" charset="-120"/>
              </a:rPr>
              <a:t>The Helm project is now the declarative source of truth. What's committed there is what OpenShift reflects. Every deploy is a Git commit — versioned, reviewable, and reproducible, instead of an imperative pipeline action.</a:t>
            </a:r>
            <a:endParaRPr lang="en-US" sz="1350" dirty="0"/>
          </a:p>
        </p:txBody>
      </p:sp>
      <p:sp>
        <p:nvSpPr>
          <p:cNvPr id="10" name="Text 8"/>
          <p:cNvSpPr/>
          <p:nvPr/>
        </p:nvSpPr>
        <p:spPr>
          <a:xfrm>
            <a:off x="548640" y="5806440"/>
            <a:ext cx="11064240" cy="548640"/>
          </a:xfrm>
          <a:prstGeom prst="rect">
            <a:avLst/>
          </a:prstGeom>
          <a:noFill/>
          <a:ln/>
        </p:spPr>
        <p:txBody>
          <a:bodyPr wrap="square" rtlCol="0" anchor="ctr"/>
          <a:lstStyle/>
          <a:p>
            <a:pPr indent="0" marL="0">
              <a:buNone/>
            </a:pPr>
            <a:r>
              <a:rPr lang="en-US" sz="1350" i="1" dirty="0">
                <a:solidFill>
                  <a:srgbClr val="9FB3D9"/>
                </a:solidFill>
                <a:latin typeface="Calibri" pitchFamily="34" charset="0"/>
                <a:ea typeface="Calibri" pitchFamily="34" charset="-122"/>
                <a:cs typeface="Calibri" pitchFamily="34" charset="-120"/>
              </a:rPr>
              <a:t>This is the real driver behind the refactor — Nx affected and catdevops are the mechanics that make committing to Helm on every change practical.</a:t>
            </a:r>
            <a:endParaRPr lang="en-US" sz="1350" dirty="0"/>
          </a:p>
        </p:txBody>
      </p:sp>
      <p:sp>
        <p:nvSpPr>
          <p:cNvPr id="11" name="Text 9"/>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B6572"/>
                </a:solidFill>
                <a:latin typeface="Calibri" pitchFamily="34" charset="0"/>
                <a:ea typeface="Calibri" pitchFamily="34" charset="-122"/>
                <a:cs typeface="Calibri" pitchFamily="34" charset="-120"/>
              </a:rPr>
              <a:t>CI/CD Refactor</a:t>
            </a:r>
            <a:endParaRPr lang="en-US" sz="1000" dirty="0"/>
          </a:p>
        </p:txBody>
      </p:sp>
      <p:sp>
        <p:nvSpPr>
          <p:cNvPr id="12" name="Text 10"/>
          <p:cNvSpPr/>
          <p:nvPr/>
        </p:nvSpPr>
        <p:spPr>
          <a:xfrm>
            <a:off x="11457432" y="6528816"/>
            <a:ext cx="365760" cy="274320"/>
          </a:xfrm>
          <a:prstGeom prst="rect">
            <a:avLst/>
          </a:prstGeom>
          <a:noFill/>
          <a:ln/>
        </p:spPr>
        <p:txBody>
          <a:bodyPr wrap="square" rtlCol="0" anchor="ctr"/>
          <a:lstStyle/>
          <a:p>
            <a:pPr algn="r" indent="0" marL="0">
              <a:buNone/>
            </a:pPr>
            <a:r>
              <a:rPr lang="en-US" sz="1000" dirty="0">
                <a:solidFill>
                  <a:srgbClr val="5B65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146304"/>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WHAT'S CHANGING</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Three building blocks of the new model</a:t>
            </a:r>
            <a:endParaRPr lang="en-US" sz="3000" dirty="0"/>
          </a:p>
        </p:txBody>
      </p:sp>
      <p:sp>
        <p:nvSpPr>
          <p:cNvPr id="4" name="Shape 2"/>
          <p:cNvSpPr/>
          <p:nvPr/>
        </p:nvSpPr>
        <p:spPr>
          <a:xfrm>
            <a:off x="548640" y="1691640"/>
            <a:ext cx="3429000" cy="3794760"/>
          </a:xfrm>
          <a:prstGeom prst="roundRect">
            <a:avLst>
              <a:gd name="adj" fmla="val 2133"/>
            </a:avLst>
          </a:prstGeom>
          <a:solidFill>
            <a:srgbClr val="FFFFFF"/>
          </a:solidFill>
          <a:ln w="12700">
            <a:solidFill>
              <a:srgbClr val="DCE3E8"/>
            </a:solidFill>
            <a:prstDash val="solid"/>
          </a:ln>
          <a:effectLst>
            <a:outerShdw sx="100000" sy="100000" kx="0" ky="0" algn="bl" rotWithShape="0" blurRad="76200" dist="25400" dir="5400000">
              <a:srgbClr val="9AA5AF">
                <a:alpha val="25000"/>
              </a:srgbClr>
            </a:outerShdw>
          </a:effectLst>
        </p:spPr>
      </p:sp>
      <p:sp>
        <p:nvSpPr>
          <p:cNvPr id="5" name="Shape 3"/>
          <p:cNvSpPr/>
          <p:nvPr/>
        </p:nvSpPr>
        <p:spPr>
          <a:xfrm>
            <a:off x="822960" y="1965960"/>
            <a:ext cx="502920" cy="502920"/>
          </a:xfrm>
          <a:prstGeom prst="roundRect">
            <a:avLst>
              <a:gd name="adj" fmla="val 18182"/>
            </a:avLst>
          </a:prstGeom>
          <a:solidFill>
            <a:srgbClr val="065A82"/>
          </a:solidFill>
          <a:ln/>
        </p:spPr>
      </p:sp>
      <p:sp>
        <p:nvSpPr>
          <p:cNvPr id="6" name="Text 4"/>
          <p:cNvSpPr/>
          <p:nvPr/>
        </p:nvSpPr>
        <p:spPr>
          <a:xfrm>
            <a:off x="822960" y="196596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822960" y="2651760"/>
            <a:ext cx="2880360" cy="457200"/>
          </a:xfrm>
          <a:prstGeom prst="rect">
            <a:avLst/>
          </a:prstGeom>
          <a:noFill/>
          <a:ln/>
        </p:spPr>
        <p:txBody>
          <a:bodyPr wrap="square" rtlCol="0" anchor="ctr"/>
          <a:lstStyle/>
          <a:p>
            <a:pPr indent="0" marL="0">
              <a:buNone/>
            </a:pPr>
            <a:r>
              <a:rPr lang="en-US" sz="1800" b="1" dirty="0">
                <a:solidFill>
                  <a:srgbClr val="1B1F2A"/>
                </a:solidFill>
                <a:latin typeface="Cambria" pitchFamily="34" charset="0"/>
                <a:ea typeface="Cambria" pitchFamily="34" charset="-122"/>
                <a:cs typeface="Cambria" pitchFamily="34" charset="-120"/>
              </a:rPr>
              <a:t>catdevops</a:t>
            </a:r>
            <a:endParaRPr lang="en-US" sz="1800" dirty="0"/>
          </a:p>
        </p:txBody>
      </p:sp>
      <p:sp>
        <p:nvSpPr>
          <p:cNvPr id="8" name="Text 6"/>
          <p:cNvSpPr/>
          <p:nvPr/>
        </p:nvSpPr>
        <p:spPr>
          <a:xfrm>
            <a:off x="822960" y="3154680"/>
            <a:ext cx="2880360" cy="2103120"/>
          </a:xfrm>
          <a:prstGeom prst="rect">
            <a:avLst/>
          </a:prstGeom>
          <a:noFill/>
          <a:ln/>
        </p:spPr>
        <p:txBody>
          <a:bodyPr wrap="square" rtlCol="0" anchor="ctr"/>
          <a:lstStyle/>
          <a:p>
            <a:pPr indent="0" marL="0">
              <a:lnSpc>
                <a:spcPct val="120000"/>
              </a:lnSpc>
              <a:buNone/>
            </a:pPr>
            <a:r>
              <a:rPr lang="en-US" sz="1300" dirty="0">
                <a:solidFill>
                  <a:srgbClr val="5B6572"/>
                </a:solidFill>
                <a:latin typeface="Calibri" pitchFamily="34" charset="0"/>
                <a:ea typeface="Calibri" pitchFamily="34" charset="-122"/>
                <a:cs typeface="Calibri" pitchFamily="34" charset="-120"/>
              </a:rPr>
              <a:t>A shared CI/CD library, owned by our DevOps team, included at the top of each .gitlab-ci.yml — in the Nx repo and in poly repos alike.</a:t>
            </a:r>
            <a:endParaRPr lang="en-US" sz="1300" dirty="0"/>
          </a:p>
        </p:txBody>
      </p:sp>
      <p:sp>
        <p:nvSpPr>
          <p:cNvPr id="9" name="Shape 7"/>
          <p:cNvSpPr/>
          <p:nvPr/>
        </p:nvSpPr>
        <p:spPr>
          <a:xfrm>
            <a:off x="4297680" y="1691640"/>
            <a:ext cx="3429000" cy="3794760"/>
          </a:xfrm>
          <a:prstGeom prst="roundRect">
            <a:avLst>
              <a:gd name="adj" fmla="val 2133"/>
            </a:avLst>
          </a:prstGeom>
          <a:solidFill>
            <a:srgbClr val="FFFFFF"/>
          </a:solidFill>
          <a:ln w="12700">
            <a:solidFill>
              <a:srgbClr val="DCE3E8"/>
            </a:solidFill>
            <a:prstDash val="solid"/>
          </a:ln>
          <a:effectLst>
            <a:outerShdw sx="100000" sy="100000" kx="0" ky="0" algn="bl" rotWithShape="0" blurRad="76200" dist="25400" dir="5400000">
              <a:srgbClr val="9AA5AF">
                <a:alpha val="25000"/>
              </a:srgbClr>
            </a:outerShdw>
          </a:effectLst>
        </p:spPr>
      </p:sp>
      <p:sp>
        <p:nvSpPr>
          <p:cNvPr id="10" name="Shape 8"/>
          <p:cNvSpPr/>
          <p:nvPr/>
        </p:nvSpPr>
        <p:spPr>
          <a:xfrm>
            <a:off x="4572000" y="1965960"/>
            <a:ext cx="502920" cy="502920"/>
          </a:xfrm>
          <a:prstGeom prst="roundRect">
            <a:avLst>
              <a:gd name="adj" fmla="val 18182"/>
            </a:avLst>
          </a:prstGeom>
          <a:solidFill>
            <a:srgbClr val="1C7293"/>
          </a:solidFill>
          <a:ln/>
        </p:spPr>
      </p:sp>
      <p:sp>
        <p:nvSpPr>
          <p:cNvPr id="11" name="Text 9"/>
          <p:cNvSpPr/>
          <p:nvPr/>
        </p:nvSpPr>
        <p:spPr>
          <a:xfrm>
            <a:off x="4572000" y="196596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4572000" y="2651760"/>
            <a:ext cx="2880360" cy="457200"/>
          </a:xfrm>
          <a:prstGeom prst="rect">
            <a:avLst/>
          </a:prstGeom>
          <a:noFill/>
          <a:ln/>
        </p:spPr>
        <p:txBody>
          <a:bodyPr wrap="square" rtlCol="0" anchor="ctr"/>
          <a:lstStyle/>
          <a:p>
            <a:pPr indent="0" marL="0">
              <a:buNone/>
            </a:pPr>
            <a:r>
              <a:rPr lang="en-US" sz="1800" b="1" dirty="0">
                <a:solidFill>
                  <a:srgbClr val="1B1F2A"/>
                </a:solidFill>
                <a:latin typeface="Cambria" pitchFamily="34" charset="0"/>
                <a:ea typeface="Cambria" pitchFamily="34" charset="-122"/>
                <a:cs typeface="Cambria" pitchFamily="34" charset="-120"/>
              </a:rPr>
              <a:t>Nx affected</a:t>
            </a:r>
            <a:endParaRPr lang="en-US" sz="1800" dirty="0"/>
          </a:p>
        </p:txBody>
      </p:sp>
      <p:sp>
        <p:nvSpPr>
          <p:cNvPr id="13" name="Text 11"/>
          <p:cNvSpPr/>
          <p:nvPr/>
        </p:nvSpPr>
        <p:spPr>
          <a:xfrm>
            <a:off x="4572000" y="3154680"/>
            <a:ext cx="2880360" cy="2103120"/>
          </a:xfrm>
          <a:prstGeom prst="rect">
            <a:avLst/>
          </a:prstGeom>
          <a:noFill/>
          <a:ln/>
        </p:spPr>
        <p:txBody>
          <a:bodyPr wrap="square" rtlCol="0" anchor="ctr"/>
          <a:lstStyle/>
          <a:p>
            <a:pPr indent="0" marL="0">
              <a:lnSpc>
                <a:spcPct val="120000"/>
              </a:lnSpc>
              <a:buNone/>
            </a:pPr>
            <a:r>
              <a:rPr lang="en-US" sz="1300" dirty="0">
                <a:solidFill>
                  <a:srgbClr val="5B6572"/>
                </a:solidFill>
                <a:latin typeface="Calibri" pitchFamily="34" charset="0"/>
                <a:ea typeface="Calibri" pitchFamily="34" charset="-122"/>
                <a:cs typeface="Calibri" pitchFamily="34" charset="-120"/>
              </a:rPr>
              <a:t>Every push or MR triggers an nx affected check. Only the services that actually changed get built — nothing else.</a:t>
            </a:r>
            <a:endParaRPr lang="en-US" sz="1300" dirty="0"/>
          </a:p>
        </p:txBody>
      </p:sp>
      <p:sp>
        <p:nvSpPr>
          <p:cNvPr id="14" name="Shape 12"/>
          <p:cNvSpPr/>
          <p:nvPr/>
        </p:nvSpPr>
        <p:spPr>
          <a:xfrm>
            <a:off x="8046720" y="1691640"/>
            <a:ext cx="3429000" cy="3794760"/>
          </a:xfrm>
          <a:prstGeom prst="roundRect">
            <a:avLst>
              <a:gd name="adj" fmla="val 2133"/>
            </a:avLst>
          </a:prstGeom>
          <a:solidFill>
            <a:srgbClr val="FFFFFF"/>
          </a:solidFill>
          <a:ln w="12700">
            <a:solidFill>
              <a:srgbClr val="DCE3E8"/>
            </a:solidFill>
            <a:prstDash val="solid"/>
          </a:ln>
          <a:effectLst>
            <a:outerShdw sx="100000" sy="100000" kx="0" ky="0" algn="bl" rotWithShape="0" blurRad="76200" dist="25400" dir="5400000">
              <a:srgbClr val="9AA5AF">
                <a:alpha val="25000"/>
              </a:srgbClr>
            </a:outerShdw>
          </a:effectLst>
        </p:spPr>
      </p:sp>
      <p:sp>
        <p:nvSpPr>
          <p:cNvPr id="15" name="Shape 13"/>
          <p:cNvSpPr/>
          <p:nvPr/>
        </p:nvSpPr>
        <p:spPr>
          <a:xfrm>
            <a:off x="8321040" y="1965960"/>
            <a:ext cx="502920" cy="502920"/>
          </a:xfrm>
          <a:prstGeom prst="roundRect">
            <a:avLst>
              <a:gd name="adj" fmla="val 18182"/>
            </a:avLst>
          </a:prstGeom>
          <a:solidFill>
            <a:srgbClr val="21295C"/>
          </a:solidFill>
          <a:ln/>
        </p:spPr>
      </p:sp>
      <p:sp>
        <p:nvSpPr>
          <p:cNvPr id="16" name="Text 14"/>
          <p:cNvSpPr/>
          <p:nvPr/>
        </p:nvSpPr>
        <p:spPr>
          <a:xfrm>
            <a:off x="8321040" y="196596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8321040" y="2651760"/>
            <a:ext cx="2880360" cy="457200"/>
          </a:xfrm>
          <a:prstGeom prst="rect">
            <a:avLst/>
          </a:prstGeom>
          <a:noFill/>
          <a:ln/>
        </p:spPr>
        <p:txBody>
          <a:bodyPr wrap="square" rtlCol="0" anchor="ctr"/>
          <a:lstStyle/>
          <a:p>
            <a:pPr indent="0" marL="0">
              <a:buNone/>
            </a:pPr>
            <a:r>
              <a:rPr lang="en-US" sz="1800" b="1" dirty="0">
                <a:solidFill>
                  <a:srgbClr val="1B1F2A"/>
                </a:solidFill>
                <a:latin typeface="Cambria" pitchFamily="34" charset="0"/>
                <a:ea typeface="Cambria" pitchFamily="34" charset="-122"/>
                <a:cs typeface="Cambria" pitchFamily="34" charset="-120"/>
              </a:rPr>
              <a:t>Helm-based delivery</a:t>
            </a:r>
            <a:endParaRPr lang="en-US" sz="1800" dirty="0"/>
          </a:p>
        </p:txBody>
      </p:sp>
      <p:sp>
        <p:nvSpPr>
          <p:cNvPr id="18" name="Text 16"/>
          <p:cNvSpPr/>
          <p:nvPr/>
        </p:nvSpPr>
        <p:spPr>
          <a:xfrm>
            <a:off x="8321040" y="3154680"/>
            <a:ext cx="2880360" cy="2103120"/>
          </a:xfrm>
          <a:prstGeom prst="rect">
            <a:avLst/>
          </a:prstGeom>
          <a:noFill/>
          <a:ln/>
        </p:spPr>
        <p:txBody>
          <a:bodyPr wrap="square" rtlCol="0" anchor="ctr"/>
          <a:lstStyle/>
          <a:p>
            <a:pPr indent="0" marL="0">
              <a:lnSpc>
                <a:spcPct val="120000"/>
              </a:lnSpc>
              <a:buNone/>
            </a:pPr>
            <a:r>
              <a:rPr lang="en-US" sz="1300" dirty="0">
                <a:solidFill>
                  <a:srgbClr val="5B6572"/>
                </a:solidFill>
                <a:latin typeface="Calibri" pitchFamily="34" charset="0"/>
                <a:ea typeface="Calibri" pitchFamily="34" charset="-122"/>
                <a:cs typeface="Calibri" pitchFamily="34" charset="-120"/>
              </a:rPr>
              <a:t>Build jobs commit the new image tag straight into the Helm project. OpenShift reflects whatever is committed there.</a:t>
            </a:r>
            <a:endParaRPr lang="en-US" sz="1300" dirty="0"/>
          </a:p>
        </p:txBody>
      </p:sp>
      <p:sp>
        <p:nvSpPr>
          <p:cNvPr id="19" name="Text 17"/>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B6572"/>
                </a:solidFill>
                <a:latin typeface="Calibri" pitchFamily="34" charset="0"/>
                <a:ea typeface="Calibri" pitchFamily="34" charset="-122"/>
                <a:cs typeface="Calibri" pitchFamily="34" charset="-120"/>
              </a:rPr>
              <a:t>CI/CD Refactor</a:t>
            </a:r>
            <a:endParaRPr lang="en-US" sz="1000" dirty="0"/>
          </a:p>
        </p:txBody>
      </p:sp>
      <p:sp>
        <p:nvSpPr>
          <p:cNvPr id="20" name="Text 18"/>
          <p:cNvSpPr/>
          <p:nvPr/>
        </p:nvSpPr>
        <p:spPr>
          <a:xfrm>
            <a:off x="11457432" y="6528816"/>
            <a:ext cx="365760" cy="274320"/>
          </a:xfrm>
          <a:prstGeom prst="rect">
            <a:avLst/>
          </a:prstGeom>
          <a:noFill/>
          <a:ln/>
        </p:spPr>
        <p:txBody>
          <a:bodyPr wrap="square" rtlCol="0" anchor="ctr"/>
          <a:lstStyle/>
          <a:p>
            <a:pPr algn="r" indent="0" marL="0">
              <a:buNone/>
            </a:pPr>
            <a:r>
              <a:rPr lang="en-US" sz="1000" dirty="0">
                <a:solidFill>
                  <a:srgbClr val="5B65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46304"/>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NEW PIPELINE</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From push to production</a:t>
            </a:r>
            <a:endParaRPr lang="en-US" sz="3000" dirty="0"/>
          </a:p>
        </p:txBody>
      </p:sp>
      <p:sp>
        <p:nvSpPr>
          <p:cNvPr id="4" name="Shape 2"/>
          <p:cNvSpPr/>
          <p:nvPr/>
        </p:nvSpPr>
        <p:spPr>
          <a:xfrm>
            <a:off x="548640" y="1508760"/>
            <a:ext cx="402336" cy="402336"/>
          </a:xfrm>
          <a:prstGeom prst="ellipse">
            <a:avLst/>
          </a:prstGeom>
          <a:solidFill>
            <a:srgbClr val="065A82"/>
          </a:solidFill>
          <a:ln/>
        </p:spPr>
      </p:sp>
      <p:sp>
        <p:nvSpPr>
          <p:cNvPr id="5" name="Text 3"/>
          <p:cNvSpPr/>
          <p:nvPr/>
        </p:nvSpPr>
        <p:spPr>
          <a:xfrm>
            <a:off x="548640" y="1508760"/>
            <a:ext cx="402336" cy="402336"/>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115568" y="1481328"/>
            <a:ext cx="4206240" cy="402336"/>
          </a:xfrm>
          <a:prstGeom prst="rect">
            <a:avLst/>
          </a:prstGeom>
          <a:noFill/>
          <a:ln/>
        </p:spPr>
        <p:txBody>
          <a:bodyPr wrap="square" rtlCol="0" anchor="ctr"/>
          <a:lstStyle/>
          <a:p>
            <a:pPr indent="0" marL="0">
              <a:buNone/>
            </a:pPr>
            <a:r>
              <a:rPr lang="en-US" sz="1350" b="1" dirty="0">
                <a:solidFill>
                  <a:srgbClr val="1B1F2A"/>
                </a:solidFill>
                <a:latin typeface="Cambria" pitchFamily="34" charset="0"/>
                <a:ea typeface="Cambria" pitchFamily="34" charset="-122"/>
                <a:cs typeface="Cambria" pitchFamily="34" charset="-120"/>
              </a:rPr>
              <a:t>Push / MR opened</a:t>
            </a:r>
            <a:endParaRPr lang="en-US" sz="1350" dirty="0"/>
          </a:p>
        </p:txBody>
      </p:sp>
      <p:sp>
        <p:nvSpPr>
          <p:cNvPr id="7" name="Text 5"/>
          <p:cNvSpPr/>
          <p:nvPr/>
        </p:nvSpPr>
        <p:spPr>
          <a:xfrm>
            <a:off x="5394960" y="1481328"/>
            <a:ext cx="6126480" cy="402336"/>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on the Nx project, or any poly repo using catdevops</a:t>
            </a:r>
            <a:endParaRPr lang="en-US" sz="1250" dirty="0"/>
          </a:p>
        </p:txBody>
      </p:sp>
      <p:sp>
        <p:nvSpPr>
          <p:cNvPr id="8" name="Shape 6"/>
          <p:cNvSpPr/>
          <p:nvPr/>
        </p:nvSpPr>
        <p:spPr>
          <a:xfrm>
            <a:off x="749808" y="1911096"/>
            <a:ext cx="0" cy="201168"/>
          </a:xfrm>
          <a:prstGeom prst="line">
            <a:avLst/>
          </a:prstGeom>
          <a:noFill/>
          <a:ln w="19050">
            <a:solidFill>
              <a:srgbClr val="DCE3E8"/>
            </a:solidFill>
            <a:prstDash val="dash"/>
          </a:ln>
        </p:spPr>
      </p:sp>
      <p:sp>
        <p:nvSpPr>
          <p:cNvPr id="9" name="Shape 7"/>
          <p:cNvSpPr/>
          <p:nvPr/>
        </p:nvSpPr>
        <p:spPr>
          <a:xfrm>
            <a:off x="548640" y="2112264"/>
            <a:ext cx="402336" cy="402336"/>
          </a:xfrm>
          <a:prstGeom prst="ellipse">
            <a:avLst/>
          </a:prstGeom>
          <a:solidFill>
            <a:srgbClr val="065A82"/>
          </a:solidFill>
          <a:ln/>
        </p:spPr>
      </p:sp>
      <p:sp>
        <p:nvSpPr>
          <p:cNvPr id="10" name="Text 8"/>
          <p:cNvSpPr/>
          <p:nvPr/>
        </p:nvSpPr>
        <p:spPr>
          <a:xfrm>
            <a:off x="548640" y="2112264"/>
            <a:ext cx="402336" cy="402336"/>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1115568" y="2084832"/>
            <a:ext cx="4206240" cy="402336"/>
          </a:xfrm>
          <a:prstGeom prst="rect">
            <a:avLst/>
          </a:prstGeom>
          <a:noFill/>
          <a:ln/>
        </p:spPr>
        <p:txBody>
          <a:bodyPr wrap="square" rtlCol="0" anchor="ctr"/>
          <a:lstStyle/>
          <a:p>
            <a:pPr indent="0" marL="0">
              <a:buNone/>
            </a:pPr>
            <a:r>
              <a:rPr lang="en-US" sz="1350" b="1" dirty="0">
                <a:solidFill>
                  <a:srgbClr val="1B1F2A"/>
                </a:solidFill>
                <a:latin typeface="Cambria" pitchFamily="34" charset="0"/>
                <a:ea typeface="Cambria" pitchFamily="34" charset="-122"/>
                <a:cs typeface="Cambria" pitchFamily="34" charset="-120"/>
              </a:rPr>
              <a:t>nx affected runs</a:t>
            </a:r>
            <a:endParaRPr lang="en-US" sz="1350" dirty="0"/>
          </a:p>
        </p:txBody>
      </p:sp>
      <p:sp>
        <p:nvSpPr>
          <p:cNvPr id="12" name="Text 10"/>
          <p:cNvSpPr/>
          <p:nvPr/>
        </p:nvSpPr>
        <p:spPr>
          <a:xfrm>
            <a:off x="5394960" y="2084832"/>
            <a:ext cx="6126480" cy="402336"/>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diff vs. previous commit, or MR target branch</a:t>
            </a:r>
            <a:endParaRPr lang="en-US" sz="1250" dirty="0"/>
          </a:p>
        </p:txBody>
      </p:sp>
      <p:sp>
        <p:nvSpPr>
          <p:cNvPr id="13" name="Shape 11"/>
          <p:cNvSpPr/>
          <p:nvPr/>
        </p:nvSpPr>
        <p:spPr>
          <a:xfrm>
            <a:off x="749808" y="2514600"/>
            <a:ext cx="0" cy="201168"/>
          </a:xfrm>
          <a:prstGeom prst="line">
            <a:avLst/>
          </a:prstGeom>
          <a:noFill/>
          <a:ln w="19050">
            <a:solidFill>
              <a:srgbClr val="DCE3E8"/>
            </a:solidFill>
            <a:prstDash val="dash"/>
          </a:ln>
        </p:spPr>
      </p:sp>
      <p:sp>
        <p:nvSpPr>
          <p:cNvPr id="14" name="Shape 12"/>
          <p:cNvSpPr/>
          <p:nvPr/>
        </p:nvSpPr>
        <p:spPr>
          <a:xfrm>
            <a:off x="548640" y="2715768"/>
            <a:ext cx="402336" cy="402336"/>
          </a:xfrm>
          <a:prstGeom prst="ellipse">
            <a:avLst/>
          </a:prstGeom>
          <a:solidFill>
            <a:srgbClr val="065A82"/>
          </a:solidFill>
          <a:ln/>
        </p:spPr>
      </p:sp>
      <p:sp>
        <p:nvSpPr>
          <p:cNvPr id="15" name="Text 13"/>
          <p:cNvSpPr/>
          <p:nvPr/>
        </p:nvSpPr>
        <p:spPr>
          <a:xfrm>
            <a:off x="548640" y="2715768"/>
            <a:ext cx="402336" cy="402336"/>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6" name="Text 14"/>
          <p:cNvSpPr/>
          <p:nvPr/>
        </p:nvSpPr>
        <p:spPr>
          <a:xfrm>
            <a:off x="1115568" y="2688336"/>
            <a:ext cx="4206240" cy="402336"/>
          </a:xfrm>
          <a:prstGeom prst="rect">
            <a:avLst/>
          </a:prstGeom>
          <a:noFill/>
          <a:ln/>
        </p:spPr>
        <p:txBody>
          <a:bodyPr wrap="square" rtlCol="0" anchor="ctr"/>
          <a:lstStyle/>
          <a:p>
            <a:pPr indent="0" marL="0">
              <a:buNone/>
            </a:pPr>
            <a:r>
              <a:rPr lang="en-US" sz="1350" b="1" dirty="0">
                <a:solidFill>
                  <a:srgbClr val="1B1F2A"/>
                </a:solidFill>
                <a:latin typeface="Cambria" pitchFamily="34" charset="0"/>
                <a:ea typeface="Cambria" pitchFamily="34" charset="-122"/>
                <a:cs typeface="Cambria" pitchFamily="34" charset="-120"/>
              </a:rPr>
              <a:t>Dynamic pipeline generated</a:t>
            </a:r>
            <a:endParaRPr lang="en-US" sz="1350" dirty="0"/>
          </a:p>
        </p:txBody>
      </p:sp>
      <p:sp>
        <p:nvSpPr>
          <p:cNvPr id="17" name="Text 15"/>
          <p:cNvSpPr/>
          <p:nvPr/>
        </p:nvSpPr>
        <p:spPr>
          <a:xfrm>
            <a:off x="5394960" y="2688336"/>
            <a:ext cx="6126480" cy="402336"/>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one build job per affected service</a:t>
            </a:r>
            <a:endParaRPr lang="en-US" sz="1250" dirty="0"/>
          </a:p>
        </p:txBody>
      </p:sp>
      <p:sp>
        <p:nvSpPr>
          <p:cNvPr id="18" name="Shape 16"/>
          <p:cNvSpPr/>
          <p:nvPr/>
        </p:nvSpPr>
        <p:spPr>
          <a:xfrm>
            <a:off x="749808" y="3118104"/>
            <a:ext cx="0" cy="201168"/>
          </a:xfrm>
          <a:prstGeom prst="line">
            <a:avLst/>
          </a:prstGeom>
          <a:noFill/>
          <a:ln w="19050">
            <a:solidFill>
              <a:srgbClr val="DCE3E8"/>
            </a:solidFill>
            <a:prstDash val="dash"/>
          </a:ln>
        </p:spPr>
      </p:sp>
      <p:sp>
        <p:nvSpPr>
          <p:cNvPr id="19" name="Shape 17"/>
          <p:cNvSpPr/>
          <p:nvPr/>
        </p:nvSpPr>
        <p:spPr>
          <a:xfrm>
            <a:off x="548640" y="3319272"/>
            <a:ext cx="402336" cy="402336"/>
          </a:xfrm>
          <a:prstGeom prst="ellipse">
            <a:avLst/>
          </a:prstGeom>
          <a:solidFill>
            <a:srgbClr val="065A82"/>
          </a:solidFill>
          <a:ln/>
        </p:spPr>
      </p:sp>
      <p:sp>
        <p:nvSpPr>
          <p:cNvPr id="20" name="Text 18"/>
          <p:cNvSpPr/>
          <p:nvPr/>
        </p:nvSpPr>
        <p:spPr>
          <a:xfrm>
            <a:off x="548640" y="3319272"/>
            <a:ext cx="402336" cy="402336"/>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Text 19"/>
          <p:cNvSpPr/>
          <p:nvPr/>
        </p:nvSpPr>
        <p:spPr>
          <a:xfrm>
            <a:off x="1115568" y="3291840"/>
            <a:ext cx="4206240" cy="402336"/>
          </a:xfrm>
          <a:prstGeom prst="rect">
            <a:avLst/>
          </a:prstGeom>
          <a:noFill/>
          <a:ln/>
        </p:spPr>
        <p:txBody>
          <a:bodyPr wrap="square" rtlCol="0" anchor="ctr"/>
          <a:lstStyle/>
          <a:p>
            <a:pPr indent="0" marL="0">
              <a:buNone/>
            </a:pPr>
            <a:r>
              <a:rPr lang="en-US" sz="1350" b="1" dirty="0">
                <a:solidFill>
                  <a:srgbClr val="1B1F2A"/>
                </a:solidFill>
                <a:latin typeface="Cambria" pitchFamily="34" charset="0"/>
                <a:ea typeface="Cambria" pitchFamily="34" charset="-122"/>
                <a:cs typeface="Cambria" pitchFamily="34" charset="-120"/>
              </a:rPr>
              <a:t>Tag committed to Helm project</a:t>
            </a:r>
            <a:endParaRPr lang="en-US" sz="1350" dirty="0"/>
          </a:p>
        </p:txBody>
      </p:sp>
      <p:sp>
        <p:nvSpPr>
          <p:cNvPr id="22" name="Text 20"/>
          <p:cNvSpPr/>
          <p:nvPr/>
        </p:nvSpPr>
        <p:spPr>
          <a:xfrm>
            <a:off x="5394960" y="3291840"/>
            <a:ext cx="6126480" cy="402336"/>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branches/&lt;slugified-branch&gt;/ — serviceName, image, tag</a:t>
            </a:r>
            <a:endParaRPr lang="en-US" sz="1250" dirty="0"/>
          </a:p>
        </p:txBody>
      </p:sp>
      <p:sp>
        <p:nvSpPr>
          <p:cNvPr id="23" name="Shape 21"/>
          <p:cNvSpPr/>
          <p:nvPr/>
        </p:nvSpPr>
        <p:spPr>
          <a:xfrm>
            <a:off x="749808" y="3721608"/>
            <a:ext cx="0" cy="201168"/>
          </a:xfrm>
          <a:prstGeom prst="line">
            <a:avLst/>
          </a:prstGeom>
          <a:noFill/>
          <a:ln w="19050">
            <a:solidFill>
              <a:srgbClr val="DCE3E8"/>
            </a:solidFill>
            <a:prstDash val="dash"/>
          </a:ln>
        </p:spPr>
      </p:sp>
      <p:sp>
        <p:nvSpPr>
          <p:cNvPr id="24" name="Shape 22"/>
          <p:cNvSpPr/>
          <p:nvPr/>
        </p:nvSpPr>
        <p:spPr>
          <a:xfrm>
            <a:off x="548640" y="3922776"/>
            <a:ext cx="402336" cy="402336"/>
          </a:xfrm>
          <a:prstGeom prst="ellipse">
            <a:avLst/>
          </a:prstGeom>
          <a:solidFill>
            <a:srgbClr val="065A82"/>
          </a:solidFill>
          <a:ln/>
        </p:spPr>
      </p:sp>
      <p:sp>
        <p:nvSpPr>
          <p:cNvPr id="25" name="Text 23"/>
          <p:cNvSpPr/>
          <p:nvPr/>
        </p:nvSpPr>
        <p:spPr>
          <a:xfrm>
            <a:off x="548640" y="3922776"/>
            <a:ext cx="402336" cy="402336"/>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6" name="Text 24"/>
          <p:cNvSpPr/>
          <p:nvPr/>
        </p:nvSpPr>
        <p:spPr>
          <a:xfrm>
            <a:off x="1115568" y="3895344"/>
            <a:ext cx="4206240" cy="402336"/>
          </a:xfrm>
          <a:prstGeom prst="rect">
            <a:avLst/>
          </a:prstGeom>
          <a:noFill/>
          <a:ln/>
        </p:spPr>
        <p:txBody>
          <a:bodyPr wrap="square" rtlCol="0" anchor="ctr"/>
          <a:lstStyle/>
          <a:p>
            <a:pPr indent="0" marL="0">
              <a:buNone/>
            </a:pPr>
            <a:r>
              <a:rPr lang="en-US" sz="1350" b="1" dirty="0">
                <a:solidFill>
                  <a:srgbClr val="1B1F2A"/>
                </a:solidFill>
                <a:latin typeface="Cambria" pitchFamily="34" charset="0"/>
                <a:ea typeface="Cambria" pitchFamily="34" charset="-122"/>
                <a:cs typeface="Cambria" pitchFamily="34" charset="-120"/>
              </a:rPr>
              <a:t>Developer picks environment</a:t>
            </a:r>
            <a:endParaRPr lang="en-US" sz="1350" dirty="0"/>
          </a:p>
        </p:txBody>
      </p:sp>
      <p:sp>
        <p:nvSpPr>
          <p:cNvPr id="27" name="Text 25"/>
          <p:cNvSpPr/>
          <p:nvPr/>
        </p:nvSpPr>
        <p:spPr>
          <a:xfrm>
            <a:off x="5394960" y="3895344"/>
            <a:ext cx="6126480" cy="402336"/>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manual selection — options depend on the branch (feature / preprod / master)</a:t>
            </a:r>
            <a:endParaRPr lang="en-US" sz="1250" dirty="0"/>
          </a:p>
        </p:txBody>
      </p:sp>
      <p:sp>
        <p:nvSpPr>
          <p:cNvPr id="28" name="Shape 26"/>
          <p:cNvSpPr/>
          <p:nvPr/>
        </p:nvSpPr>
        <p:spPr>
          <a:xfrm>
            <a:off x="749808" y="4325112"/>
            <a:ext cx="0" cy="201168"/>
          </a:xfrm>
          <a:prstGeom prst="line">
            <a:avLst/>
          </a:prstGeom>
          <a:noFill/>
          <a:ln w="19050">
            <a:solidFill>
              <a:srgbClr val="DCE3E8"/>
            </a:solidFill>
            <a:prstDash val="dash"/>
          </a:ln>
        </p:spPr>
      </p:sp>
      <p:sp>
        <p:nvSpPr>
          <p:cNvPr id="29" name="Shape 27"/>
          <p:cNvSpPr/>
          <p:nvPr/>
        </p:nvSpPr>
        <p:spPr>
          <a:xfrm>
            <a:off x="548640" y="4526280"/>
            <a:ext cx="402336" cy="402336"/>
          </a:xfrm>
          <a:prstGeom prst="ellipse">
            <a:avLst/>
          </a:prstGeom>
          <a:solidFill>
            <a:srgbClr val="065A82"/>
          </a:solidFill>
          <a:ln/>
        </p:spPr>
      </p:sp>
      <p:sp>
        <p:nvSpPr>
          <p:cNvPr id="30" name="Text 28"/>
          <p:cNvSpPr/>
          <p:nvPr/>
        </p:nvSpPr>
        <p:spPr>
          <a:xfrm>
            <a:off x="548640" y="4526280"/>
            <a:ext cx="402336" cy="402336"/>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1" name="Text 29"/>
          <p:cNvSpPr/>
          <p:nvPr/>
        </p:nvSpPr>
        <p:spPr>
          <a:xfrm>
            <a:off x="1115568" y="4498848"/>
            <a:ext cx="4206240" cy="402336"/>
          </a:xfrm>
          <a:prstGeom prst="rect">
            <a:avLst/>
          </a:prstGeom>
          <a:noFill/>
          <a:ln/>
        </p:spPr>
        <p:txBody>
          <a:bodyPr wrap="square" rtlCol="0" anchor="ctr"/>
          <a:lstStyle/>
          <a:p>
            <a:pPr indent="0" marL="0">
              <a:buNone/>
            </a:pPr>
            <a:r>
              <a:rPr lang="en-US" sz="1350" b="1" dirty="0">
                <a:solidFill>
                  <a:srgbClr val="1B1F2A"/>
                </a:solidFill>
                <a:latin typeface="Cambria" pitchFamily="34" charset="0"/>
                <a:ea typeface="Cambria" pitchFamily="34" charset="-122"/>
                <a:cs typeface="Cambria" pitchFamily="34" charset="-120"/>
              </a:rPr>
              <a:t>Deploy job runs helm upgrade</a:t>
            </a:r>
            <a:endParaRPr lang="en-US" sz="1350" dirty="0"/>
          </a:p>
        </p:txBody>
      </p:sp>
      <p:sp>
        <p:nvSpPr>
          <p:cNvPr id="32" name="Text 30"/>
          <p:cNvSpPr/>
          <p:nvPr/>
        </p:nvSpPr>
        <p:spPr>
          <a:xfrm>
            <a:off x="5394960" y="4498848"/>
            <a:ext cx="6126480" cy="402336"/>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only for the changed services — OpenShift reflects the commit</a:t>
            </a:r>
            <a:endParaRPr lang="en-US" sz="1250" dirty="0"/>
          </a:p>
        </p:txBody>
      </p:sp>
      <p:sp>
        <p:nvSpPr>
          <p:cNvPr id="33" name="Shape 31"/>
          <p:cNvSpPr/>
          <p:nvPr/>
        </p:nvSpPr>
        <p:spPr>
          <a:xfrm>
            <a:off x="749808" y="4928616"/>
            <a:ext cx="0" cy="201168"/>
          </a:xfrm>
          <a:prstGeom prst="line">
            <a:avLst/>
          </a:prstGeom>
          <a:noFill/>
          <a:ln w="19050">
            <a:solidFill>
              <a:srgbClr val="DCE3E8"/>
            </a:solidFill>
            <a:prstDash val="dash"/>
          </a:ln>
        </p:spPr>
      </p:sp>
      <p:sp>
        <p:nvSpPr>
          <p:cNvPr id="34" name="Shape 32"/>
          <p:cNvSpPr/>
          <p:nvPr/>
        </p:nvSpPr>
        <p:spPr>
          <a:xfrm>
            <a:off x="548640" y="5129784"/>
            <a:ext cx="402336" cy="402336"/>
          </a:xfrm>
          <a:prstGeom prst="ellipse">
            <a:avLst/>
          </a:prstGeom>
          <a:solidFill>
            <a:srgbClr val="1C7293"/>
          </a:solidFill>
          <a:ln/>
        </p:spPr>
      </p:sp>
      <p:sp>
        <p:nvSpPr>
          <p:cNvPr id="35" name="Text 33"/>
          <p:cNvSpPr/>
          <p:nvPr/>
        </p:nvSpPr>
        <p:spPr>
          <a:xfrm>
            <a:off x="548640" y="5129784"/>
            <a:ext cx="402336" cy="402336"/>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36" name="Text 34"/>
          <p:cNvSpPr/>
          <p:nvPr/>
        </p:nvSpPr>
        <p:spPr>
          <a:xfrm>
            <a:off x="1115568" y="5102352"/>
            <a:ext cx="4206240" cy="402336"/>
          </a:xfrm>
          <a:prstGeom prst="rect">
            <a:avLst/>
          </a:prstGeom>
          <a:noFill/>
          <a:ln/>
        </p:spPr>
        <p:txBody>
          <a:bodyPr wrap="square" rtlCol="0" anchor="ctr"/>
          <a:lstStyle/>
          <a:p>
            <a:pPr indent="0" marL="0">
              <a:buNone/>
            </a:pPr>
            <a:r>
              <a:rPr lang="en-US" sz="1350" b="1" dirty="0">
                <a:solidFill>
                  <a:srgbClr val="1B1F2A"/>
                </a:solidFill>
                <a:latin typeface="Cambria" pitchFamily="34" charset="0"/>
                <a:ea typeface="Cambria" pitchFamily="34" charset="-122"/>
                <a:cs typeface="Cambria" pitchFamily="34" charset="-120"/>
              </a:rPr>
              <a:t>Automation tests run</a:t>
            </a:r>
            <a:endParaRPr lang="en-US" sz="1350" dirty="0"/>
          </a:p>
        </p:txBody>
      </p:sp>
      <p:sp>
        <p:nvSpPr>
          <p:cNvPr id="37" name="Text 35"/>
          <p:cNvSpPr/>
          <p:nvPr/>
        </p:nvSpPr>
        <p:spPr>
          <a:xfrm>
            <a:off x="5394960" y="5102352"/>
            <a:ext cx="6126480" cy="402336"/>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3 default categories, automatically, on the automation/QA deploy</a:t>
            </a:r>
            <a:endParaRPr lang="en-US" sz="1250" dirty="0"/>
          </a:p>
        </p:txBody>
      </p:sp>
      <p:sp>
        <p:nvSpPr>
          <p:cNvPr id="38" name="Text 36"/>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B6572"/>
                </a:solidFill>
                <a:latin typeface="Calibri" pitchFamily="34" charset="0"/>
                <a:ea typeface="Calibri" pitchFamily="34" charset="-122"/>
                <a:cs typeface="Calibri" pitchFamily="34" charset="-120"/>
              </a:rPr>
              <a:t>CI/CD Refactor</a:t>
            </a:r>
            <a:endParaRPr lang="en-US" sz="1000" dirty="0"/>
          </a:p>
        </p:txBody>
      </p:sp>
      <p:sp>
        <p:nvSpPr>
          <p:cNvPr id="39" name="Text 37"/>
          <p:cNvSpPr/>
          <p:nvPr/>
        </p:nvSpPr>
        <p:spPr>
          <a:xfrm>
            <a:off x="11457432" y="6528816"/>
            <a:ext cx="365760" cy="274320"/>
          </a:xfrm>
          <a:prstGeom prst="rect">
            <a:avLst/>
          </a:prstGeom>
          <a:noFill/>
          <a:ln/>
        </p:spPr>
        <p:txBody>
          <a:bodyPr wrap="square" rtlCol="0" anchor="ctr"/>
          <a:lstStyle/>
          <a:p>
            <a:pPr algn="r" indent="0" marL="0">
              <a:buNone/>
            </a:pPr>
            <a:r>
              <a:rPr lang="en-US" sz="1000" dirty="0">
                <a:solidFill>
                  <a:srgbClr val="5B65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146304"/>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NEW PIPELINE</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One library, many repos</a:t>
            </a:r>
            <a:endParaRPr lang="en-US" sz="3000" dirty="0"/>
          </a:p>
        </p:txBody>
      </p:sp>
      <p:sp>
        <p:nvSpPr>
          <p:cNvPr id="4" name="Shape 2"/>
          <p:cNvSpPr/>
          <p:nvPr/>
        </p:nvSpPr>
        <p:spPr>
          <a:xfrm>
            <a:off x="548640" y="1645920"/>
            <a:ext cx="5394960" cy="4114800"/>
          </a:xfrm>
          <a:prstGeom prst="roundRect">
            <a:avLst>
              <a:gd name="adj" fmla="val 1778"/>
            </a:avLst>
          </a:prstGeom>
          <a:solidFill>
            <a:srgbClr val="FFFFFF"/>
          </a:solidFill>
          <a:ln w="12700">
            <a:solidFill>
              <a:srgbClr val="DCE3E8"/>
            </a:solidFill>
            <a:prstDash val="solid"/>
          </a:ln>
          <a:effectLst>
            <a:outerShdw sx="100000" sy="100000" kx="0" ky="0" algn="bl" rotWithShape="0" blurRad="76200" dist="25400" dir="5400000">
              <a:srgbClr val="9AA5AF">
                <a:alpha val="25000"/>
              </a:srgbClr>
            </a:outerShdw>
          </a:effectLst>
        </p:spPr>
      </p:sp>
      <p:sp>
        <p:nvSpPr>
          <p:cNvPr id="5" name="Text 3"/>
          <p:cNvSpPr/>
          <p:nvPr/>
        </p:nvSpPr>
        <p:spPr>
          <a:xfrm>
            <a:off x="868680" y="1828800"/>
            <a:ext cx="4754880" cy="365760"/>
          </a:xfrm>
          <a:prstGeom prst="rect">
            <a:avLst/>
          </a:prstGeom>
          <a:noFill/>
          <a:ln/>
        </p:spPr>
        <p:txBody>
          <a:bodyPr wrap="square"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catdevops isn't Nx-only</a:t>
            </a:r>
            <a:endParaRPr lang="en-US" sz="1600" dirty="0"/>
          </a:p>
        </p:txBody>
      </p:sp>
      <p:sp>
        <p:nvSpPr>
          <p:cNvPr id="6" name="Text 4"/>
          <p:cNvSpPr/>
          <p:nvPr/>
        </p:nvSpPr>
        <p:spPr>
          <a:xfrm>
            <a:off x="868680" y="2286000"/>
            <a:ext cx="4846320" cy="685800"/>
          </a:xfrm>
          <a:prstGeom prst="rect">
            <a:avLst/>
          </a:prstGeom>
          <a:noFill/>
          <a:ln/>
        </p:spPr>
        <p:txBody>
          <a:bodyPr wrap="square" rtlCol="0" anchor="ctr"/>
          <a:lstStyle/>
          <a:p>
            <a:pPr indent="0" marL="0">
              <a:lnSpc>
                <a:spcPct val="120000"/>
              </a:lnSpc>
              <a:buNone/>
            </a:pPr>
            <a:r>
              <a:rPr lang="en-US" sz="1300" dirty="0">
                <a:solidFill>
                  <a:srgbClr val="5B6572"/>
                </a:solidFill>
                <a:latin typeface="Calibri" pitchFamily="34" charset="0"/>
                <a:ea typeface="Calibri" pitchFamily="34" charset="-122"/>
                <a:cs typeface="Calibri" pitchFamily="34" charset="-120"/>
              </a:rPr>
              <a:t>Poly repos — standalone repos outside the Nx monorepo — are also adopting catdevops. Every push there triggers the same behavior:</a:t>
            </a:r>
            <a:endParaRPr lang="en-US" sz="1300" dirty="0"/>
          </a:p>
        </p:txBody>
      </p:sp>
      <p:sp>
        <p:nvSpPr>
          <p:cNvPr id="7" name="Text 5"/>
          <p:cNvSpPr/>
          <p:nvPr/>
        </p:nvSpPr>
        <p:spPr>
          <a:xfrm>
            <a:off x="868680" y="3017520"/>
            <a:ext cx="4846320" cy="1828800"/>
          </a:xfrm>
          <a:prstGeom prst="rect">
            <a:avLst/>
          </a:prstGeom>
          <a:noFill/>
          <a:ln/>
        </p:spPr>
        <p:txBody>
          <a:bodyPr wrap="square" rtlCol="0" anchor="ctr"/>
          <a:lstStyle/>
          <a:p>
            <a:pPr marL="342900" indent="-342900">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Build runs on push</a:t>
            </a:r>
            <a:endParaRPr lang="en-US" sz="1300" dirty="0"/>
          </a:p>
          <a:p>
            <a:pPr marL="342900" indent="-342900">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Image tag committed to the Helm project, same branch-folder structure</a:t>
            </a:r>
            <a:endParaRPr lang="en-US" sz="1300" dirty="0"/>
          </a:p>
          <a:p>
            <a:pPr marL="342900" indent="-342900">
              <a:spcAft>
                <a:spcPts val="800"/>
              </a:spcAft>
              <a:buSzPct val="100000"/>
              <a:buChar char="•"/>
            </a:pPr>
            <a:r>
              <a:rPr lang="en-US" sz="1300" dirty="0">
                <a:solidFill>
                  <a:srgbClr val="1B1F2A"/>
                </a:solidFill>
                <a:latin typeface="Calibri" pitchFamily="34" charset="0"/>
                <a:ea typeface="Calibri" pitchFamily="34" charset="-122"/>
                <a:cs typeface="Calibri" pitchFamily="34" charset="-120"/>
              </a:rPr>
              <a:t>Developer picks an environment afterward, same as the Nx flow</a:t>
            </a:r>
            <a:endParaRPr lang="en-US" sz="1300" dirty="0"/>
          </a:p>
        </p:txBody>
      </p:sp>
      <p:sp>
        <p:nvSpPr>
          <p:cNvPr id="8" name="Shape 6"/>
          <p:cNvSpPr/>
          <p:nvPr/>
        </p:nvSpPr>
        <p:spPr>
          <a:xfrm>
            <a:off x="6263640" y="1645920"/>
            <a:ext cx="5394960" cy="4114800"/>
          </a:xfrm>
          <a:prstGeom prst="roundRect">
            <a:avLst>
              <a:gd name="adj" fmla="val 1778"/>
            </a:avLst>
          </a:prstGeom>
          <a:solidFill>
            <a:srgbClr val="21295C"/>
          </a:solidFill>
          <a:ln/>
          <a:effectLst>
            <a:outerShdw sx="100000" sy="100000" kx="0" ky="0" algn="bl" rotWithShape="0" blurRad="76200" dist="25400" dir="5400000">
              <a:srgbClr val="9AA5AF">
                <a:alpha val="25000"/>
              </a:srgbClr>
            </a:outerShdw>
          </a:effectLst>
        </p:spPr>
      </p:sp>
      <p:sp>
        <p:nvSpPr>
          <p:cNvPr id="9" name="Text 7"/>
          <p:cNvSpPr/>
          <p:nvPr/>
        </p:nvSpPr>
        <p:spPr>
          <a:xfrm>
            <a:off x="6583680" y="1828800"/>
            <a:ext cx="4754880" cy="365760"/>
          </a:xfrm>
          <a:prstGeom prst="rect">
            <a:avLst/>
          </a:prstGeom>
          <a:noFill/>
          <a:ln/>
        </p:spPr>
        <p:txBody>
          <a:bodyPr wrap="square" rtlCol="0" anchor="ctr"/>
          <a:lstStyle/>
          <a:p>
            <a:pPr indent="0" marL="0">
              <a:buNone/>
            </a:pPr>
            <a:r>
              <a:rPr lang="en-US" sz="1600" b="1" dirty="0">
                <a:solidFill>
                  <a:srgbClr val="FFC98B"/>
                </a:solidFill>
                <a:latin typeface="Cambria" pitchFamily="34" charset="0"/>
                <a:ea typeface="Cambria" pitchFamily="34" charset="-122"/>
                <a:cs typeface="Cambria" pitchFamily="34" charset="-120"/>
              </a:rPr>
              <a:t>⚠ Keep branch names in sync</a:t>
            </a:r>
            <a:endParaRPr lang="en-US" sz="1600" dirty="0"/>
          </a:p>
        </p:txBody>
      </p:sp>
      <p:sp>
        <p:nvSpPr>
          <p:cNvPr id="10" name="Text 8"/>
          <p:cNvSpPr/>
          <p:nvPr/>
        </p:nvSpPr>
        <p:spPr>
          <a:xfrm>
            <a:off x="6583680" y="2286000"/>
            <a:ext cx="4846320" cy="64008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When a feature touches both the Nx repo and a poly repo, use the identical branch name in both.</a:t>
            </a:r>
            <a:endParaRPr lang="en-US" sz="1350" dirty="0"/>
          </a:p>
        </p:txBody>
      </p:sp>
      <p:sp>
        <p:nvSpPr>
          <p:cNvPr id="11" name="Text 9"/>
          <p:cNvSpPr/>
          <p:nvPr/>
        </p:nvSpPr>
        <p:spPr>
          <a:xfrm>
            <a:off x="6583680" y="2880360"/>
            <a:ext cx="4846320" cy="2011680"/>
          </a:xfrm>
          <a:prstGeom prst="rect">
            <a:avLst/>
          </a:prstGeom>
          <a:noFill/>
          <a:ln/>
        </p:spPr>
        <p:txBody>
          <a:bodyPr wrap="square" rtlCol="0" anchor="ctr"/>
          <a:lstStyle/>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Why: each repo commits its own services into the same branches/&lt;branch&gt;/ folder in the Helm project. Matching names means both sides land together — mismatched names mean your feature's services get split across two different folders and won't deploy as one unit.</a:t>
            </a:r>
            <a:endParaRPr lang="en-US" sz="1300" dirty="0"/>
          </a:p>
        </p:txBody>
      </p:sp>
      <p:sp>
        <p:nvSpPr>
          <p:cNvPr id="12" name="Text 10"/>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B6572"/>
                </a:solidFill>
                <a:latin typeface="Calibri" pitchFamily="34" charset="0"/>
                <a:ea typeface="Calibri" pitchFamily="34" charset="-122"/>
                <a:cs typeface="Calibri" pitchFamily="34" charset="-120"/>
              </a:rPr>
              <a:t>CI/CD Refactor</a:t>
            </a:r>
            <a:endParaRPr lang="en-US" sz="1000" dirty="0"/>
          </a:p>
        </p:txBody>
      </p:sp>
      <p:sp>
        <p:nvSpPr>
          <p:cNvPr id="13" name="Text 11"/>
          <p:cNvSpPr/>
          <p:nvPr/>
        </p:nvSpPr>
        <p:spPr>
          <a:xfrm>
            <a:off x="11457432" y="6528816"/>
            <a:ext cx="365760" cy="274320"/>
          </a:xfrm>
          <a:prstGeom prst="rect">
            <a:avLst/>
          </a:prstGeom>
          <a:noFill/>
          <a:ln/>
        </p:spPr>
        <p:txBody>
          <a:bodyPr wrap="square" rtlCol="0" anchor="ctr"/>
          <a:lstStyle/>
          <a:p>
            <a:pPr algn="r" indent="0" marL="0">
              <a:buNone/>
            </a:pPr>
            <a:r>
              <a:rPr lang="en-US" sz="1000" dirty="0">
                <a:solidFill>
                  <a:srgbClr val="5B65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46304"/>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STEP 1–2</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Detecting what actually changed</a:t>
            </a:r>
            <a:endParaRPr lang="en-US" sz="3000" dirty="0"/>
          </a:p>
        </p:txBody>
      </p:sp>
      <p:sp>
        <p:nvSpPr>
          <p:cNvPr id="4" name="Shape 2"/>
          <p:cNvSpPr/>
          <p:nvPr/>
        </p:nvSpPr>
        <p:spPr>
          <a:xfrm>
            <a:off x="548640" y="1645920"/>
            <a:ext cx="5394960" cy="4023360"/>
          </a:xfrm>
          <a:prstGeom prst="roundRect">
            <a:avLst>
              <a:gd name="adj" fmla="val 1818"/>
            </a:avLst>
          </a:prstGeom>
          <a:solidFill>
            <a:srgbClr val="FFFFFF"/>
          </a:solidFill>
          <a:ln w="12700">
            <a:solidFill>
              <a:srgbClr val="DCE3E8"/>
            </a:solidFill>
            <a:prstDash val="solid"/>
          </a:ln>
          <a:effectLst>
            <a:outerShdw sx="100000" sy="100000" kx="0" ky="0" algn="bl" rotWithShape="0" blurRad="76200" dist="25400" dir="5400000">
              <a:srgbClr val="9AA5AF">
                <a:alpha val="25000"/>
              </a:srgbClr>
            </a:outerShdw>
          </a:effectLst>
        </p:spPr>
      </p:sp>
      <p:sp>
        <p:nvSpPr>
          <p:cNvPr id="5" name="Text 3"/>
          <p:cNvSpPr/>
          <p:nvPr/>
        </p:nvSpPr>
        <p:spPr>
          <a:xfrm>
            <a:off x="868680" y="1874520"/>
            <a:ext cx="4754880" cy="365760"/>
          </a:xfrm>
          <a:prstGeom prst="rect">
            <a:avLst/>
          </a:prstGeom>
          <a:noFill/>
          <a:ln/>
        </p:spPr>
        <p:txBody>
          <a:bodyPr wrap="square"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No open MR</a:t>
            </a:r>
            <a:endParaRPr lang="en-US" sz="1700" dirty="0"/>
          </a:p>
        </p:txBody>
      </p:sp>
      <p:sp>
        <p:nvSpPr>
          <p:cNvPr id="6" name="Text 4"/>
          <p:cNvSpPr/>
          <p:nvPr/>
        </p:nvSpPr>
        <p:spPr>
          <a:xfrm>
            <a:off x="868680" y="2331720"/>
            <a:ext cx="4754880" cy="914400"/>
          </a:xfrm>
          <a:prstGeom prst="rect">
            <a:avLst/>
          </a:prstGeom>
          <a:noFill/>
          <a:ln/>
        </p:spPr>
        <p:txBody>
          <a:bodyPr wrap="square" rtlCol="0" anchor="ctr"/>
          <a:lstStyle/>
          <a:p>
            <a:pPr indent="0" marL="0">
              <a:lnSpc>
                <a:spcPct val="120000"/>
              </a:lnSpc>
              <a:buNone/>
            </a:pPr>
            <a:r>
              <a:rPr lang="en-US" sz="1350" dirty="0">
                <a:solidFill>
                  <a:srgbClr val="1B1F2A"/>
                </a:solidFill>
                <a:latin typeface="Calibri" pitchFamily="34" charset="0"/>
                <a:ea typeface="Calibri" pitchFamily="34" charset="-122"/>
                <a:cs typeface="Calibri" pitchFamily="34" charset="-120"/>
              </a:rPr>
              <a:t>nx affected compares against the previous commit on the branch.</a:t>
            </a:r>
            <a:endParaRPr lang="en-US" sz="1350" dirty="0"/>
          </a:p>
        </p:txBody>
      </p:sp>
      <p:sp>
        <p:nvSpPr>
          <p:cNvPr id="7" name="Shape 5"/>
          <p:cNvSpPr/>
          <p:nvPr/>
        </p:nvSpPr>
        <p:spPr>
          <a:xfrm>
            <a:off x="868680" y="3383280"/>
            <a:ext cx="4754880" cy="0"/>
          </a:xfrm>
          <a:prstGeom prst="line">
            <a:avLst/>
          </a:prstGeom>
          <a:noFill/>
          <a:ln w="12700">
            <a:solidFill>
              <a:srgbClr val="DCE3E8"/>
            </a:solidFill>
            <a:prstDash val="solid"/>
          </a:ln>
        </p:spPr>
      </p:sp>
      <p:sp>
        <p:nvSpPr>
          <p:cNvPr id="8" name="Text 6"/>
          <p:cNvSpPr/>
          <p:nvPr/>
        </p:nvSpPr>
        <p:spPr>
          <a:xfrm>
            <a:off x="868680" y="3566160"/>
            <a:ext cx="4754880" cy="365760"/>
          </a:xfrm>
          <a:prstGeom prst="rect">
            <a:avLst/>
          </a:prstGeom>
          <a:noFill/>
          <a:ln/>
        </p:spPr>
        <p:txBody>
          <a:bodyPr wrap="square" rtlCol="0" anchor="ctr"/>
          <a:lstStyle/>
          <a:p>
            <a:pPr indent="0" marL="0">
              <a:buNone/>
            </a:pPr>
            <a:r>
              <a:rPr lang="en-US" sz="1700" b="1" dirty="0">
                <a:solidFill>
                  <a:srgbClr val="1C7293"/>
                </a:solidFill>
                <a:latin typeface="Cambria" pitchFamily="34" charset="0"/>
                <a:ea typeface="Cambria" pitchFamily="34" charset="-122"/>
                <a:cs typeface="Cambria" pitchFamily="34" charset="-120"/>
              </a:rPr>
              <a:t>MR open</a:t>
            </a:r>
            <a:endParaRPr lang="en-US" sz="1700" dirty="0"/>
          </a:p>
        </p:txBody>
      </p:sp>
      <p:sp>
        <p:nvSpPr>
          <p:cNvPr id="9" name="Text 7"/>
          <p:cNvSpPr/>
          <p:nvPr/>
        </p:nvSpPr>
        <p:spPr>
          <a:xfrm>
            <a:off x="868680" y="4023360"/>
            <a:ext cx="4754880" cy="914400"/>
          </a:xfrm>
          <a:prstGeom prst="rect">
            <a:avLst/>
          </a:prstGeom>
          <a:noFill/>
          <a:ln/>
        </p:spPr>
        <p:txBody>
          <a:bodyPr wrap="square" rtlCol="0" anchor="ctr"/>
          <a:lstStyle/>
          <a:p>
            <a:pPr indent="0" marL="0">
              <a:lnSpc>
                <a:spcPct val="120000"/>
              </a:lnSpc>
              <a:buNone/>
            </a:pPr>
            <a:r>
              <a:rPr lang="en-US" sz="1350" dirty="0">
                <a:solidFill>
                  <a:srgbClr val="1B1F2A"/>
                </a:solidFill>
                <a:latin typeface="Calibri" pitchFamily="34" charset="0"/>
                <a:ea typeface="Calibri" pitchFamily="34" charset="-122"/>
                <a:cs typeface="Calibri" pitchFamily="34" charset="-120"/>
              </a:rPr>
              <a:t>nx affected compares against the MR's target branch.</a:t>
            </a:r>
            <a:endParaRPr lang="en-US" sz="1350" dirty="0"/>
          </a:p>
        </p:txBody>
      </p:sp>
      <p:sp>
        <p:nvSpPr>
          <p:cNvPr id="10" name="Text 8"/>
          <p:cNvSpPr/>
          <p:nvPr/>
        </p:nvSpPr>
        <p:spPr>
          <a:xfrm>
            <a:off x="868680" y="4937760"/>
            <a:ext cx="4754880" cy="685800"/>
          </a:xfrm>
          <a:prstGeom prst="rect">
            <a:avLst/>
          </a:prstGeom>
          <a:noFill/>
          <a:ln/>
        </p:spPr>
        <p:txBody>
          <a:bodyPr wrap="square" rtlCol="0" anchor="ctr"/>
          <a:lstStyle/>
          <a:p>
            <a:pPr indent="0" marL="0">
              <a:buNone/>
            </a:pPr>
            <a:r>
              <a:rPr lang="en-US" sz="1250" i="1" dirty="0">
                <a:solidFill>
                  <a:srgbClr val="5B6572"/>
                </a:solidFill>
                <a:latin typeface="Calibri" pitchFamily="34" charset="0"/>
                <a:ea typeface="Calibri" pitchFamily="34" charset="-122"/>
                <a:cs typeface="Calibri" pitchFamily="34" charset="-120"/>
              </a:rPr>
              <a:t>Result: a dynamic (generated) pipeline is created with exactly one build job per affected service — nothing more.</a:t>
            </a:r>
            <a:endParaRPr lang="en-US" sz="1250" dirty="0"/>
          </a:p>
        </p:txBody>
      </p:sp>
      <p:sp>
        <p:nvSpPr>
          <p:cNvPr id="11" name="Shape 9"/>
          <p:cNvSpPr/>
          <p:nvPr/>
        </p:nvSpPr>
        <p:spPr>
          <a:xfrm>
            <a:off x="6263640" y="1645920"/>
            <a:ext cx="5394960" cy="4023360"/>
          </a:xfrm>
          <a:prstGeom prst="roundRect">
            <a:avLst>
              <a:gd name="adj" fmla="val 1818"/>
            </a:avLst>
          </a:prstGeom>
          <a:solidFill>
            <a:srgbClr val="21295C"/>
          </a:solidFill>
          <a:ln/>
        </p:spPr>
      </p:sp>
      <p:sp>
        <p:nvSpPr>
          <p:cNvPr id="12" name="Text 10"/>
          <p:cNvSpPr/>
          <p:nvPr/>
        </p:nvSpPr>
        <p:spPr>
          <a:xfrm>
            <a:off x="6583680" y="1874520"/>
            <a:ext cx="4754880" cy="365760"/>
          </a:xfrm>
          <a:prstGeom prst="rect">
            <a:avLst/>
          </a:prstGeom>
          <a:noFill/>
          <a:ln/>
        </p:spPr>
        <p:txBody>
          <a:bodyPr wrap="square" rtlCol="0" anchor="ctr"/>
          <a:lstStyle/>
          <a:p>
            <a:pPr indent="0" marL="0">
              <a:buNone/>
            </a:pPr>
            <a:r>
              <a:rPr lang="en-US" sz="1300" b="1" dirty="0">
                <a:solidFill>
                  <a:srgbClr val="6FD6C4"/>
                </a:solidFill>
                <a:latin typeface="Calibri" pitchFamily="34" charset="0"/>
                <a:ea typeface="Calibri" pitchFamily="34" charset="-122"/>
                <a:cs typeface="Calibri" pitchFamily="34" charset="-120"/>
              </a:rPr>
              <a:t>Example: 5 services in the monorepo</a:t>
            </a:r>
            <a:endParaRPr lang="en-US" sz="1300" dirty="0"/>
          </a:p>
        </p:txBody>
      </p:sp>
      <p:sp>
        <p:nvSpPr>
          <p:cNvPr id="13" name="Shape 11"/>
          <p:cNvSpPr/>
          <p:nvPr/>
        </p:nvSpPr>
        <p:spPr>
          <a:xfrm>
            <a:off x="6583680" y="2377440"/>
            <a:ext cx="4754880" cy="566928"/>
          </a:xfrm>
          <a:prstGeom prst="roundRect">
            <a:avLst>
              <a:gd name="adj" fmla="val 9677"/>
            </a:avLst>
          </a:prstGeom>
          <a:solidFill>
            <a:srgbClr val="1C7293"/>
          </a:solidFill>
          <a:ln w="12700">
            <a:solidFill>
              <a:srgbClr val="6FD6C4"/>
            </a:solidFill>
            <a:prstDash val="solid"/>
          </a:ln>
        </p:spPr>
      </p:sp>
      <p:sp>
        <p:nvSpPr>
          <p:cNvPr id="14" name="Text 12"/>
          <p:cNvSpPr/>
          <p:nvPr/>
        </p:nvSpPr>
        <p:spPr>
          <a:xfrm>
            <a:off x="6766560" y="2377440"/>
            <a:ext cx="3200400" cy="56692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billing-service</a:t>
            </a:r>
            <a:endParaRPr lang="en-US" sz="1300" dirty="0"/>
          </a:p>
        </p:txBody>
      </p:sp>
      <p:sp>
        <p:nvSpPr>
          <p:cNvPr id="15" name="Text 13"/>
          <p:cNvSpPr/>
          <p:nvPr/>
        </p:nvSpPr>
        <p:spPr>
          <a:xfrm>
            <a:off x="9966960" y="2377440"/>
            <a:ext cx="1280160" cy="566928"/>
          </a:xfrm>
          <a:prstGeom prst="rect">
            <a:avLst/>
          </a:prstGeom>
          <a:noFill/>
          <a:ln/>
        </p:spPr>
        <p:txBody>
          <a:bodyPr wrap="square" rtlCol="0" anchor="ctr"/>
          <a:lstStyle/>
          <a:p>
            <a:pPr algn="r" indent="0" marL="0">
              <a:buNone/>
            </a:pPr>
            <a:r>
              <a:rPr lang="en-US" sz="1050" b="1" dirty="0">
                <a:solidFill>
                  <a:srgbClr val="6FD6C4"/>
                </a:solidFill>
                <a:latin typeface="Calibri" pitchFamily="34" charset="0"/>
                <a:ea typeface="Calibri" pitchFamily="34" charset="-122"/>
                <a:cs typeface="Calibri" pitchFamily="34" charset="-120"/>
              </a:rPr>
              <a:t>AFFECTED → build</a:t>
            </a:r>
            <a:endParaRPr lang="en-US" sz="1050" dirty="0"/>
          </a:p>
        </p:txBody>
      </p:sp>
      <p:sp>
        <p:nvSpPr>
          <p:cNvPr id="16" name="Shape 14"/>
          <p:cNvSpPr/>
          <p:nvPr/>
        </p:nvSpPr>
        <p:spPr>
          <a:xfrm>
            <a:off x="6583680" y="3035808"/>
            <a:ext cx="4754880" cy="566928"/>
          </a:xfrm>
          <a:prstGeom prst="roundRect">
            <a:avLst>
              <a:gd name="adj" fmla="val 9677"/>
            </a:avLst>
          </a:prstGeom>
          <a:solidFill>
            <a:srgbClr val="2C3766"/>
          </a:solidFill>
          <a:ln w="12700">
            <a:solidFill>
              <a:srgbClr val="3C4778"/>
            </a:solidFill>
            <a:prstDash val="solid"/>
          </a:ln>
        </p:spPr>
      </p:sp>
      <p:sp>
        <p:nvSpPr>
          <p:cNvPr id="17" name="Text 15"/>
          <p:cNvSpPr/>
          <p:nvPr/>
        </p:nvSpPr>
        <p:spPr>
          <a:xfrm>
            <a:off x="6766560" y="3035808"/>
            <a:ext cx="320040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auth-service</a:t>
            </a:r>
            <a:endParaRPr lang="en-US" sz="1300" dirty="0"/>
          </a:p>
        </p:txBody>
      </p:sp>
      <p:sp>
        <p:nvSpPr>
          <p:cNvPr id="18" name="Text 16"/>
          <p:cNvSpPr/>
          <p:nvPr/>
        </p:nvSpPr>
        <p:spPr>
          <a:xfrm>
            <a:off x="9966960" y="3035808"/>
            <a:ext cx="1280160" cy="566928"/>
          </a:xfrm>
          <a:prstGeom prst="rect">
            <a:avLst/>
          </a:prstGeom>
          <a:noFill/>
          <a:ln/>
        </p:spPr>
        <p:txBody>
          <a:bodyPr wrap="square" rtlCol="0" anchor="ctr"/>
          <a:lstStyle/>
          <a:p>
            <a:pPr algn="r" indent="0" marL="0">
              <a:buNone/>
            </a:pPr>
            <a:r>
              <a:rPr lang="en-US" sz="1050" dirty="0">
                <a:solidFill>
                  <a:srgbClr val="8892B0"/>
                </a:solidFill>
                <a:latin typeface="Calibri" pitchFamily="34" charset="0"/>
                <a:ea typeface="Calibri" pitchFamily="34" charset="-122"/>
                <a:cs typeface="Calibri" pitchFamily="34" charset="-120"/>
              </a:rPr>
              <a:t>unchanged</a:t>
            </a:r>
            <a:endParaRPr lang="en-US" sz="1050" dirty="0"/>
          </a:p>
        </p:txBody>
      </p:sp>
      <p:sp>
        <p:nvSpPr>
          <p:cNvPr id="19" name="Shape 17"/>
          <p:cNvSpPr/>
          <p:nvPr/>
        </p:nvSpPr>
        <p:spPr>
          <a:xfrm>
            <a:off x="6583680" y="3694176"/>
            <a:ext cx="4754880" cy="566928"/>
          </a:xfrm>
          <a:prstGeom prst="roundRect">
            <a:avLst>
              <a:gd name="adj" fmla="val 9677"/>
            </a:avLst>
          </a:prstGeom>
          <a:solidFill>
            <a:srgbClr val="1C7293"/>
          </a:solidFill>
          <a:ln w="12700">
            <a:solidFill>
              <a:srgbClr val="6FD6C4"/>
            </a:solidFill>
            <a:prstDash val="solid"/>
          </a:ln>
        </p:spPr>
      </p:sp>
      <p:sp>
        <p:nvSpPr>
          <p:cNvPr id="20" name="Text 18"/>
          <p:cNvSpPr/>
          <p:nvPr/>
        </p:nvSpPr>
        <p:spPr>
          <a:xfrm>
            <a:off x="6766560" y="3694176"/>
            <a:ext cx="3200400" cy="56692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notification-service</a:t>
            </a:r>
            <a:endParaRPr lang="en-US" sz="1300" dirty="0"/>
          </a:p>
        </p:txBody>
      </p:sp>
      <p:sp>
        <p:nvSpPr>
          <p:cNvPr id="21" name="Text 19"/>
          <p:cNvSpPr/>
          <p:nvPr/>
        </p:nvSpPr>
        <p:spPr>
          <a:xfrm>
            <a:off x="9966960" y="3694176"/>
            <a:ext cx="1280160" cy="566928"/>
          </a:xfrm>
          <a:prstGeom prst="rect">
            <a:avLst/>
          </a:prstGeom>
          <a:noFill/>
          <a:ln/>
        </p:spPr>
        <p:txBody>
          <a:bodyPr wrap="square" rtlCol="0" anchor="ctr"/>
          <a:lstStyle/>
          <a:p>
            <a:pPr algn="r" indent="0" marL="0">
              <a:buNone/>
            </a:pPr>
            <a:r>
              <a:rPr lang="en-US" sz="1050" b="1" dirty="0">
                <a:solidFill>
                  <a:srgbClr val="6FD6C4"/>
                </a:solidFill>
                <a:latin typeface="Calibri" pitchFamily="34" charset="0"/>
                <a:ea typeface="Calibri" pitchFamily="34" charset="-122"/>
                <a:cs typeface="Calibri" pitchFamily="34" charset="-120"/>
              </a:rPr>
              <a:t>AFFECTED → build</a:t>
            </a:r>
            <a:endParaRPr lang="en-US" sz="1050" dirty="0"/>
          </a:p>
        </p:txBody>
      </p:sp>
      <p:sp>
        <p:nvSpPr>
          <p:cNvPr id="22" name="Shape 20"/>
          <p:cNvSpPr/>
          <p:nvPr/>
        </p:nvSpPr>
        <p:spPr>
          <a:xfrm>
            <a:off x="6583680" y="4352544"/>
            <a:ext cx="4754880" cy="566928"/>
          </a:xfrm>
          <a:prstGeom prst="roundRect">
            <a:avLst>
              <a:gd name="adj" fmla="val 9677"/>
            </a:avLst>
          </a:prstGeom>
          <a:solidFill>
            <a:srgbClr val="2C3766"/>
          </a:solidFill>
          <a:ln w="12700">
            <a:solidFill>
              <a:srgbClr val="3C4778"/>
            </a:solidFill>
            <a:prstDash val="solid"/>
          </a:ln>
        </p:spPr>
      </p:sp>
      <p:sp>
        <p:nvSpPr>
          <p:cNvPr id="23" name="Text 21"/>
          <p:cNvSpPr/>
          <p:nvPr/>
        </p:nvSpPr>
        <p:spPr>
          <a:xfrm>
            <a:off x="6766560" y="4352544"/>
            <a:ext cx="320040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reporting-service</a:t>
            </a:r>
            <a:endParaRPr lang="en-US" sz="1300" dirty="0"/>
          </a:p>
        </p:txBody>
      </p:sp>
      <p:sp>
        <p:nvSpPr>
          <p:cNvPr id="24" name="Text 22"/>
          <p:cNvSpPr/>
          <p:nvPr/>
        </p:nvSpPr>
        <p:spPr>
          <a:xfrm>
            <a:off x="9966960" y="4352544"/>
            <a:ext cx="1280160" cy="566928"/>
          </a:xfrm>
          <a:prstGeom prst="rect">
            <a:avLst/>
          </a:prstGeom>
          <a:noFill/>
          <a:ln/>
        </p:spPr>
        <p:txBody>
          <a:bodyPr wrap="square" rtlCol="0" anchor="ctr"/>
          <a:lstStyle/>
          <a:p>
            <a:pPr algn="r" indent="0" marL="0">
              <a:buNone/>
            </a:pPr>
            <a:r>
              <a:rPr lang="en-US" sz="1050" dirty="0">
                <a:solidFill>
                  <a:srgbClr val="8892B0"/>
                </a:solidFill>
                <a:latin typeface="Calibri" pitchFamily="34" charset="0"/>
                <a:ea typeface="Calibri" pitchFamily="34" charset="-122"/>
                <a:cs typeface="Calibri" pitchFamily="34" charset="-120"/>
              </a:rPr>
              <a:t>unchanged</a:t>
            </a:r>
            <a:endParaRPr lang="en-US" sz="1050" dirty="0"/>
          </a:p>
        </p:txBody>
      </p:sp>
      <p:sp>
        <p:nvSpPr>
          <p:cNvPr id="25" name="Shape 23"/>
          <p:cNvSpPr/>
          <p:nvPr/>
        </p:nvSpPr>
        <p:spPr>
          <a:xfrm>
            <a:off x="6583680" y="5010912"/>
            <a:ext cx="4754880" cy="566928"/>
          </a:xfrm>
          <a:prstGeom prst="roundRect">
            <a:avLst>
              <a:gd name="adj" fmla="val 9677"/>
            </a:avLst>
          </a:prstGeom>
          <a:solidFill>
            <a:srgbClr val="2C3766"/>
          </a:solidFill>
          <a:ln w="12700">
            <a:solidFill>
              <a:srgbClr val="3C4778"/>
            </a:solidFill>
            <a:prstDash val="solid"/>
          </a:ln>
        </p:spPr>
      </p:sp>
      <p:sp>
        <p:nvSpPr>
          <p:cNvPr id="26" name="Text 24"/>
          <p:cNvSpPr/>
          <p:nvPr/>
        </p:nvSpPr>
        <p:spPr>
          <a:xfrm>
            <a:off x="6766560" y="5010912"/>
            <a:ext cx="320040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gateway-service</a:t>
            </a:r>
            <a:endParaRPr lang="en-US" sz="1300" dirty="0"/>
          </a:p>
        </p:txBody>
      </p:sp>
      <p:sp>
        <p:nvSpPr>
          <p:cNvPr id="27" name="Text 25"/>
          <p:cNvSpPr/>
          <p:nvPr/>
        </p:nvSpPr>
        <p:spPr>
          <a:xfrm>
            <a:off x="9966960" y="5010912"/>
            <a:ext cx="1280160" cy="566928"/>
          </a:xfrm>
          <a:prstGeom prst="rect">
            <a:avLst/>
          </a:prstGeom>
          <a:noFill/>
          <a:ln/>
        </p:spPr>
        <p:txBody>
          <a:bodyPr wrap="square" rtlCol="0" anchor="ctr"/>
          <a:lstStyle/>
          <a:p>
            <a:pPr algn="r" indent="0" marL="0">
              <a:buNone/>
            </a:pPr>
            <a:r>
              <a:rPr lang="en-US" sz="1050" dirty="0">
                <a:solidFill>
                  <a:srgbClr val="8892B0"/>
                </a:solidFill>
                <a:latin typeface="Calibri" pitchFamily="34" charset="0"/>
                <a:ea typeface="Calibri" pitchFamily="34" charset="-122"/>
                <a:cs typeface="Calibri" pitchFamily="34" charset="-120"/>
              </a:rPr>
              <a:t>unchanged</a:t>
            </a:r>
            <a:endParaRPr lang="en-US" sz="1050" dirty="0"/>
          </a:p>
        </p:txBody>
      </p:sp>
      <p:sp>
        <p:nvSpPr>
          <p:cNvPr id="28" name="Text 26"/>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B6572"/>
                </a:solidFill>
                <a:latin typeface="Calibri" pitchFamily="34" charset="0"/>
                <a:ea typeface="Calibri" pitchFamily="34" charset="-122"/>
                <a:cs typeface="Calibri" pitchFamily="34" charset="-120"/>
              </a:rPr>
              <a:t>CI/CD Refactor</a:t>
            </a:r>
            <a:endParaRPr lang="en-US" sz="1000" dirty="0"/>
          </a:p>
        </p:txBody>
      </p:sp>
      <p:sp>
        <p:nvSpPr>
          <p:cNvPr id="29" name="Text 27"/>
          <p:cNvSpPr/>
          <p:nvPr/>
        </p:nvSpPr>
        <p:spPr>
          <a:xfrm>
            <a:off x="11457432" y="6528816"/>
            <a:ext cx="365760" cy="274320"/>
          </a:xfrm>
          <a:prstGeom prst="rect">
            <a:avLst/>
          </a:prstGeom>
          <a:noFill/>
          <a:ln/>
        </p:spPr>
        <p:txBody>
          <a:bodyPr wrap="square" rtlCol="0" anchor="ctr"/>
          <a:lstStyle/>
          <a:p>
            <a:pPr algn="r" indent="0" marL="0">
              <a:buNone/>
            </a:pPr>
            <a:r>
              <a:rPr lang="en-US" sz="1000" dirty="0">
                <a:solidFill>
                  <a:srgbClr val="5B65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146304"/>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STEP 3–4</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Build, tag, and commit to Helm</a:t>
            </a:r>
            <a:endParaRPr lang="en-US" sz="3000" dirty="0"/>
          </a:p>
        </p:txBody>
      </p:sp>
      <p:sp>
        <p:nvSpPr>
          <p:cNvPr id="4" name="Text 2"/>
          <p:cNvSpPr/>
          <p:nvPr/>
        </p:nvSpPr>
        <p:spPr>
          <a:xfrm>
            <a:off x="548640" y="1417320"/>
            <a:ext cx="11064240" cy="640080"/>
          </a:xfrm>
          <a:prstGeom prst="rect">
            <a:avLst/>
          </a:prstGeom>
          <a:noFill/>
          <a:ln/>
        </p:spPr>
        <p:txBody>
          <a:bodyPr wrap="square" rtlCol="0" anchor="ctr"/>
          <a:lstStyle/>
          <a:p>
            <a:pPr indent="0" marL="0">
              <a:buNone/>
            </a:pPr>
            <a:r>
              <a:rPr lang="en-US" sz="1400" dirty="0">
                <a:solidFill>
                  <a:srgbClr val="1B1F2A"/>
                </a:solidFill>
                <a:latin typeface="Calibri" pitchFamily="34" charset="0"/>
                <a:ea typeface="Calibri" pitchFamily="34" charset="-122"/>
                <a:cs typeface="Calibri" pitchFamily="34" charset="-120"/>
              </a:rPr>
              <a:t>Each affected service gets its own build job. On success, that job writes the new image tag directly into the Helm project — this is what OpenShift reflects, and what a deploy will read from.</a:t>
            </a:r>
            <a:endParaRPr lang="en-US" sz="1400" dirty="0"/>
          </a:p>
        </p:txBody>
      </p:sp>
      <p:sp>
        <p:nvSpPr>
          <p:cNvPr id="5" name="Shape 3"/>
          <p:cNvSpPr/>
          <p:nvPr/>
        </p:nvSpPr>
        <p:spPr>
          <a:xfrm>
            <a:off x="548640" y="2286000"/>
            <a:ext cx="5303520" cy="3383280"/>
          </a:xfrm>
          <a:prstGeom prst="roundRect">
            <a:avLst>
              <a:gd name="adj" fmla="val 2162"/>
            </a:avLst>
          </a:prstGeom>
          <a:solidFill>
            <a:srgbClr val="FFFFFF"/>
          </a:solidFill>
          <a:ln w="12700">
            <a:solidFill>
              <a:srgbClr val="DCE3E8"/>
            </a:solidFill>
            <a:prstDash val="solid"/>
          </a:ln>
          <a:effectLst>
            <a:outerShdw sx="100000" sy="100000" kx="0" ky="0" algn="bl" rotWithShape="0" blurRad="76200" dist="25400" dir="5400000">
              <a:srgbClr val="9AA5AF">
                <a:alpha val="25000"/>
              </a:srgbClr>
            </a:outerShdw>
          </a:effectLst>
        </p:spPr>
      </p:sp>
      <p:sp>
        <p:nvSpPr>
          <p:cNvPr id="6" name="Text 4"/>
          <p:cNvSpPr/>
          <p:nvPr/>
        </p:nvSpPr>
        <p:spPr>
          <a:xfrm>
            <a:off x="822960" y="2487168"/>
            <a:ext cx="4754880" cy="365760"/>
          </a:xfrm>
          <a:prstGeom prst="rect">
            <a:avLst/>
          </a:prstGeom>
          <a:noFill/>
          <a:ln/>
        </p:spPr>
        <p:txBody>
          <a:bodyPr wrap="square" rtlCol="0" anchor="ctr"/>
          <a:lstStyle/>
          <a:p>
            <a:pPr indent="0" marL="0">
              <a:buNone/>
            </a:pPr>
            <a:r>
              <a:rPr lang="en-US" sz="1500" b="1" dirty="0">
                <a:solidFill>
                  <a:srgbClr val="1B1F2A"/>
                </a:solidFill>
                <a:latin typeface="Cambria" pitchFamily="34" charset="0"/>
                <a:ea typeface="Cambria" pitchFamily="34" charset="-122"/>
                <a:cs typeface="Cambria" pitchFamily="34" charset="-120"/>
              </a:rPr>
              <a:t>Helm project structure</a:t>
            </a:r>
            <a:endParaRPr lang="en-US" sz="1500" dirty="0"/>
          </a:p>
        </p:txBody>
      </p:sp>
      <p:sp>
        <p:nvSpPr>
          <p:cNvPr id="7" name="Text 5"/>
          <p:cNvSpPr/>
          <p:nvPr/>
        </p:nvSpPr>
        <p:spPr>
          <a:xfrm>
            <a:off x="822960" y="3017520"/>
            <a:ext cx="4572000" cy="329184"/>
          </a:xfrm>
          <a:prstGeom prst="rect">
            <a:avLst/>
          </a:prstGeom>
          <a:noFill/>
          <a:ln/>
        </p:spPr>
        <p:txBody>
          <a:bodyPr wrap="square" rtlCol="0" anchor="ctr"/>
          <a:lstStyle/>
          <a:p>
            <a:pPr indent="0" marL="0">
              <a:buNone/>
            </a:pPr>
            <a:r>
              <a:rPr lang="en-US" sz="1400" dirty="0">
                <a:solidFill>
                  <a:srgbClr val="5B6572"/>
                </a:solidFill>
                <a:latin typeface="Consolas" pitchFamily="34" charset="0"/>
                <a:ea typeface="Consolas" pitchFamily="34" charset="-122"/>
                <a:cs typeface="Consolas" pitchFamily="34" charset="-120"/>
              </a:rPr>
              <a:t>branches/</a:t>
            </a:r>
            <a:endParaRPr lang="en-US" sz="1400" dirty="0"/>
          </a:p>
        </p:txBody>
      </p:sp>
      <p:sp>
        <p:nvSpPr>
          <p:cNvPr id="8" name="Text 6"/>
          <p:cNvSpPr/>
          <p:nvPr/>
        </p:nvSpPr>
        <p:spPr>
          <a:xfrm>
            <a:off x="822960" y="3346704"/>
            <a:ext cx="4572000" cy="329184"/>
          </a:xfrm>
          <a:prstGeom prst="rect">
            <a:avLst/>
          </a:prstGeom>
          <a:noFill/>
          <a:ln/>
        </p:spPr>
        <p:txBody>
          <a:bodyPr wrap="square" rtlCol="0" anchor="ctr"/>
          <a:lstStyle/>
          <a:p>
            <a:pPr indent="0" marL="0">
              <a:buNone/>
            </a:pPr>
            <a:r>
              <a:rPr lang="en-US" sz="1400" b="1" dirty="0">
                <a:solidFill>
                  <a:srgbClr val="065A82"/>
                </a:solidFill>
                <a:latin typeface="Consolas" pitchFamily="34" charset="0"/>
                <a:ea typeface="Consolas" pitchFamily="34" charset="-122"/>
                <a:cs typeface="Consolas" pitchFamily="34" charset="-120"/>
              </a:rPr>
              <a:t>  feature-x/</a:t>
            </a:r>
            <a:endParaRPr lang="en-US" sz="1400" dirty="0"/>
          </a:p>
        </p:txBody>
      </p:sp>
      <p:sp>
        <p:nvSpPr>
          <p:cNvPr id="9" name="Text 7"/>
          <p:cNvSpPr/>
          <p:nvPr/>
        </p:nvSpPr>
        <p:spPr>
          <a:xfrm>
            <a:off x="822960" y="3675888"/>
            <a:ext cx="4572000" cy="329184"/>
          </a:xfrm>
          <a:prstGeom prst="rect">
            <a:avLst/>
          </a:prstGeom>
          <a:noFill/>
          <a:ln/>
        </p:spPr>
        <p:txBody>
          <a:bodyPr wrap="square" rtlCol="0" anchor="ctr"/>
          <a:lstStyle/>
          <a:p>
            <a:pPr indent="0" marL="0">
              <a:buNone/>
            </a:pPr>
            <a:r>
              <a:rPr lang="en-US" sz="1400" dirty="0">
                <a:solidFill>
                  <a:srgbClr val="1C7293"/>
                </a:solidFill>
                <a:latin typeface="Consolas" pitchFamily="34" charset="0"/>
                <a:ea typeface="Consolas" pitchFamily="34" charset="-122"/>
                <a:cs typeface="Consolas" pitchFamily="34" charset="-120"/>
              </a:rPr>
              <a:t>    values.yaml</a:t>
            </a:r>
            <a:endParaRPr lang="en-US" sz="1400" dirty="0"/>
          </a:p>
        </p:txBody>
      </p:sp>
      <p:sp>
        <p:nvSpPr>
          <p:cNvPr id="10" name="Text 8"/>
          <p:cNvSpPr/>
          <p:nvPr/>
        </p:nvSpPr>
        <p:spPr>
          <a:xfrm>
            <a:off x="822960" y="4160520"/>
            <a:ext cx="4846320" cy="914400"/>
          </a:xfrm>
          <a:prstGeom prst="rect">
            <a:avLst/>
          </a:prstGeom>
          <a:noFill/>
          <a:ln/>
        </p:spPr>
        <p:txBody>
          <a:bodyPr wrap="square" rtlCol="0" anchor="ctr"/>
          <a:lstStyle/>
          <a:p>
            <a:pPr indent="0" marL="0">
              <a:buNone/>
            </a:pPr>
            <a:r>
              <a:rPr lang="en-US" sz="1250" i="1" dirty="0">
                <a:solidFill>
                  <a:srgbClr val="5B6572"/>
                </a:solidFill>
                <a:latin typeface="Calibri" pitchFamily="34" charset="0"/>
                <a:ea typeface="Calibri" pitchFamily="34" charset="-122"/>
                <a:cs typeface="Calibri" pitchFamily="34" charset="-120"/>
              </a:rPr>
              <a:t>Branch name is slugified to form a valid folder name</a:t>
            </a:r>
            <a:endParaRPr lang="en-US" sz="1250" dirty="0"/>
          </a:p>
          <a:p>
            <a:pPr indent="0" marL="0">
              <a:buNone/>
            </a:pPr>
            <a:r>
              <a:rPr lang="en-US" sz="1250" i="1" dirty="0">
                <a:solidFill>
                  <a:srgbClr val="5B6572"/>
                </a:solidFill>
                <a:latin typeface="Calibri" pitchFamily="34" charset="0"/>
                <a:ea typeface="Calibri" pitchFamily="34" charset="-122"/>
                <a:cs typeface="Calibri" pitchFamily="34" charset="-120"/>
              </a:rPr>
              <a:t>(e.g. feature/x → feature-x). Same folder is shared</a:t>
            </a:r>
            <a:endParaRPr lang="en-US" sz="1250" dirty="0"/>
          </a:p>
          <a:p>
            <a:pPr indent="0" marL="0">
              <a:buNone/>
            </a:pPr>
            <a:r>
              <a:rPr lang="en-US" sz="1250" i="1" dirty="0">
                <a:solidFill>
                  <a:srgbClr val="5B6572"/>
                </a:solidFill>
                <a:latin typeface="Calibri" pitchFamily="34" charset="0"/>
                <a:ea typeface="Calibri" pitchFamily="34" charset="-122"/>
                <a:cs typeface="Calibri" pitchFamily="34" charset="-120"/>
              </a:rPr>
              <a:t>by the Nx repo and any poly repo on that branch.</a:t>
            </a:r>
            <a:endParaRPr lang="en-US" sz="1250" dirty="0"/>
          </a:p>
        </p:txBody>
      </p:sp>
      <p:sp>
        <p:nvSpPr>
          <p:cNvPr id="11" name="Shape 9"/>
          <p:cNvSpPr/>
          <p:nvPr/>
        </p:nvSpPr>
        <p:spPr>
          <a:xfrm>
            <a:off x="6126480" y="2286000"/>
            <a:ext cx="5532120" cy="3383280"/>
          </a:xfrm>
          <a:prstGeom prst="roundRect">
            <a:avLst>
              <a:gd name="adj" fmla="val 2162"/>
            </a:avLst>
          </a:prstGeom>
          <a:solidFill>
            <a:srgbClr val="21295C"/>
          </a:solidFill>
          <a:ln/>
          <a:effectLst>
            <a:outerShdw sx="100000" sy="100000" kx="0" ky="0" algn="bl" rotWithShape="0" blurRad="76200" dist="25400" dir="5400000">
              <a:srgbClr val="9AA5AF">
                <a:alpha val="25000"/>
              </a:srgbClr>
            </a:outerShdw>
          </a:effectLst>
        </p:spPr>
      </p:sp>
      <p:sp>
        <p:nvSpPr>
          <p:cNvPr id="12" name="Text 10"/>
          <p:cNvSpPr/>
          <p:nvPr/>
        </p:nvSpPr>
        <p:spPr>
          <a:xfrm>
            <a:off x="6400800" y="2487168"/>
            <a:ext cx="4754880" cy="365760"/>
          </a:xfrm>
          <a:prstGeom prst="rect">
            <a:avLst/>
          </a:prstGeom>
          <a:noFill/>
          <a:ln/>
        </p:spPr>
        <p:txBody>
          <a:bodyPr wrap="square" rtlCol="0" anchor="ctr"/>
          <a:lstStyle/>
          <a:p>
            <a:pPr indent="0" marL="0">
              <a:buNone/>
            </a:pPr>
            <a:r>
              <a:rPr lang="en-US" sz="1500" b="1" dirty="0">
                <a:solidFill>
                  <a:srgbClr val="6FD6C4"/>
                </a:solidFill>
                <a:latin typeface="Cambria" pitchFamily="34" charset="0"/>
                <a:ea typeface="Cambria" pitchFamily="34" charset="-122"/>
                <a:cs typeface="Cambria" pitchFamily="34" charset="-120"/>
              </a:rPr>
              <a:t>Committed values</a:t>
            </a:r>
            <a:endParaRPr lang="en-US" sz="1500" dirty="0"/>
          </a:p>
        </p:txBody>
      </p:sp>
      <p:sp>
        <p:nvSpPr>
          <p:cNvPr id="13" name="Text 11"/>
          <p:cNvSpPr/>
          <p:nvPr/>
        </p:nvSpPr>
        <p:spPr>
          <a:xfrm>
            <a:off x="6400800" y="3063240"/>
            <a:ext cx="1828800" cy="411480"/>
          </a:xfrm>
          <a:prstGeom prst="rect">
            <a:avLst/>
          </a:prstGeom>
          <a:noFill/>
          <a:ln/>
        </p:spPr>
        <p:txBody>
          <a:bodyPr wrap="square" rtlCol="0" anchor="ctr"/>
          <a:lstStyle/>
          <a:p>
            <a:pPr indent="0" marL="0">
              <a:buNone/>
            </a:pPr>
            <a:r>
              <a:rPr lang="en-US" sz="1400" b="1" dirty="0">
                <a:solidFill>
                  <a:srgbClr val="8FD3C4"/>
                </a:solidFill>
                <a:latin typeface="Consolas" pitchFamily="34" charset="0"/>
                <a:ea typeface="Consolas" pitchFamily="34" charset="-122"/>
                <a:cs typeface="Consolas" pitchFamily="34" charset="-120"/>
              </a:rPr>
              <a:t>serviceName:</a:t>
            </a:r>
            <a:endParaRPr lang="en-US" sz="1400" dirty="0"/>
          </a:p>
        </p:txBody>
      </p:sp>
      <p:sp>
        <p:nvSpPr>
          <p:cNvPr id="14" name="Text 12"/>
          <p:cNvSpPr/>
          <p:nvPr/>
        </p:nvSpPr>
        <p:spPr>
          <a:xfrm>
            <a:off x="8138160" y="3063240"/>
            <a:ext cx="3291840" cy="411480"/>
          </a:xfrm>
          <a:prstGeom prst="rect">
            <a:avLst/>
          </a:prstGeom>
          <a:noFill/>
          <a:ln/>
        </p:spPr>
        <p:txBody>
          <a:bodyPr wrap="square"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billing-service</a:t>
            </a:r>
            <a:endParaRPr lang="en-US" sz="1400" dirty="0"/>
          </a:p>
        </p:txBody>
      </p:sp>
      <p:sp>
        <p:nvSpPr>
          <p:cNvPr id="15" name="Text 13"/>
          <p:cNvSpPr/>
          <p:nvPr/>
        </p:nvSpPr>
        <p:spPr>
          <a:xfrm>
            <a:off x="6400800" y="3611880"/>
            <a:ext cx="1828800" cy="411480"/>
          </a:xfrm>
          <a:prstGeom prst="rect">
            <a:avLst/>
          </a:prstGeom>
          <a:noFill/>
          <a:ln/>
        </p:spPr>
        <p:txBody>
          <a:bodyPr wrap="square" rtlCol="0" anchor="ctr"/>
          <a:lstStyle/>
          <a:p>
            <a:pPr indent="0" marL="0">
              <a:buNone/>
            </a:pPr>
            <a:r>
              <a:rPr lang="en-US" sz="1400" b="1" dirty="0">
                <a:solidFill>
                  <a:srgbClr val="8FD3C4"/>
                </a:solidFill>
                <a:latin typeface="Consolas" pitchFamily="34" charset="0"/>
                <a:ea typeface="Consolas" pitchFamily="34" charset="-122"/>
                <a:cs typeface="Consolas" pitchFamily="34" charset="-120"/>
              </a:rPr>
              <a:t>image:</a:t>
            </a:r>
            <a:endParaRPr lang="en-US" sz="1400" dirty="0"/>
          </a:p>
        </p:txBody>
      </p:sp>
      <p:sp>
        <p:nvSpPr>
          <p:cNvPr id="16" name="Text 14"/>
          <p:cNvSpPr/>
          <p:nvPr/>
        </p:nvSpPr>
        <p:spPr>
          <a:xfrm>
            <a:off x="8138160" y="3611880"/>
            <a:ext cx="3291840" cy="411480"/>
          </a:xfrm>
          <a:prstGeom prst="rect">
            <a:avLst/>
          </a:prstGeom>
          <a:noFill/>
          <a:ln/>
        </p:spPr>
        <p:txBody>
          <a:bodyPr wrap="square"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registry/billing-service</a:t>
            </a:r>
            <a:endParaRPr lang="en-US" sz="1400" dirty="0"/>
          </a:p>
        </p:txBody>
      </p:sp>
      <p:sp>
        <p:nvSpPr>
          <p:cNvPr id="17" name="Text 15"/>
          <p:cNvSpPr/>
          <p:nvPr/>
        </p:nvSpPr>
        <p:spPr>
          <a:xfrm>
            <a:off x="6400800" y="4160520"/>
            <a:ext cx="1828800" cy="411480"/>
          </a:xfrm>
          <a:prstGeom prst="rect">
            <a:avLst/>
          </a:prstGeom>
          <a:noFill/>
          <a:ln/>
        </p:spPr>
        <p:txBody>
          <a:bodyPr wrap="square" rtlCol="0" anchor="ctr"/>
          <a:lstStyle/>
          <a:p>
            <a:pPr indent="0" marL="0">
              <a:buNone/>
            </a:pPr>
            <a:r>
              <a:rPr lang="en-US" sz="1400" b="1" dirty="0">
                <a:solidFill>
                  <a:srgbClr val="8FD3C4"/>
                </a:solidFill>
                <a:latin typeface="Consolas" pitchFamily="34" charset="0"/>
                <a:ea typeface="Consolas" pitchFamily="34" charset="-122"/>
                <a:cs typeface="Consolas" pitchFamily="34" charset="-120"/>
              </a:rPr>
              <a:t>tag:</a:t>
            </a:r>
            <a:endParaRPr lang="en-US" sz="1400" dirty="0"/>
          </a:p>
        </p:txBody>
      </p:sp>
      <p:sp>
        <p:nvSpPr>
          <p:cNvPr id="18" name="Text 16"/>
          <p:cNvSpPr/>
          <p:nvPr/>
        </p:nvSpPr>
        <p:spPr>
          <a:xfrm>
            <a:off x="8138160" y="4160520"/>
            <a:ext cx="3291840" cy="411480"/>
          </a:xfrm>
          <a:prstGeom prst="rect">
            <a:avLst/>
          </a:prstGeom>
          <a:noFill/>
          <a:ln/>
        </p:spPr>
        <p:txBody>
          <a:bodyPr wrap="square"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a3f9c21 (commit SHA)</a:t>
            </a:r>
            <a:endParaRPr lang="en-US" sz="1400" dirty="0"/>
          </a:p>
        </p:txBody>
      </p:sp>
      <p:sp>
        <p:nvSpPr>
          <p:cNvPr id="19" name="Text 17"/>
          <p:cNvSpPr/>
          <p:nvPr/>
        </p:nvSpPr>
        <p:spPr>
          <a:xfrm>
            <a:off x="6400800" y="4937760"/>
            <a:ext cx="4937760" cy="731520"/>
          </a:xfrm>
          <a:prstGeom prst="rect">
            <a:avLst/>
          </a:prstGeom>
          <a:noFill/>
          <a:ln/>
        </p:spPr>
        <p:txBody>
          <a:bodyPr wrap="square" rtlCol="0" anchor="ctr"/>
          <a:lstStyle/>
          <a:p>
            <a:pPr indent="0" marL="0">
              <a:buNone/>
            </a:pPr>
            <a:r>
              <a:rPr lang="en-US" sz="1250" i="1" dirty="0">
                <a:solidFill>
                  <a:srgbClr val="CADCFC"/>
                </a:solidFill>
                <a:latin typeface="Calibri" pitchFamily="34" charset="0"/>
                <a:ea typeface="Calibri" pitchFamily="34" charset="-122"/>
                <a:cs typeface="Calibri" pitchFamily="34" charset="-120"/>
              </a:rPr>
              <a:t>One build job = one service = one commit with its tag. Untouched services are never rebuilt or re-tagged.</a:t>
            </a:r>
            <a:endParaRPr lang="en-US" sz="1250" dirty="0"/>
          </a:p>
        </p:txBody>
      </p:sp>
      <p:sp>
        <p:nvSpPr>
          <p:cNvPr id="20" name="Text 18"/>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B6572"/>
                </a:solidFill>
                <a:latin typeface="Calibri" pitchFamily="34" charset="0"/>
                <a:ea typeface="Calibri" pitchFamily="34" charset="-122"/>
                <a:cs typeface="Calibri" pitchFamily="34" charset="-120"/>
              </a:rPr>
              <a:t>CI/CD Refactor</a:t>
            </a:r>
            <a:endParaRPr lang="en-US" sz="1000" dirty="0"/>
          </a:p>
        </p:txBody>
      </p:sp>
      <p:sp>
        <p:nvSpPr>
          <p:cNvPr id="21" name="Text 19"/>
          <p:cNvSpPr/>
          <p:nvPr/>
        </p:nvSpPr>
        <p:spPr>
          <a:xfrm>
            <a:off x="11457432" y="6528816"/>
            <a:ext cx="365760" cy="274320"/>
          </a:xfrm>
          <a:prstGeom prst="rect">
            <a:avLst/>
          </a:prstGeom>
          <a:noFill/>
          <a:ln/>
        </p:spPr>
        <p:txBody>
          <a:bodyPr wrap="square" rtlCol="0" anchor="ctr"/>
          <a:lstStyle/>
          <a:p>
            <a:pPr algn="r" indent="0" marL="0">
              <a:buNone/>
            </a:pPr>
            <a:r>
              <a:rPr lang="en-US" sz="1000" dirty="0">
                <a:solidFill>
                  <a:srgbClr val="5B65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46304"/>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STEP 5–6</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Choosing where it goes</a:t>
            </a:r>
            <a:endParaRPr lang="en-US" sz="30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400" dirty="0">
                <a:solidFill>
                  <a:srgbClr val="1B1F2A"/>
                </a:solidFill>
                <a:latin typeface="Calibri" pitchFamily="34" charset="0"/>
                <a:ea typeface="Calibri" pitchFamily="34" charset="-122"/>
                <a:cs typeface="Calibri" pitchFamily="34" charset="-120"/>
              </a:rPr>
              <a:t>Which environments are available to pick depends on the branch you're deploying — all still triggered manually.</a:t>
            </a:r>
            <a:endParaRPr lang="en-US" sz="1400" dirty="0"/>
          </a:p>
        </p:txBody>
      </p:sp>
      <p:sp>
        <p:nvSpPr>
          <p:cNvPr id="5" name="Shape 3"/>
          <p:cNvSpPr/>
          <p:nvPr/>
        </p:nvSpPr>
        <p:spPr>
          <a:xfrm>
            <a:off x="548640" y="2057400"/>
            <a:ext cx="6949440" cy="1051560"/>
          </a:xfrm>
          <a:prstGeom prst="roundRect">
            <a:avLst>
              <a:gd name="adj" fmla="val 6957"/>
            </a:avLst>
          </a:prstGeom>
          <a:solidFill>
            <a:srgbClr val="FFFFFF"/>
          </a:solidFill>
          <a:ln w="12700">
            <a:solidFill>
              <a:srgbClr val="DCE3E8"/>
            </a:solidFill>
            <a:prstDash val="solid"/>
          </a:ln>
          <a:effectLst>
            <a:outerShdw sx="100000" sy="100000" kx="0" ky="0" algn="bl" rotWithShape="0" blurRad="76200" dist="25400" dir="5400000">
              <a:srgbClr val="9AA5AF">
                <a:alpha val="25000"/>
              </a:srgbClr>
            </a:outerShdw>
          </a:effectLst>
        </p:spPr>
      </p:sp>
      <p:sp>
        <p:nvSpPr>
          <p:cNvPr id="6" name="Shape 4"/>
          <p:cNvSpPr/>
          <p:nvPr/>
        </p:nvSpPr>
        <p:spPr>
          <a:xfrm>
            <a:off x="777240" y="2286000"/>
            <a:ext cx="109728" cy="594360"/>
          </a:xfrm>
          <a:prstGeom prst="roundRect">
            <a:avLst>
              <a:gd name="adj" fmla="val 16667"/>
            </a:avLst>
          </a:prstGeom>
          <a:solidFill>
            <a:srgbClr val="065A82"/>
          </a:solidFill>
          <a:ln/>
        </p:spPr>
      </p:sp>
      <p:sp>
        <p:nvSpPr>
          <p:cNvPr id="7" name="Text 5"/>
          <p:cNvSpPr/>
          <p:nvPr/>
        </p:nvSpPr>
        <p:spPr>
          <a:xfrm>
            <a:off x="1051560" y="2221992"/>
            <a:ext cx="2743200" cy="365760"/>
          </a:xfrm>
          <a:prstGeom prst="rect">
            <a:avLst/>
          </a:prstGeom>
          <a:noFill/>
          <a:ln/>
        </p:spPr>
        <p:txBody>
          <a:bodyPr wrap="square" rtlCol="0" anchor="ctr"/>
          <a:lstStyle/>
          <a:p>
            <a:pPr indent="0" marL="0">
              <a:buNone/>
            </a:pPr>
            <a:r>
              <a:rPr lang="en-US" sz="1500" b="1" dirty="0">
                <a:solidFill>
                  <a:srgbClr val="065A82"/>
                </a:solidFill>
                <a:latin typeface="Consolas" pitchFamily="34" charset="0"/>
                <a:ea typeface="Consolas" pitchFamily="34" charset="-122"/>
                <a:cs typeface="Consolas" pitchFamily="34" charset="-120"/>
              </a:rPr>
              <a:t>feature/* branches</a:t>
            </a:r>
            <a:endParaRPr lang="en-US" sz="1500" dirty="0"/>
          </a:p>
        </p:txBody>
      </p:sp>
      <p:sp>
        <p:nvSpPr>
          <p:cNvPr id="8" name="Text 6"/>
          <p:cNvSpPr/>
          <p:nvPr/>
        </p:nvSpPr>
        <p:spPr>
          <a:xfrm>
            <a:off x="1051560" y="2606040"/>
            <a:ext cx="6126480" cy="411480"/>
          </a:xfrm>
          <a:prstGeom prst="rect">
            <a:avLst/>
          </a:prstGeom>
          <a:noFill/>
          <a:ln/>
        </p:spPr>
        <p:txBody>
          <a:bodyPr wrap="square" rtlCol="0" anchor="ctr"/>
          <a:lstStyle/>
          <a:p>
            <a:pPr indent="0" marL="0">
              <a:buNone/>
            </a:pPr>
            <a:r>
              <a:rPr lang="en-US" sz="1350" dirty="0">
                <a:solidFill>
                  <a:srgbClr val="1B1F2A"/>
                </a:solidFill>
                <a:latin typeface="Calibri" pitchFamily="34" charset="0"/>
                <a:ea typeface="Calibri" pitchFamily="34" charset="-122"/>
                <a:cs typeface="Calibri" pitchFamily="34" charset="-120"/>
              </a:rPr>
              <a:t>Automation, Test</a:t>
            </a:r>
            <a:endParaRPr lang="en-US" sz="1350" dirty="0"/>
          </a:p>
        </p:txBody>
      </p:sp>
      <p:sp>
        <p:nvSpPr>
          <p:cNvPr id="9" name="Shape 7"/>
          <p:cNvSpPr/>
          <p:nvPr/>
        </p:nvSpPr>
        <p:spPr>
          <a:xfrm>
            <a:off x="548640" y="3310128"/>
            <a:ext cx="6949440" cy="1051560"/>
          </a:xfrm>
          <a:prstGeom prst="roundRect">
            <a:avLst>
              <a:gd name="adj" fmla="val 6957"/>
            </a:avLst>
          </a:prstGeom>
          <a:solidFill>
            <a:srgbClr val="FFFFFF"/>
          </a:solidFill>
          <a:ln w="12700">
            <a:solidFill>
              <a:srgbClr val="DCE3E8"/>
            </a:solidFill>
            <a:prstDash val="solid"/>
          </a:ln>
          <a:effectLst>
            <a:outerShdw sx="100000" sy="100000" kx="0" ky="0" algn="bl" rotWithShape="0" blurRad="76200" dist="25400" dir="5400000">
              <a:srgbClr val="9AA5AF">
                <a:alpha val="25000"/>
              </a:srgbClr>
            </a:outerShdw>
          </a:effectLst>
        </p:spPr>
      </p:sp>
      <p:sp>
        <p:nvSpPr>
          <p:cNvPr id="10" name="Shape 8"/>
          <p:cNvSpPr/>
          <p:nvPr/>
        </p:nvSpPr>
        <p:spPr>
          <a:xfrm>
            <a:off x="777240" y="3538728"/>
            <a:ext cx="109728" cy="594360"/>
          </a:xfrm>
          <a:prstGeom prst="roundRect">
            <a:avLst>
              <a:gd name="adj" fmla="val 16667"/>
            </a:avLst>
          </a:prstGeom>
          <a:solidFill>
            <a:srgbClr val="1C7293"/>
          </a:solidFill>
          <a:ln/>
        </p:spPr>
      </p:sp>
      <p:sp>
        <p:nvSpPr>
          <p:cNvPr id="11" name="Text 9"/>
          <p:cNvSpPr/>
          <p:nvPr/>
        </p:nvSpPr>
        <p:spPr>
          <a:xfrm>
            <a:off x="1051560" y="3474720"/>
            <a:ext cx="2743200" cy="365760"/>
          </a:xfrm>
          <a:prstGeom prst="rect">
            <a:avLst/>
          </a:prstGeom>
          <a:noFill/>
          <a:ln/>
        </p:spPr>
        <p:txBody>
          <a:bodyPr wrap="square" rtlCol="0" anchor="ctr"/>
          <a:lstStyle/>
          <a:p>
            <a:pPr indent="0" marL="0">
              <a:buNone/>
            </a:pPr>
            <a:r>
              <a:rPr lang="en-US" sz="1500" b="1" dirty="0">
                <a:solidFill>
                  <a:srgbClr val="1C7293"/>
                </a:solidFill>
                <a:latin typeface="Consolas" pitchFamily="34" charset="0"/>
                <a:ea typeface="Consolas" pitchFamily="34" charset="-122"/>
                <a:cs typeface="Consolas" pitchFamily="34" charset="-120"/>
              </a:rPr>
              <a:t>preprod branch</a:t>
            </a:r>
            <a:endParaRPr lang="en-US" sz="1500" dirty="0"/>
          </a:p>
        </p:txBody>
      </p:sp>
      <p:sp>
        <p:nvSpPr>
          <p:cNvPr id="12" name="Text 10"/>
          <p:cNvSpPr/>
          <p:nvPr/>
        </p:nvSpPr>
        <p:spPr>
          <a:xfrm>
            <a:off x="1051560" y="3858768"/>
            <a:ext cx="6126480" cy="411480"/>
          </a:xfrm>
          <a:prstGeom prst="rect">
            <a:avLst/>
          </a:prstGeom>
          <a:noFill/>
          <a:ln/>
        </p:spPr>
        <p:txBody>
          <a:bodyPr wrap="square" rtlCol="0" anchor="ctr"/>
          <a:lstStyle/>
          <a:p>
            <a:pPr indent="0" marL="0">
              <a:buNone/>
            </a:pPr>
            <a:r>
              <a:rPr lang="en-US" sz="1350" dirty="0">
                <a:solidFill>
                  <a:srgbClr val="1B1F2A"/>
                </a:solidFill>
                <a:latin typeface="Calibri" pitchFamily="34" charset="0"/>
                <a:ea typeface="Calibri" pitchFamily="34" charset="-122"/>
                <a:cs typeface="Calibri" pitchFamily="34" charset="-120"/>
              </a:rPr>
              <a:t>Automation (tests), Integration</a:t>
            </a:r>
            <a:endParaRPr lang="en-US" sz="1350" dirty="0"/>
          </a:p>
        </p:txBody>
      </p:sp>
      <p:sp>
        <p:nvSpPr>
          <p:cNvPr id="13" name="Shape 11"/>
          <p:cNvSpPr/>
          <p:nvPr/>
        </p:nvSpPr>
        <p:spPr>
          <a:xfrm>
            <a:off x="548640" y="4562856"/>
            <a:ext cx="6949440" cy="1051560"/>
          </a:xfrm>
          <a:prstGeom prst="roundRect">
            <a:avLst>
              <a:gd name="adj" fmla="val 6957"/>
            </a:avLst>
          </a:prstGeom>
          <a:solidFill>
            <a:srgbClr val="FFFFFF"/>
          </a:solidFill>
          <a:ln w="12700">
            <a:solidFill>
              <a:srgbClr val="DCE3E8"/>
            </a:solidFill>
            <a:prstDash val="solid"/>
          </a:ln>
          <a:effectLst>
            <a:outerShdw sx="100000" sy="100000" kx="0" ky="0" algn="bl" rotWithShape="0" blurRad="76200" dist="25400" dir="5400000">
              <a:srgbClr val="9AA5AF">
                <a:alpha val="25000"/>
              </a:srgbClr>
            </a:outerShdw>
          </a:effectLst>
        </p:spPr>
      </p:sp>
      <p:sp>
        <p:nvSpPr>
          <p:cNvPr id="14" name="Shape 12"/>
          <p:cNvSpPr/>
          <p:nvPr/>
        </p:nvSpPr>
        <p:spPr>
          <a:xfrm>
            <a:off x="777240" y="4791456"/>
            <a:ext cx="109728" cy="594360"/>
          </a:xfrm>
          <a:prstGeom prst="roundRect">
            <a:avLst>
              <a:gd name="adj" fmla="val 16667"/>
            </a:avLst>
          </a:prstGeom>
          <a:solidFill>
            <a:srgbClr val="21295C"/>
          </a:solidFill>
          <a:ln/>
        </p:spPr>
      </p:sp>
      <p:sp>
        <p:nvSpPr>
          <p:cNvPr id="15" name="Text 13"/>
          <p:cNvSpPr/>
          <p:nvPr/>
        </p:nvSpPr>
        <p:spPr>
          <a:xfrm>
            <a:off x="1051560" y="4727448"/>
            <a:ext cx="2743200" cy="365760"/>
          </a:xfrm>
          <a:prstGeom prst="rect">
            <a:avLst/>
          </a:prstGeom>
          <a:noFill/>
          <a:ln/>
        </p:spPr>
        <p:txBody>
          <a:bodyPr wrap="square" rtlCol="0" anchor="ctr"/>
          <a:lstStyle/>
          <a:p>
            <a:pPr indent="0" marL="0">
              <a:buNone/>
            </a:pPr>
            <a:r>
              <a:rPr lang="en-US" sz="1500" b="1" dirty="0">
                <a:solidFill>
                  <a:srgbClr val="21295C"/>
                </a:solidFill>
                <a:latin typeface="Consolas" pitchFamily="34" charset="0"/>
                <a:ea typeface="Consolas" pitchFamily="34" charset="-122"/>
                <a:cs typeface="Consolas" pitchFamily="34" charset="-120"/>
              </a:rPr>
              <a:t>master branch</a:t>
            </a:r>
            <a:endParaRPr lang="en-US" sz="1500" dirty="0"/>
          </a:p>
        </p:txBody>
      </p:sp>
      <p:sp>
        <p:nvSpPr>
          <p:cNvPr id="16" name="Text 14"/>
          <p:cNvSpPr/>
          <p:nvPr/>
        </p:nvSpPr>
        <p:spPr>
          <a:xfrm>
            <a:off x="1051560" y="5111496"/>
            <a:ext cx="6126480" cy="411480"/>
          </a:xfrm>
          <a:prstGeom prst="rect">
            <a:avLst/>
          </a:prstGeom>
          <a:noFill/>
          <a:ln/>
        </p:spPr>
        <p:txBody>
          <a:bodyPr wrap="square" rtlCol="0" anchor="ctr"/>
          <a:lstStyle/>
          <a:p>
            <a:pPr indent="0" marL="0">
              <a:buNone/>
            </a:pPr>
            <a:r>
              <a:rPr lang="en-US" sz="1350" dirty="0">
                <a:solidFill>
                  <a:srgbClr val="1B1F2A"/>
                </a:solidFill>
                <a:latin typeface="Calibri" pitchFamily="34" charset="0"/>
                <a:ea typeface="Calibri" pitchFamily="34" charset="-122"/>
                <a:cs typeface="Calibri" pitchFamily="34" charset="-120"/>
              </a:rPr>
              <a:t>Production</a:t>
            </a:r>
            <a:endParaRPr lang="en-US" sz="1350" dirty="0"/>
          </a:p>
        </p:txBody>
      </p:sp>
      <p:sp>
        <p:nvSpPr>
          <p:cNvPr id="17" name="Shape 15"/>
          <p:cNvSpPr/>
          <p:nvPr/>
        </p:nvSpPr>
        <p:spPr>
          <a:xfrm>
            <a:off x="7772400" y="2057400"/>
            <a:ext cx="3886200" cy="3977640"/>
          </a:xfrm>
          <a:prstGeom prst="roundRect">
            <a:avLst>
              <a:gd name="adj" fmla="val 1882"/>
            </a:avLst>
          </a:prstGeom>
          <a:solidFill>
            <a:srgbClr val="065A82"/>
          </a:solidFill>
          <a:ln/>
          <a:effectLst>
            <a:outerShdw sx="100000" sy="100000" kx="0" ky="0" algn="bl" rotWithShape="0" blurRad="76200" dist="25400" dir="5400000">
              <a:srgbClr val="9AA5AF">
                <a:alpha val="25000"/>
              </a:srgbClr>
            </a:outerShdw>
          </a:effectLst>
        </p:spPr>
      </p:sp>
      <p:sp>
        <p:nvSpPr>
          <p:cNvPr id="18" name="Text 16"/>
          <p:cNvSpPr/>
          <p:nvPr/>
        </p:nvSpPr>
        <p:spPr>
          <a:xfrm>
            <a:off x="8046720" y="2286000"/>
            <a:ext cx="338328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What the deploy job does</a:t>
            </a:r>
            <a:endParaRPr lang="en-US" sz="1500" dirty="0"/>
          </a:p>
        </p:txBody>
      </p:sp>
      <p:sp>
        <p:nvSpPr>
          <p:cNvPr id="19" name="Text 17"/>
          <p:cNvSpPr/>
          <p:nvPr/>
        </p:nvSpPr>
        <p:spPr>
          <a:xfrm>
            <a:off x="8046720" y="2743200"/>
            <a:ext cx="3429000" cy="3108960"/>
          </a:xfrm>
          <a:prstGeom prst="rect">
            <a:avLst/>
          </a:prstGeom>
          <a:noFill/>
          <a:ln/>
        </p:spPr>
        <p:txBody>
          <a:bodyPr wrap="square" rtlCol="0" anchor="t"/>
          <a:lstStyle/>
          <a:p>
            <a:pPr marL="342900" indent="-342900">
              <a:spcAft>
                <a:spcPts val="900"/>
              </a:spcAft>
              <a:buSzPct val="100000"/>
              <a:buChar char="•"/>
            </a:pPr>
            <a:r>
              <a:rPr lang="en-US" sz="1200" dirty="0">
                <a:solidFill>
                  <a:srgbClr val="E7F1FA"/>
                </a:solidFill>
                <a:latin typeface="Calibri" pitchFamily="34" charset="0"/>
                <a:ea typeface="Calibri" pitchFamily="34" charset="-122"/>
                <a:cs typeface="Calibri" pitchFamily="34" charset="-120"/>
              </a:rPr>
              <a:t>Developer manually clicks the environment they want, from the options available for that branch</a:t>
            </a:r>
            <a:endParaRPr lang="en-US" sz="1200" dirty="0"/>
          </a:p>
          <a:p>
            <a:pPr marL="342900" indent="-342900">
              <a:spcAft>
                <a:spcPts val="900"/>
              </a:spcAft>
              <a:buSzPct val="100000"/>
              <a:buChar char="•"/>
            </a:pPr>
            <a:r>
              <a:rPr lang="en-US" sz="1200" dirty="0">
                <a:solidFill>
                  <a:srgbClr val="E7F1FA"/>
                </a:solidFill>
                <a:latin typeface="Calibri" pitchFamily="34" charset="0"/>
                <a:ea typeface="Calibri" pitchFamily="34" charset="-122"/>
                <a:cs typeface="Calibri" pitchFamily="34" charset="-120"/>
              </a:rPr>
              <a:t>Deploy job triggers the matching job in the Helm project</a:t>
            </a:r>
            <a:endParaRPr lang="en-US" sz="1200" dirty="0"/>
          </a:p>
          <a:p>
            <a:pPr marL="342900" indent="-342900">
              <a:spcAft>
                <a:spcPts val="900"/>
              </a:spcAft>
              <a:buSzPct val="100000"/>
              <a:buChar char="•"/>
            </a:pPr>
            <a:r>
              <a:rPr lang="en-US" sz="1200" dirty="0">
                <a:solidFill>
                  <a:srgbClr val="E7F1FA"/>
                </a:solidFill>
                <a:latin typeface="Calibri" pitchFamily="34" charset="0"/>
                <a:ea typeface="Calibri" pitchFamily="34" charset="-122"/>
                <a:cs typeface="Calibri" pitchFamily="34" charset="-120"/>
              </a:rPr>
              <a:t>Runs helm upgrade using the tags committed for this branch</a:t>
            </a:r>
            <a:endParaRPr lang="en-US" sz="1200" dirty="0"/>
          </a:p>
          <a:p>
            <a:pPr marL="342900" indent="-342900">
              <a:spcAft>
                <a:spcPts val="900"/>
              </a:spcAft>
              <a:buSzPct val="100000"/>
              <a:buChar char="•"/>
            </a:pPr>
            <a:r>
              <a:rPr lang="en-US" sz="1200" dirty="0">
                <a:solidFill>
                  <a:srgbClr val="E7F1FA"/>
                </a:solidFill>
                <a:latin typeface="Calibri" pitchFamily="34" charset="0"/>
                <a:ea typeface="Calibri" pitchFamily="34" charset="-122"/>
                <a:cs typeface="Calibri" pitchFamily="34" charset="-120"/>
              </a:rPr>
              <a:t>Only touches the services that were actually built</a:t>
            </a:r>
            <a:endParaRPr lang="en-US" sz="1200" dirty="0"/>
          </a:p>
        </p:txBody>
      </p:sp>
      <p:sp>
        <p:nvSpPr>
          <p:cNvPr id="20" name="Text 18"/>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B6572"/>
                </a:solidFill>
                <a:latin typeface="Calibri" pitchFamily="34" charset="0"/>
                <a:ea typeface="Calibri" pitchFamily="34" charset="-122"/>
                <a:cs typeface="Calibri" pitchFamily="34" charset="-120"/>
              </a:rPr>
              <a:t>CI/CD Refactor</a:t>
            </a:r>
            <a:endParaRPr lang="en-US" sz="1000" dirty="0"/>
          </a:p>
        </p:txBody>
      </p:sp>
      <p:sp>
        <p:nvSpPr>
          <p:cNvPr id="21" name="Text 19"/>
          <p:cNvSpPr/>
          <p:nvPr/>
        </p:nvSpPr>
        <p:spPr>
          <a:xfrm>
            <a:off x="11457432" y="6528816"/>
            <a:ext cx="365760" cy="274320"/>
          </a:xfrm>
          <a:prstGeom prst="rect">
            <a:avLst/>
          </a:prstGeom>
          <a:noFill/>
          <a:ln/>
        </p:spPr>
        <p:txBody>
          <a:bodyPr wrap="square" rtlCol="0" anchor="ctr"/>
          <a:lstStyle/>
          <a:p>
            <a:pPr algn="r" indent="0" marL="0">
              <a:buNone/>
            </a:pPr>
            <a:r>
              <a:rPr lang="en-US" sz="1000" dirty="0">
                <a:solidFill>
                  <a:srgbClr val="5B65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146304"/>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STEP 7</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Automation tests</a:t>
            </a:r>
            <a:endParaRPr lang="en-US" sz="3000" dirty="0"/>
          </a:p>
        </p:txBody>
      </p:sp>
      <p:sp>
        <p:nvSpPr>
          <p:cNvPr id="4" name="Shape 2"/>
          <p:cNvSpPr/>
          <p:nvPr/>
        </p:nvSpPr>
        <p:spPr>
          <a:xfrm>
            <a:off x="548640" y="1645920"/>
            <a:ext cx="11064240" cy="1965960"/>
          </a:xfrm>
          <a:prstGeom prst="roundRect">
            <a:avLst>
              <a:gd name="adj" fmla="val 3721"/>
            </a:avLst>
          </a:prstGeom>
          <a:solidFill>
            <a:srgbClr val="EAF2FA"/>
          </a:solidFill>
          <a:ln w="12700">
            <a:solidFill>
              <a:srgbClr val="DCE3E8"/>
            </a:solidFill>
            <a:prstDash val="solid"/>
          </a:ln>
          <a:effectLst>
            <a:outerShdw sx="100000" sy="100000" kx="0" ky="0" algn="bl" rotWithShape="0" blurRad="76200" dist="25400" dir="5400000">
              <a:srgbClr val="9AA5AF">
                <a:alpha val="25000"/>
              </a:srgbClr>
            </a:outerShdw>
          </a:effectLst>
        </p:spPr>
      </p:sp>
      <p:sp>
        <p:nvSpPr>
          <p:cNvPr id="5" name="Shape 3"/>
          <p:cNvSpPr/>
          <p:nvPr/>
        </p:nvSpPr>
        <p:spPr>
          <a:xfrm>
            <a:off x="914400" y="1965960"/>
            <a:ext cx="640080" cy="640080"/>
          </a:xfrm>
          <a:prstGeom prst="roundRect">
            <a:avLst>
              <a:gd name="adj" fmla="val 17143"/>
            </a:avLst>
          </a:prstGeom>
          <a:solidFill>
            <a:srgbClr val="065A82"/>
          </a:solidFill>
          <a:ln/>
        </p:spPr>
      </p:sp>
      <p:sp>
        <p:nvSpPr>
          <p:cNvPr id="6" name="Text 4"/>
          <p:cNvSpPr/>
          <p:nvPr/>
        </p:nvSpPr>
        <p:spPr>
          <a:xfrm>
            <a:off x="914400" y="1965960"/>
            <a:ext cx="640080" cy="64008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7" name="Text 5"/>
          <p:cNvSpPr/>
          <p:nvPr/>
        </p:nvSpPr>
        <p:spPr>
          <a:xfrm>
            <a:off x="1783080" y="2011680"/>
            <a:ext cx="9509760" cy="548640"/>
          </a:xfrm>
          <a:prstGeom prst="rect">
            <a:avLst/>
          </a:prstGeom>
          <a:noFill/>
          <a:ln/>
        </p:spPr>
        <p:txBody>
          <a:bodyPr wrap="square" rtlCol="0" anchor="ctr"/>
          <a:lstStyle/>
          <a:p>
            <a:pPr indent="0" marL="0">
              <a:buNone/>
            </a:pPr>
            <a:r>
              <a:rPr lang="en-US" sz="1700" b="1" dirty="0">
                <a:solidFill>
                  <a:srgbClr val="1B1F2A"/>
                </a:solidFill>
                <a:latin typeface="Calibri" pitchFamily="34" charset="0"/>
                <a:ea typeface="Calibri" pitchFamily="34" charset="-122"/>
                <a:cs typeface="Calibri" pitchFamily="34" charset="-120"/>
              </a:rPr>
              <a:t>Deploying to automation/QA automatically runs our 3 default test categories.</a:t>
            </a:r>
            <a:endParaRPr lang="en-US" sz="1700" dirty="0"/>
          </a:p>
        </p:txBody>
      </p:sp>
      <p:sp>
        <p:nvSpPr>
          <p:cNvPr id="8" name="Text 6"/>
          <p:cNvSpPr/>
          <p:nvPr/>
        </p:nvSpPr>
        <p:spPr>
          <a:xfrm>
            <a:off x="1783080" y="2606040"/>
            <a:ext cx="9326880" cy="822960"/>
          </a:xfrm>
          <a:prstGeom prst="rect">
            <a:avLst/>
          </a:prstGeom>
          <a:noFill/>
          <a:ln/>
        </p:spPr>
        <p:txBody>
          <a:bodyPr wrap="square" rtlCol="0" anchor="ctr"/>
          <a:lstStyle/>
          <a:p>
            <a:pPr indent="0" marL="0">
              <a:lnSpc>
                <a:spcPct val="125000"/>
              </a:lnSpc>
              <a:buNone/>
            </a:pPr>
            <a:r>
              <a:rPr lang="en-US" sz="1350" dirty="0">
                <a:solidFill>
                  <a:srgbClr val="5B6572"/>
                </a:solidFill>
                <a:latin typeface="Calibri" pitchFamily="34" charset="0"/>
                <a:ea typeface="Calibri" pitchFamily="34" charset="-122"/>
                <a:cs typeface="Calibri" pitchFamily="34" charset="-120"/>
              </a:rPr>
              <a:t>Deploying to test or prod does not, on its own, trigger the automation suite — same trigger point as the old chaos-ci flow.</a:t>
            </a:r>
            <a:endParaRPr lang="en-US" sz="1350" dirty="0"/>
          </a:p>
        </p:txBody>
      </p:sp>
      <p:sp>
        <p:nvSpPr>
          <p:cNvPr id="9" name="Shape 7"/>
          <p:cNvSpPr/>
          <p:nvPr/>
        </p:nvSpPr>
        <p:spPr>
          <a:xfrm>
            <a:off x="548640" y="3794760"/>
            <a:ext cx="11064240" cy="2331720"/>
          </a:xfrm>
          <a:prstGeom prst="roundRect">
            <a:avLst>
              <a:gd name="adj" fmla="val 3137"/>
            </a:avLst>
          </a:prstGeom>
          <a:solidFill>
            <a:srgbClr val="21295C"/>
          </a:solidFill>
          <a:ln/>
          <a:effectLst>
            <a:outerShdw sx="100000" sy="100000" kx="0" ky="0" algn="bl" rotWithShape="0" blurRad="76200" dist="25400" dir="5400000">
              <a:srgbClr val="9AA5AF">
                <a:alpha val="25000"/>
              </a:srgbClr>
            </a:outerShdw>
          </a:effectLst>
        </p:spPr>
      </p:sp>
      <p:sp>
        <p:nvSpPr>
          <p:cNvPr id="10" name="Text 8"/>
          <p:cNvSpPr/>
          <p:nvPr/>
        </p:nvSpPr>
        <p:spPr>
          <a:xfrm>
            <a:off x="868680" y="4023360"/>
            <a:ext cx="9144000" cy="365760"/>
          </a:xfrm>
          <a:prstGeom prst="rect">
            <a:avLst/>
          </a:prstGeom>
          <a:noFill/>
          <a:ln/>
        </p:spPr>
        <p:txBody>
          <a:bodyPr wrap="square" rtlCol="0" anchor="ctr"/>
          <a:lstStyle/>
          <a:p>
            <a:pPr indent="0" marL="0">
              <a:buNone/>
            </a:pPr>
            <a:r>
              <a:rPr lang="en-US" sz="1600" b="1" dirty="0">
                <a:solidFill>
                  <a:srgbClr val="6FD6C4"/>
                </a:solidFill>
                <a:latin typeface="Cambria" pitchFamily="34" charset="0"/>
                <a:ea typeface="Cambria" pitchFamily="34" charset="-122"/>
                <a:cs typeface="Cambria" pitchFamily="34" charset="-120"/>
              </a:rPr>
              <a:t>Need full or custom category coverage?</a:t>
            </a:r>
            <a:endParaRPr lang="en-US" sz="1600" dirty="0"/>
          </a:p>
        </p:txBody>
      </p:sp>
      <p:sp>
        <p:nvSpPr>
          <p:cNvPr id="11" name="Text 9"/>
          <p:cNvSpPr/>
          <p:nvPr/>
        </p:nvSpPr>
        <p:spPr>
          <a:xfrm>
            <a:off x="868680" y="4434840"/>
            <a:ext cx="9144000" cy="3657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chaos-ci is still there for this. Go to chaos-ci and:</a:t>
            </a:r>
            <a:endParaRPr lang="en-US" sz="1350" dirty="0"/>
          </a:p>
        </p:txBody>
      </p:sp>
      <p:sp>
        <p:nvSpPr>
          <p:cNvPr id="12" name="Text 10"/>
          <p:cNvSpPr/>
          <p:nvPr/>
        </p:nvSpPr>
        <p:spPr>
          <a:xfrm>
            <a:off x="868680" y="4846320"/>
            <a:ext cx="10332720" cy="1188720"/>
          </a:xfrm>
          <a:prstGeom prst="rect">
            <a:avLst/>
          </a:prstGeom>
          <a:noFill/>
          <a:ln/>
        </p:spPr>
        <p:txBody>
          <a:bodyPr wrap="square" rtlCol="0" anchor="ctr"/>
          <a:lstStyle/>
          <a:p>
            <a:pPr indent="0" marL="0">
              <a:spcAft>
                <a:spcPts val="800"/>
              </a:spcAft>
              <a:buNone/>
            </a:pPr>
            <a:r>
              <a:rPr lang="en-US" sz="1350" dirty="0">
                <a:solidFill>
                  <a:srgbClr val="CADCFC"/>
                </a:solidFill>
                <a:latin typeface="Calibri" pitchFamily="34" charset="0"/>
                <a:ea typeface="Calibri" pitchFamily="34" charset="-122"/>
                <a:cs typeface="Calibri" pitchFamily="34" charset="-120"/>
              </a:rPr>
              <a:t>1.  Enter the branch name you want to deploy</a:t>
            </a:r>
            <a:endParaRPr lang="en-US" sz="1350" dirty="0"/>
          </a:p>
          <a:p>
            <a:pPr indent="0" marL="0">
              <a:spcAft>
                <a:spcPts val="800"/>
              </a:spcAft>
              <a:buNone/>
            </a:pPr>
            <a:r>
              <a:rPr lang="en-US" sz="1350" dirty="0">
                <a:solidFill>
                  <a:srgbClr val="CADCFC"/>
                </a:solidFill>
                <a:latin typeface="Calibri" pitchFamily="34" charset="0"/>
                <a:ea typeface="Calibri" pitchFamily="34" charset="-122"/>
                <a:cs typeface="Calibri" pitchFamily="34" charset="-120"/>
              </a:rPr>
              <a:t>2.  Enter the automation branch name to test against</a:t>
            </a:r>
            <a:endParaRPr lang="en-US" sz="1350" dirty="0"/>
          </a:p>
          <a:p>
            <a:pPr indent="0" marL="0">
              <a:spcAft>
                <a:spcPts val="800"/>
              </a:spcAft>
              <a:buNone/>
            </a:pPr>
            <a:r>
              <a:rPr lang="en-US" sz="1350" dirty="0">
                <a:solidFill>
                  <a:srgbClr val="CADCFC"/>
                </a:solidFill>
                <a:latin typeface="Calibri" pitchFamily="34" charset="0"/>
                <a:ea typeface="Calibri" pitchFamily="34" charset="-122"/>
                <a:cs typeface="Calibri" pitchFamily="34" charset="-120"/>
              </a:rPr>
              <a:t>3.  Choose which categories to run — including all of them, not just the 3 defaults</a:t>
            </a:r>
            <a:endParaRPr lang="en-US" sz="1350" dirty="0"/>
          </a:p>
        </p:txBody>
      </p:sp>
      <p:sp>
        <p:nvSpPr>
          <p:cNvPr id="13" name="Text 11"/>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B6572"/>
                </a:solidFill>
                <a:latin typeface="Calibri" pitchFamily="34" charset="0"/>
                <a:ea typeface="Calibri" pitchFamily="34" charset="-122"/>
                <a:cs typeface="Calibri" pitchFamily="34" charset="-120"/>
              </a:rPr>
              <a:t>CI/CD Refactor</a:t>
            </a:r>
            <a:endParaRPr lang="en-US" sz="1000" dirty="0"/>
          </a:p>
        </p:txBody>
      </p:sp>
      <p:sp>
        <p:nvSpPr>
          <p:cNvPr id="14" name="Text 12"/>
          <p:cNvSpPr/>
          <p:nvPr/>
        </p:nvSpPr>
        <p:spPr>
          <a:xfrm>
            <a:off x="11457432" y="6528816"/>
            <a:ext cx="365760" cy="274320"/>
          </a:xfrm>
          <a:prstGeom prst="rect">
            <a:avLst/>
          </a:prstGeom>
          <a:noFill/>
          <a:ln/>
        </p:spPr>
        <p:txBody>
          <a:bodyPr wrap="square" rtlCol="0" anchor="ctr"/>
          <a:lstStyle/>
          <a:p>
            <a:pPr algn="r" indent="0" marL="0">
              <a:buNone/>
            </a:pPr>
            <a:r>
              <a:rPr lang="en-US" sz="1000" dirty="0">
                <a:solidFill>
                  <a:srgbClr val="5B65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146304"/>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SUMMARY</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Before vs. after</a:t>
            </a:r>
            <a:endParaRPr lang="en-US" sz="3000" dirty="0"/>
          </a:p>
        </p:txBody>
      </p:sp>
      <p:sp>
        <p:nvSpPr>
          <p:cNvPr id="4" name="Shape 2"/>
          <p:cNvSpPr/>
          <p:nvPr/>
        </p:nvSpPr>
        <p:spPr>
          <a:xfrm>
            <a:off x="2697480" y="1463040"/>
            <a:ext cx="4343400" cy="411480"/>
          </a:xfrm>
          <a:prstGeom prst="roundRect">
            <a:avLst>
              <a:gd name="adj" fmla="val 11111"/>
            </a:avLst>
          </a:prstGeom>
          <a:solidFill>
            <a:srgbClr val="E7EAF0"/>
          </a:solidFill>
          <a:ln/>
        </p:spPr>
      </p:sp>
      <p:sp>
        <p:nvSpPr>
          <p:cNvPr id="5" name="Text 3"/>
          <p:cNvSpPr/>
          <p:nvPr/>
        </p:nvSpPr>
        <p:spPr>
          <a:xfrm>
            <a:off x="2697480" y="1463040"/>
            <a:ext cx="4343400" cy="411480"/>
          </a:xfrm>
          <a:prstGeom prst="rect">
            <a:avLst/>
          </a:prstGeom>
          <a:noFill/>
          <a:ln/>
        </p:spPr>
        <p:txBody>
          <a:bodyPr wrap="square" rtlCol="0" anchor="ctr"/>
          <a:lstStyle/>
          <a:p>
            <a:pPr algn="ctr" indent="0" marL="0">
              <a:buNone/>
            </a:pPr>
            <a:r>
              <a:rPr lang="en-US" sz="1300" b="1" dirty="0">
                <a:solidFill>
                  <a:srgbClr val="5B6572"/>
                </a:solidFill>
                <a:latin typeface="Cambria" pitchFamily="34" charset="0"/>
                <a:ea typeface="Cambria" pitchFamily="34" charset="-122"/>
                <a:cs typeface="Cambria" pitchFamily="34" charset="-120"/>
              </a:rPr>
              <a:t>Before</a:t>
            </a:r>
            <a:endParaRPr lang="en-US" sz="1300" dirty="0"/>
          </a:p>
        </p:txBody>
      </p:sp>
      <p:sp>
        <p:nvSpPr>
          <p:cNvPr id="6" name="Shape 4"/>
          <p:cNvSpPr/>
          <p:nvPr/>
        </p:nvSpPr>
        <p:spPr>
          <a:xfrm>
            <a:off x="7040880" y="1463040"/>
            <a:ext cx="4480560" cy="411480"/>
          </a:xfrm>
          <a:prstGeom prst="roundRect">
            <a:avLst>
              <a:gd name="adj" fmla="val 11111"/>
            </a:avLst>
          </a:prstGeom>
          <a:solidFill>
            <a:srgbClr val="1C7293"/>
          </a:solidFill>
          <a:ln/>
        </p:spPr>
      </p:sp>
      <p:sp>
        <p:nvSpPr>
          <p:cNvPr id="7" name="Text 5"/>
          <p:cNvSpPr/>
          <p:nvPr/>
        </p:nvSpPr>
        <p:spPr>
          <a:xfrm>
            <a:off x="7040880" y="1463040"/>
            <a:ext cx="4480560" cy="4114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After</a:t>
            </a:r>
            <a:endParaRPr lang="en-US" sz="1300" dirty="0"/>
          </a:p>
        </p:txBody>
      </p:sp>
      <p:sp>
        <p:nvSpPr>
          <p:cNvPr id="8" name="Shape 6"/>
          <p:cNvSpPr/>
          <p:nvPr/>
        </p:nvSpPr>
        <p:spPr>
          <a:xfrm>
            <a:off x="548640" y="1965960"/>
            <a:ext cx="10972800" cy="777240"/>
          </a:xfrm>
          <a:prstGeom prst="rect">
            <a:avLst/>
          </a:prstGeom>
          <a:solidFill>
            <a:srgbClr val="FFFFFF"/>
          </a:solidFill>
          <a:ln/>
        </p:spPr>
      </p:sp>
      <p:sp>
        <p:nvSpPr>
          <p:cNvPr id="9" name="Text 7"/>
          <p:cNvSpPr/>
          <p:nvPr/>
        </p:nvSpPr>
        <p:spPr>
          <a:xfrm>
            <a:off x="548640" y="1965960"/>
            <a:ext cx="2039112" cy="777240"/>
          </a:xfrm>
          <a:prstGeom prst="rect">
            <a:avLst/>
          </a:prstGeom>
          <a:noFill/>
          <a:ln/>
        </p:spPr>
        <p:txBody>
          <a:bodyPr wrap="square" rtlCol="0" anchor="ctr"/>
          <a:lstStyle/>
          <a:p>
            <a:pPr indent="0" marL="0">
              <a:buNone/>
            </a:pPr>
            <a:r>
              <a:rPr lang="en-US" sz="1150" b="1" dirty="0">
                <a:solidFill>
                  <a:srgbClr val="1B1F2A"/>
                </a:solidFill>
                <a:latin typeface="Calibri" pitchFamily="34" charset="0"/>
                <a:ea typeface="Calibri" pitchFamily="34" charset="-122"/>
                <a:cs typeface="Calibri" pitchFamily="34" charset="-120"/>
              </a:rPr>
              <a:t>Config / trigger</a:t>
            </a:r>
            <a:endParaRPr lang="en-US" sz="1150" dirty="0"/>
          </a:p>
        </p:txBody>
      </p:sp>
      <p:sp>
        <p:nvSpPr>
          <p:cNvPr id="10" name="Text 8"/>
          <p:cNvSpPr/>
          <p:nvPr/>
        </p:nvSpPr>
        <p:spPr>
          <a:xfrm>
            <a:off x="2697480" y="1965960"/>
            <a:ext cx="4160520" cy="777240"/>
          </a:xfrm>
          <a:prstGeom prst="rect">
            <a:avLst/>
          </a:prstGeom>
          <a:noFill/>
          <a:ln/>
        </p:spPr>
        <p:txBody>
          <a:bodyPr wrap="square" rtlCol="0" anchor="ctr"/>
          <a:lstStyle/>
          <a:p>
            <a:pPr indent="0" marL="0">
              <a:buNone/>
            </a:pPr>
            <a:r>
              <a:rPr lang="en-US" sz="1100" dirty="0">
                <a:solidFill>
                  <a:srgbClr val="5B6572"/>
                </a:solidFill>
                <a:latin typeface="Calibri" pitchFamily="34" charset="0"/>
                <a:ea typeface="Calibri" pitchFamily="34" charset="-122"/>
                <a:cs typeface="Calibri" pitchFamily="34" charset="-120"/>
              </a:rPr>
              <a:t>Variables typed manually in GitLab UI</a:t>
            </a:r>
            <a:endParaRPr lang="en-US" sz="1100" dirty="0"/>
          </a:p>
        </p:txBody>
      </p:sp>
      <p:sp>
        <p:nvSpPr>
          <p:cNvPr id="11" name="Text 9"/>
          <p:cNvSpPr/>
          <p:nvPr/>
        </p:nvSpPr>
        <p:spPr>
          <a:xfrm>
            <a:off x="7040880" y="1965960"/>
            <a:ext cx="4297680" cy="777240"/>
          </a:xfrm>
          <a:prstGeom prst="rect">
            <a:avLst/>
          </a:prstGeom>
          <a:noFill/>
          <a:ln/>
        </p:spPr>
        <p:txBody>
          <a:bodyPr wrap="square"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catdevops shared includes + nx affected</a:t>
            </a:r>
            <a:endParaRPr lang="en-US" sz="1100" dirty="0"/>
          </a:p>
        </p:txBody>
      </p:sp>
      <p:sp>
        <p:nvSpPr>
          <p:cNvPr id="12" name="Text 10"/>
          <p:cNvSpPr/>
          <p:nvPr/>
        </p:nvSpPr>
        <p:spPr>
          <a:xfrm>
            <a:off x="548640" y="2743200"/>
            <a:ext cx="2039112" cy="777240"/>
          </a:xfrm>
          <a:prstGeom prst="rect">
            <a:avLst/>
          </a:prstGeom>
          <a:noFill/>
          <a:ln/>
        </p:spPr>
        <p:txBody>
          <a:bodyPr wrap="square" rtlCol="0" anchor="ctr"/>
          <a:lstStyle/>
          <a:p>
            <a:pPr indent="0" marL="0">
              <a:buNone/>
            </a:pPr>
            <a:r>
              <a:rPr lang="en-US" sz="1150" b="1" dirty="0">
                <a:solidFill>
                  <a:srgbClr val="1B1F2A"/>
                </a:solidFill>
                <a:latin typeface="Calibri" pitchFamily="34" charset="0"/>
                <a:ea typeface="Calibri" pitchFamily="34" charset="-122"/>
                <a:cs typeface="Calibri" pitchFamily="34" charset="-120"/>
              </a:rPr>
              <a:t>Build scope</a:t>
            </a:r>
            <a:endParaRPr lang="en-US" sz="1150" dirty="0"/>
          </a:p>
        </p:txBody>
      </p:sp>
      <p:sp>
        <p:nvSpPr>
          <p:cNvPr id="13" name="Text 11"/>
          <p:cNvSpPr/>
          <p:nvPr/>
        </p:nvSpPr>
        <p:spPr>
          <a:xfrm>
            <a:off x="2697480" y="2743200"/>
            <a:ext cx="4160520" cy="777240"/>
          </a:xfrm>
          <a:prstGeom prst="rect">
            <a:avLst/>
          </a:prstGeom>
          <a:noFill/>
          <a:ln/>
        </p:spPr>
        <p:txBody>
          <a:bodyPr wrap="square" rtlCol="0" anchor="ctr"/>
          <a:lstStyle/>
          <a:p>
            <a:pPr indent="0" marL="0">
              <a:buNone/>
            </a:pPr>
            <a:r>
              <a:rPr lang="en-US" sz="1100" dirty="0">
                <a:solidFill>
                  <a:srgbClr val="5B6572"/>
                </a:solidFill>
                <a:latin typeface="Calibri" pitchFamily="34" charset="0"/>
                <a:ea typeface="Calibri" pitchFamily="34" charset="-122"/>
                <a:cs typeface="Calibri" pitchFamily="34" charset="-120"/>
              </a:rPr>
              <a:t>Everything rebuilds on every push</a:t>
            </a:r>
            <a:endParaRPr lang="en-US" sz="1100" dirty="0"/>
          </a:p>
        </p:txBody>
      </p:sp>
      <p:sp>
        <p:nvSpPr>
          <p:cNvPr id="14" name="Text 12"/>
          <p:cNvSpPr/>
          <p:nvPr/>
        </p:nvSpPr>
        <p:spPr>
          <a:xfrm>
            <a:off x="7040880" y="2743200"/>
            <a:ext cx="4297680" cy="777240"/>
          </a:xfrm>
          <a:prstGeom prst="rect">
            <a:avLst/>
          </a:prstGeom>
          <a:noFill/>
          <a:ln/>
        </p:spPr>
        <p:txBody>
          <a:bodyPr wrap="square"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Only affected services build</a:t>
            </a:r>
            <a:endParaRPr lang="en-US" sz="1100" dirty="0"/>
          </a:p>
        </p:txBody>
      </p:sp>
      <p:sp>
        <p:nvSpPr>
          <p:cNvPr id="15" name="Shape 13"/>
          <p:cNvSpPr/>
          <p:nvPr/>
        </p:nvSpPr>
        <p:spPr>
          <a:xfrm>
            <a:off x="548640" y="3520440"/>
            <a:ext cx="10972800" cy="777240"/>
          </a:xfrm>
          <a:prstGeom prst="rect">
            <a:avLst/>
          </a:prstGeom>
          <a:solidFill>
            <a:srgbClr val="FFFFFF"/>
          </a:solidFill>
          <a:ln/>
        </p:spPr>
      </p:sp>
      <p:sp>
        <p:nvSpPr>
          <p:cNvPr id="16" name="Text 14"/>
          <p:cNvSpPr/>
          <p:nvPr/>
        </p:nvSpPr>
        <p:spPr>
          <a:xfrm>
            <a:off x="548640" y="3520440"/>
            <a:ext cx="2039112" cy="777240"/>
          </a:xfrm>
          <a:prstGeom prst="rect">
            <a:avLst/>
          </a:prstGeom>
          <a:noFill/>
          <a:ln/>
        </p:spPr>
        <p:txBody>
          <a:bodyPr wrap="square" rtlCol="0" anchor="ctr"/>
          <a:lstStyle/>
          <a:p>
            <a:pPr indent="0" marL="0">
              <a:buNone/>
            </a:pPr>
            <a:r>
              <a:rPr lang="en-US" sz="1150" b="1" dirty="0">
                <a:solidFill>
                  <a:srgbClr val="1B1F2A"/>
                </a:solidFill>
                <a:latin typeface="Calibri" pitchFamily="34" charset="0"/>
                <a:ea typeface="Calibri" pitchFamily="34" charset="-122"/>
                <a:cs typeface="Calibri" pitchFamily="34" charset="-120"/>
              </a:rPr>
              <a:t>Delivery mechanism</a:t>
            </a:r>
            <a:endParaRPr lang="en-US" sz="1150" dirty="0"/>
          </a:p>
        </p:txBody>
      </p:sp>
      <p:sp>
        <p:nvSpPr>
          <p:cNvPr id="17" name="Text 15"/>
          <p:cNvSpPr/>
          <p:nvPr/>
        </p:nvSpPr>
        <p:spPr>
          <a:xfrm>
            <a:off x="2697480" y="3520440"/>
            <a:ext cx="4160520" cy="777240"/>
          </a:xfrm>
          <a:prstGeom prst="rect">
            <a:avLst/>
          </a:prstGeom>
          <a:noFill/>
          <a:ln/>
        </p:spPr>
        <p:txBody>
          <a:bodyPr wrap="square" rtlCol="0" anchor="ctr"/>
          <a:lstStyle/>
          <a:p>
            <a:pPr indent="0" marL="0">
              <a:buNone/>
            </a:pPr>
            <a:r>
              <a:rPr lang="en-US" sz="1100" dirty="0">
                <a:solidFill>
                  <a:srgbClr val="5B6572"/>
                </a:solidFill>
                <a:latin typeface="Calibri" pitchFamily="34" charset="0"/>
                <a:ea typeface="Calibri" pitchFamily="34" charset="-122"/>
                <a:cs typeface="Calibri" pitchFamily="34" charset="-120"/>
              </a:rPr>
              <a:t>3 separate CD projects driving OpenShift directly</a:t>
            </a:r>
            <a:endParaRPr lang="en-US" sz="1100" dirty="0"/>
          </a:p>
        </p:txBody>
      </p:sp>
      <p:sp>
        <p:nvSpPr>
          <p:cNvPr id="18" name="Text 16"/>
          <p:cNvSpPr/>
          <p:nvPr/>
        </p:nvSpPr>
        <p:spPr>
          <a:xfrm>
            <a:off x="7040880" y="3520440"/>
            <a:ext cx="4297680" cy="777240"/>
          </a:xfrm>
          <a:prstGeom prst="rect">
            <a:avLst/>
          </a:prstGeom>
          <a:noFill/>
          <a:ln/>
        </p:spPr>
        <p:txBody>
          <a:bodyPr wrap="square"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Single Helm project; OpenShift reflects each commit (GitOps)</a:t>
            </a:r>
            <a:endParaRPr lang="en-US" sz="1100" dirty="0"/>
          </a:p>
        </p:txBody>
      </p:sp>
      <p:sp>
        <p:nvSpPr>
          <p:cNvPr id="19" name="Text 17"/>
          <p:cNvSpPr/>
          <p:nvPr/>
        </p:nvSpPr>
        <p:spPr>
          <a:xfrm>
            <a:off x="548640" y="4297680"/>
            <a:ext cx="2039112" cy="777240"/>
          </a:xfrm>
          <a:prstGeom prst="rect">
            <a:avLst/>
          </a:prstGeom>
          <a:noFill/>
          <a:ln/>
        </p:spPr>
        <p:txBody>
          <a:bodyPr wrap="square" rtlCol="0" anchor="ctr"/>
          <a:lstStyle/>
          <a:p>
            <a:pPr indent="0" marL="0">
              <a:buNone/>
            </a:pPr>
            <a:r>
              <a:rPr lang="en-US" sz="1150" b="1" dirty="0">
                <a:solidFill>
                  <a:srgbClr val="1B1F2A"/>
                </a:solidFill>
                <a:latin typeface="Calibri" pitchFamily="34" charset="0"/>
                <a:ea typeface="Calibri" pitchFamily="34" charset="-122"/>
                <a:cs typeface="Calibri" pitchFamily="34" charset="-120"/>
              </a:rPr>
              <a:t>Scope of repos</a:t>
            </a:r>
            <a:endParaRPr lang="en-US" sz="1150" dirty="0"/>
          </a:p>
        </p:txBody>
      </p:sp>
      <p:sp>
        <p:nvSpPr>
          <p:cNvPr id="20" name="Text 18"/>
          <p:cNvSpPr/>
          <p:nvPr/>
        </p:nvSpPr>
        <p:spPr>
          <a:xfrm>
            <a:off x="2697480" y="4297680"/>
            <a:ext cx="4160520" cy="777240"/>
          </a:xfrm>
          <a:prstGeom prst="rect">
            <a:avLst/>
          </a:prstGeom>
          <a:noFill/>
          <a:ln/>
        </p:spPr>
        <p:txBody>
          <a:bodyPr wrap="square" rtlCol="0" anchor="ctr"/>
          <a:lstStyle/>
          <a:p>
            <a:pPr indent="0" marL="0">
              <a:buNone/>
            </a:pPr>
            <a:r>
              <a:rPr lang="en-US" sz="1100" dirty="0">
                <a:solidFill>
                  <a:srgbClr val="5B6572"/>
                </a:solidFill>
                <a:latin typeface="Calibri" pitchFamily="34" charset="0"/>
                <a:ea typeface="Calibri" pitchFamily="34" charset="-122"/>
                <a:cs typeface="Calibri" pitchFamily="34" charset="-120"/>
              </a:rPr>
              <a:t>Nx monorepo only</a:t>
            </a:r>
            <a:endParaRPr lang="en-US" sz="1100" dirty="0"/>
          </a:p>
        </p:txBody>
      </p:sp>
      <p:sp>
        <p:nvSpPr>
          <p:cNvPr id="21" name="Text 19"/>
          <p:cNvSpPr/>
          <p:nvPr/>
        </p:nvSpPr>
        <p:spPr>
          <a:xfrm>
            <a:off x="7040880" y="4297680"/>
            <a:ext cx="4297680" cy="777240"/>
          </a:xfrm>
          <a:prstGeom prst="rect">
            <a:avLst/>
          </a:prstGeom>
          <a:noFill/>
          <a:ln/>
        </p:spPr>
        <p:txBody>
          <a:bodyPr wrap="square"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Nx repo and poly repos, same mechanism</a:t>
            </a:r>
            <a:endParaRPr lang="en-US" sz="1100" dirty="0"/>
          </a:p>
        </p:txBody>
      </p:sp>
      <p:sp>
        <p:nvSpPr>
          <p:cNvPr id="22" name="Shape 20"/>
          <p:cNvSpPr/>
          <p:nvPr/>
        </p:nvSpPr>
        <p:spPr>
          <a:xfrm>
            <a:off x="548640" y="5074920"/>
            <a:ext cx="10972800" cy="777240"/>
          </a:xfrm>
          <a:prstGeom prst="rect">
            <a:avLst/>
          </a:prstGeom>
          <a:solidFill>
            <a:srgbClr val="FFFFFF"/>
          </a:solidFill>
          <a:ln/>
        </p:spPr>
      </p:sp>
      <p:sp>
        <p:nvSpPr>
          <p:cNvPr id="23" name="Text 21"/>
          <p:cNvSpPr/>
          <p:nvPr/>
        </p:nvSpPr>
        <p:spPr>
          <a:xfrm>
            <a:off x="548640" y="5074920"/>
            <a:ext cx="2039112" cy="777240"/>
          </a:xfrm>
          <a:prstGeom prst="rect">
            <a:avLst/>
          </a:prstGeom>
          <a:noFill/>
          <a:ln/>
        </p:spPr>
        <p:txBody>
          <a:bodyPr wrap="square" rtlCol="0" anchor="ctr"/>
          <a:lstStyle/>
          <a:p>
            <a:pPr indent="0" marL="0">
              <a:buNone/>
            </a:pPr>
            <a:r>
              <a:rPr lang="en-US" sz="1150" b="1" dirty="0">
                <a:solidFill>
                  <a:srgbClr val="1B1F2A"/>
                </a:solidFill>
                <a:latin typeface="Calibri" pitchFamily="34" charset="0"/>
                <a:ea typeface="Calibri" pitchFamily="34" charset="-122"/>
                <a:cs typeface="Calibri" pitchFamily="34" charset="-120"/>
              </a:rPr>
              <a:t>Environment choice</a:t>
            </a:r>
            <a:endParaRPr lang="en-US" sz="1150" dirty="0"/>
          </a:p>
        </p:txBody>
      </p:sp>
      <p:sp>
        <p:nvSpPr>
          <p:cNvPr id="24" name="Text 22"/>
          <p:cNvSpPr/>
          <p:nvPr/>
        </p:nvSpPr>
        <p:spPr>
          <a:xfrm>
            <a:off x="2697480" y="5074920"/>
            <a:ext cx="4160520" cy="777240"/>
          </a:xfrm>
          <a:prstGeom prst="rect">
            <a:avLst/>
          </a:prstGeom>
          <a:noFill/>
          <a:ln/>
        </p:spPr>
        <p:txBody>
          <a:bodyPr wrap="square" rtlCol="0" anchor="ctr"/>
          <a:lstStyle/>
          <a:p>
            <a:pPr indent="0" marL="0">
              <a:buNone/>
            </a:pPr>
            <a:r>
              <a:rPr lang="en-US" sz="1100" dirty="0">
                <a:solidFill>
                  <a:srgbClr val="5B6572"/>
                </a:solidFill>
                <a:latin typeface="Calibri" pitchFamily="34" charset="0"/>
                <a:ea typeface="Calibri" pitchFamily="34" charset="-122"/>
                <a:cs typeface="Calibri" pitchFamily="34" charset="-120"/>
              </a:rPr>
              <a:t>Determined by which CD project ran</a:t>
            </a:r>
            <a:endParaRPr lang="en-US" sz="1100" dirty="0"/>
          </a:p>
        </p:txBody>
      </p:sp>
      <p:sp>
        <p:nvSpPr>
          <p:cNvPr id="25" name="Text 23"/>
          <p:cNvSpPr/>
          <p:nvPr/>
        </p:nvSpPr>
        <p:spPr>
          <a:xfrm>
            <a:off x="7040880" y="5074920"/>
            <a:ext cx="4297680" cy="777240"/>
          </a:xfrm>
          <a:prstGeom prst="rect">
            <a:avLst/>
          </a:prstGeom>
          <a:noFill/>
          <a:ln/>
        </p:spPr>
        <p:txBody>
          <a:bodyPr wrap="square"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Manual environment pick, same pipeline</a:t>
            </a:r>
            <a:endParaRPr lang="en-US" sz="1100" dirty="0"/>
          </a:p>
        </p:txBody>
      </p:sp>
      <p:sp>
        <p:nvSpPr>
          <p:cNvPr id="26" name="Text 24"/>
          <p:cNvSpPr/>
          <p:nvPr/>
        </p:nvSpPr>
        <p:spPr>
          <a:xfrm>
            <a:off x="548640" y="5852160"/>
            <a:ext cx="2039112" cy="777240"/>
          </a:xfrm>
          <a:prstGeom prst="rect">
            <a:avLst/>
          </a:prstGeom>
          <a:noFill/>
          <a:ln/>
        </p:spPr>
        <p:txBody>
          <a:bodyPr wrap="square" rtlCol="0" anchor="ctr"/>
          <a:lstStyle/>
          <a:p>
            <a:pPr indent="0" marL="0">
              <a:buNone/>
            </a:pPr>
            <a:r>
              <a:rPr lang="en-US" sz="1150" b="1" dirty="0">
                <a:solidFill>
                  <a:srgbClr val="1B1F2A"/>
                </a:solidFill>
                <a:latin typeface="Calibri" pitchFamily="34" charset="0"/>
                <a:ea typeface="Calibri" pitchFamily="34" charset="-122"/>
                <a:cs typeface="Calibri" pitchFamily="34" charset="-120"/>
              </a:rPr>
              <a:t>Automation tests</a:t>
            </a:r>
            <a:endParaRPr lang="en-US" sz="1150" dirty="0"/>
          </a:p>
        </p:txBody>
      </p:sp>
      <p:sp>
        <p:nvSpPr>
          <p:cNvPr id="27" name="Text 25"/>
          <p:cNvSpPr/>
          <p:nvPr/>
        </p:nvSpPr>
        <p:spPr>
          <a:xfrm>
            <a:off x="2697480" y="5852160"/>
            <a:ext cx="4160520" cy="777240"/>
          </a:xfrm>
          <a:prstGeom prst="rect">
            <a:avLst/>
          </a:prstGeom>
          <a:noFill/>
          <a:ln/>
        </p:spPr>
        <p:txBody>
          <a:bodyPr wrap="square" rtlCol="0" anchor="ctr"/>
          <a:lstStyle/>
          <a:p>
            <a:pPr indent="0" marL="0">
              <a:buNone/>
            </a:pPr>
            <a:r>
              <a:rPr lang="en-US" sz="1100" dirty="0">
                <a:solidFill>
                  <a:srgbClr val="5B6572"/>
                </a:solidFill>
                <a:latin typeface="Calibri" pitchFamily="34" charset="0"/>
                <a:ea typeface="Calibri" pitchFamily="34" charset="-122"/>
                <a:cs typeface="Calibri" pitchFamily="34" charset="-120"/>
              </a:rPr>
              <a:t>Ran after chaos-ci deploy</a:t>
            </a:r>
            <a:endParaRPr lang="en-US" sz="1100" dirty="0"/>
          </a:p>
        </p:txBody>
      </p:sp>
      <p:sp>
        <p:nvSpPr>
          <p:cNvPr id="28" name="Text 26"/>
          <p:cNvSpPr/>
          <p:nvPr/>
        </p:nvSpPr>
        <p:spPr>
          <a:xfrm>
            <a:off x="7040880" y="5852160"/>
            <a:ext cx="4297680" cy="777240"/>
          </a:xfrm>
          <a:prstGeom prst="rect">
            <a:avLst/>
          </a:prstGeom>
          <a:noFill/>
          <a:ln/>
        </p:spPr>
        <p:txBody>
          <a:bodyPr wrap="square"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3 default categories auto-run after automation/QA deploy; chaos-ci still available for full/custom runs</a:t>
            </a:r>
            <a:endParaRPr lang="en-US" sz="1100" dirty="0"/>
          </a:p>
        </p:txBody>
      </p:sp>
      <p:sp>
        <p:nvSpPr>
          <p:cNvPr id="29" name="Text 27"/>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B6572"/>
                </a:solidFill>
                <a:latin typeface="Calibri" pitchFamily="34" charset="0"/>
                <a:ea typeface="Calibri" pitchFamily="34" charset="-122"/>
                <a:cs typeface="Calibri" pitchFamily="34" charset="-120"/>
              </a:rPr>
              <a:t>CI/CD Refactor</a:t>
            </a:r>
            <a:endParaRPr lang="en-US" sz="1000" dirty="0"/>
          </a:p>
        </p:txBody>
      </p:sp>
      <p:sp>
        <p:nvSpPr>
          <p:cNvPr id="30" name="Text 28"/>
          <p:cNvSpPr/>
          <p:nvPr/>
        </p:nvSpPr>
        <p:spPr>
          <a:xfrm>
            <a:off x="11457432" y="6528816"/>
            <a:ext cx="365760" cy="274320"/>
          </a:xfrm>
          <a:prstGeom prst="rect">
            <a:avLst/>
          </a:prstGeom>
          <a:noFill/>
          <a:ln/>
        </p:spPr>
        <p:txBody>
          <a:bodyPr wrap="square" rtlCol="0" anchor="ctr"/>
          <a:lstStyle/>
          <a:p>
            <a:pPr algn="r" indent="0" marL="0">
              <a:buNone/>
            </a:pPr>
            <a:r>
              <a:rPr lang="en-US" sz="1000" dirty="0">
                <a:solidFill>
                  <a:srgbClr val="5B65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46304"/>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HOW TO RUN IT</a:t>
            </a:r>
            <a:endParaRPr lang="en-US" sz="1200" dirty="0"/>
          </a:p>
        </p:txBody>
      </p:sp>
      <p:sp>
        <p:nvSpPr>
          <p:cNvPr id="3" name="Text 1"/>
          <p:cNvSpPr/>
          <p:nvPr/>
        </p:nvSpPr>
        <p:spPr>
          <a:xfrm>
            <a:off x="548640" y="411480"/>
            <a:ext cx="11064240" cy="731520"/>
          </a:xfrm>
          <a:prstGeom prst="rect">
            <a:avLst/>
          </a:prstGeom>
          <a:noFill/>
          <a:ln/>
        </p:spPr>
        <p:txBody>
          <a:bodyPr wrap="square"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Quick reference</a:t>
            </a:r>
            <a:endParaRPr lang="en-US" sz="3000" dirty="0"/>
          </a:p>
        </p:txBody>
      </p:sp>
      <p:sp>
        <p:nvSpPr>
          <p:cNvPr id="4" name="Shape 2"/>
          <p:cNvSpPr/>
          <p:nvPr/>
        </p:nvSpPr>
        <p:spPr>
          <a:xfrm>
            <a:off x="548640" y="1600200"/>
            <a:ext cx="457200" cy="457200"/>
          </a:xfrm>
          <a:prstGeom prst="ellipse">
            <a:avLst/>
          </a:prstGeom>
          <a:solidFill>
            <a:srgbClr val="1C7293"/>
          </a:solidFill>
          <a:ln/>
        </p:spPr>
      </p:sp>
      <p:sp>
        <p:nvSpPr>
          <p:cNvPr id="5" name="Text 3"/>
          <p:cNvSpPr/>
          <p:nvPr/>
        </p:nvSpPr>
        <p:spPr>
          <a:xfrm>
            <a:off x="548640" y="160020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188720" y="1581912"/>
            <a:ext cx="5120640" cy="493776"/>
          </a:xfrm>
          <a:prstGeom prst="rect">
            <a:avLst/>
          </a:prstGeom>
          <a:noFill/>
          <a:ln/>
        </p:spPr>
        <p:txBody>
          <a:bodyPr wrap="square" rtlCol="0" anchor="ctr"/>
          <a:lstStyle/>
          <a:p>
            <a:pPr indent="0" marL="0">
              <a:buNone/>
            </a:pPr>
            <a:r>
              <a:rPr lang="en-US" sz="1400" b="1" dirty="0">
                <a:solidFill>
                  <a:srgbClr val="1B1F2A"/>
                </a:solidFill>
                <a:latin typeface="Cambria" pitchFamily="34" charset="0"/>
                <a:ea typeface="Cambria" pitchFamily="34" charset="-122"/>
                <a:cs typeface="Cambria" pitchFamily="34" charset="-120"/>
              </a:rPr>
              <a:t>Push your commit or open your MR</a:t>
            </a:r>
            <a:endParaRPr lang="en-US" sz="1400" dirty="0"/>
          </a:p>
        </p:txBody>
      </p:sp>
      <p:sp>
        <p:nvSpPr>
          <p:cNvPr id="7" name="Text 5"/>
          <p:cNvSpPr/>
          <p:nvPr/>
        </p:nvSpPr>
        <p:spPr>
          <a:xfrm>
            <a:off x="6400800" y="1581912"/>
            <a:ext cx="5394960" cy="493776"/>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on the Nx project, or a poly repo — use the same branch name across both</a:t>
            </a:r>
            <a:endParaRPr lang="en-US" sz="1250" dirty="0"/>
          </a:p>
        </p:txBody>
      </p:sp>
      <p:sp>
        <p:nvSpPr>
          <p:cNvPr id="8" name="Shape 6"/>
          <p:cNvSpPr/>
          <p:nvPr/>
        </p:nvSpPr>
        <p:spPr>
          <a:xfrm>
            <a:off x="548640" y="2377440"/>
            <a:ext cx="457200" cy="457200"/>
          </a:xfrm>
          <a:prstGeom prst="ellipse">
            <a:avLst/>
          </a:prstGeom>
          <a:solidFill>
            <a:srgbClr val="1C7293"/>
          </a:solidFill>
          <a:ln/>
        </p:spPr>
      </p:sp>
      <p:sp>
        <p:nvSpPr>
          <p:cNvPr id="9" name="Text 7"/>
          <p:cNvSpPr/>
          <p:nvPr/>
        </p:nvSpPr>
        <p:spPr>
          <a:xfrm>
            <a:off x="548640" y="237744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188720" y="2359152"/>
            <a:ext cx="5120640" cy="493776"/>
          </a:xfrm>
          <a:prstGeom prst="rect">
            <a:avLst/>
          </a:prstGeom>
          <a:noFill/>
          <a:ln/>
        </p:spPr>
        <p:txBody>
          <a:bodyPr wrap="square" rtlCol="0" anchor="ctr"/>
          <a:lstStyle/>
          <a:p>
            <a:pPr indent="0" marL="0">
              <a:buNone/>
            </a:pPr>
            <a:r>
              <a:rPr lang="en-US" sz="1400" b="1" dirty="0">
                <a:solidFill>
                  <a:srgbClr val="1B1F2A"/>
                </a:solidFill>
                <a:latin typeface="Cambria" pitchFamily="34" charset="0"/>
                <a:ea typeface="Cambria" pitchFamily="34" charset="-122"/>
                <a:cs typeface="Cambria" pitchFamily="34" charset="-120"/>
              </a:rPr>
              <a:t>Watch the generated pipeline</a:t>
            </a:r>
            <a:endParaRPr lang="en-US" sz="1400" dirty="0"/>
          </a:p>
        </p:txBody>
      </p:sp>
      <p:sp>
        <p:nvSpPr>
          <p:cNvPr id="11" name="Text 9"/>
          <p:cNvSpPr/>
          <p:nvPr/>
        </p:nvSpPr>
        <p:spPr>
          <a:xfrm>
            <a:off x="6400800" y="2359152"/>
            <a:ext cx="5394960" cy="493776"/>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it will only contain jobs for the services you touched</a:t>
            </a:r>
            <a:endParaRPr lang="en-US" sz="1250" dirty="0"/>
          </a:p>
        </p:txBody>
      </p:sp>
      <p:sp>
        <p:nvSpPr>
          <p:cNvPr id="12" name="Shape 10"/>
          <p:cNvSpPr/>
          <p:nvPr/>
        </p:nvSpPr>
        <p:spPr>
          <a:xfrm>
            <a:off x="548640" y="3154680"/>
            <a:ext cx="457200" cy="457200"/>
          </a:xfrm>
          <a:prstGeom prst="ellipse">
            <a:avLst/>
          </a:prstGeom>
          <a:solidFill>
            <a:srgbClr val="1C7293"/>
          </a:solidFill>
          <a:ln/>
        </p:spPr>
      </p:sp>
      <p:sp>
        <p:nvSpPr>
          <p:cNvPr id="13" name="Text 11"/>
          <p:cNvSpPr/>
          <p:nvPr/>
        </p:nvSpPr>
        <p:spPr>
          <a:xfrm>
            <a:off x="548640" y="315468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188720" y="3136392"/>
            <a:ext cx="5120640" cy="493776"/>
          </a:xfrm>
          <a:prstGeom prst="rect">
            <a:avLst/>
          </a:prstGeom>
          <a:noFill/>
          <a:ln/>
        </p:spPr>
        <p:txBody>
          <a:bodyPr wrap="square" rtlCol="0" anchor="ctr"/>
          <a:lstStyle/>
          <a:p>
            <a:pPr indent="0" marL="0">
              <a:buNone/>
            </a:pPr>
            <a:r>
              <a:rPr lang="en-US" sz="1400" b="1" dirty="0">
                <a:solidFill>
                  <a:srgbClr val="1B1F2A"/>
                </a:solidFill>
                <a:latin typeface="Cambria" pitchFamily="34" charset="0"/>
                <a:ea typeface="Cambria" pitchFamily="34" charset="-122"/>
                <a:cs typeface="Cambria" pitchFamily="34" charset="-120"/>
              </a:rPr>
              <a:t>Confirm the build job(s) succeed</a:t>
            </a:r>
            <a:endParaRPr lang="en-US" sz="1400" dirty="0"/>
          </a:p>
        </p:txBody>
      </p:sp>
      <p:sp>
        <p:nvSpPr>
          <p:cNvPr id="15" name="Text 13"/>
          <p:cNvSpPr/>
          <p:nvPr/>
        </p:nvSpPr>
        <p:spPr>
          <a:xfrm>
            <a:off x="6400800" y="3136392"/>
            <a:ext cx="5394960" cy="493776"/>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the tag is committed to the Helm project automatically</a:t>
            </a:r>
            <a:endParaRPr lang="en-US" sz="1250" dirty="0"/>
          </a:p>
        </p:txBody>
      </p:sp>
      <p:sp>
        <p:nvSpPr>
          <p:cNvPr id="16" name="Shape 14"/>
          <p:cNvSpPr/>
          <p:nvPr/>
        </p:nvSpPr>
        <p:spPr>
          <a:xfrm>
            <a:off x="548640" y="3931920"/>
            <a:ext cx="457200" cy="457200"/>
          </a:xfrm>
          <a:prstGeom prst="ellipse">
            <a:avLst/>
          </a:prstGeom>
          <a:solidFill>
            <a:srgbClr val="1C7293"/>
          </a:solidFill>
          <a:ln/>
        </p:spPr>
      </p:sp>
      <p:sp>
        <p:nvSpPr>
          <p:cNvPr id="17" name="Text 15"/>
          <p:cNvSpPr/>
          <p:nvPr/>
        </p:nvSpPr>
        <p:spPr>
          <a:xfrm>
            <a:off x="548640" y="393192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8" name="Text 16"/>
          <p:cNvSpPr/>
          <p:nvPr/>
        </p:nvSpPr>
        <p:spPr>
          <a:xfrm>
            <a:off x="1188720" y="3913632"/>
            <a:ext cx="5120640" cy="493776"/>
          </a:xfrm>
          <a:prstGeom prst="rect">
            <a:avLst/>
          </a:prstGeom>
          <a:noFill/>
          <a:ln/>
        </p:spPr>
        <p:txBody>
          <a:bodyPr wrap="square" rtlCol="0" anchor="ctr"/>
          <a:lstStyle/>
          <a:p>
            <a:pPr indent="0" marL="0">
              <a:buNone/>
            </a:pPr>
            <a:r>
              <a:rPr lang="en-US" sz="1400" b="1" dirty="0">
                <a:solidFill>
                  <a:srgbClr val="1B1F2A"/>
                </a:solidFill>
                <a:latin typeface="Cambria" pitchFamily="34" charset="0"/>
                <a:ea typeface="Cambria" pitchFamily="34" charset="-122"/>
                <a:cs typeface="Cambria" pitchFamily="34" charset="-120"/>
              </a:rPr>
              <a:t>Click the environment you want</a:t>
            </a:r>
            <a:endParaRPr lang="en-US" sz="1400" dirty="0"/>
          </a:p>
        </p:txBody>
      </p:sp>
      <p:sp>
        <p:nvSpPr>
          <p:cNvPr id="19" name="Text 17"/>
          <p:cNvSpPr/>
          <p:nvPr/>
        </p:nvSpPr>
        <p:spPr>
          <a:xfrm>
            <a:off x="6400800" y="3913632"/>
            <a:ext cx="5394960" cy="493776"/>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options depend on your branch — see branch/environment table — always manual</a:t>
            </a:r>
            <a:endParaRPr lang="en-US" sz="1250" dirty="0"/>
          </a:p>
        </p:txBody>
      </p:sp>
      <p:sp>
        <p:nvSpPr>
          <p:cNvPr id="20" name="Shape 18"/>
          <p:cNvSpPr/>
          <p:nvPr/>
        </p:nvSpPr>
        <p:spPr>
          <a:xfrm>
            <a:off x="548640" y="4709160"/>
            <a:ext cx="457200" cy="457200"/>
          </a:xfrm>
          <a:prstGeom prst="ellipse">
            <a:avLst/>
          </a:prstGeom>
          <a:solidFill>
            <a:srgbClr val="1C7293"/>
          </a:solidFill>
          <a:ln/>
        </p:spPr>
      </p:sp>
      <p:sp>
        <p:nvSpPr>
          <p:cNvPr id="21" name="Text 19"/>
          <p:cNvSpPr/>
          <p:nvPr/>
        </p:nvSpPr>
        <p:spPr>
          <a:xfrm>
            <a:off x="548640" y="470916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2" name="Text 20"/>
          <p:cNvSpPr/>
          <p:nvPr/>
        </p:nvSpPr>
        <p:spPr>
          <a:xfrm>
            <a:off x="1188720" y="4690872"/>
            <a:ext cx="5120640" cy="493776"/>
          </a:xfrm>
          <a:prstGeom prst="rect">
            <a:avLst/>
          </a:prstGeom>
          <a:noFill/>
          <a:ln/>
        </p:spPr>
        <p:txBody>
          <a:bodyPr wrap="square" rtlCol="0" anchor="ctr"/>
          <a:lstStyle/>
          <a:p>
            <a:pPr indent="0" marL="0">
              <a:buNone/>
            </a:pPr>
            <a:r>
              <a:rPr lang="en-US" sz="1400" b="1" dirty="0">
                <a:solidFill>
                  <a:srgbClr val="1B1F2A"/>
                </a:solidFill>
                <a:latin typeface="Cambria" pitchFamily="34" charset="0"/>
                <a:ea typeface="Cambria" pitchFamily="34" charset="-122"/>
                <a:cs typeface="Cambria" pitchFamily="34" charset="-120"/>
              </a:rPr>
              <a:t>Check the deploy job logs</a:t>
            </a:r>
            <a:endParaRPr lang="en-US" sz="1400" dirty="0"/>
          </a:p>
        </p:txBody>
      </p:sp>
      <p:sp>
        <p:nvSpPr>
          <p:cNvPr id="23" name="Text 21"/>
          <p:cNvSpPr/>
          <p:nvPr/>
        </p:nvSpPr>
        <p:spPr>
          <a:xfrm>
            <a:off x="6400800" y="4690872"/>
            <a:ext cx="5394960" cy="493776"/>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confirms which services were upgraded</a:t>
            </a:r>
            <a:endParaRPr lang="en-US" sz="1250" dirty="0"/>
          </a:p>
        </p:txBody>
      </p:sp>
      <p:sp>
        <p:nvSpPr>
          <p:cNvPr id="24" name="Shape 22"/>
          <p:cNvSpPr/>
          <p:nvPr/>
        </p:nvSpPr>
        <p:spPr>
          <a:xfrm>
            <a:off x="548640" y="5486400"/>
            <a:ext cx="457200" cy="457200"/>
          </a:xfrm>
          <a:prstGeom prst="ellipse">
            <a:avLst/>
          </a:prstGeom>
          <a:solidFill>
            <a:srgbClr val="1C7293"/>
          </a:solidFill>
          <a:ln/>
        </p:spPr>
      </p:sp>
      <p:sp>
        <p:nvSpPr>
          <p:cNvPr id="25" name="Text 23"/>
          <p:cNvSpPr/>
          <p:nvPr/>
        </p:nvSpPr>
        <p:spPr>
          <a:xfrm>
            <a:off x="548640" y="548640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26" name="Text 24"/>
          <p:cNvSpPr/>
          <p:nvPr/>
        </p:nvSpPr>
        <p:spPr>
          <a:xfrm>
            <a:off x="1188720" y="5468112"/>
            <a:ext cx="5120640" cy="493776"/>
          </a:xfrm>
          <a:prstGeom prst="rect">
            <a:avLst/>
          </a:prstGeom>
          <a:noFill/>
          <a:ln/>
        </p:spPr>
        <p:txBody>
          <a:bodyPr wrap="square" rtlCol="0" anchor="ctr"/>
          <a:lstStyle/>
          <a:p>
            <a:pPr indent="0" marL="0">
              <a:buNone/>
            </a:pPr>
            <a:r>
              <a:rPr lang="en-US" sz="1400" b="1" dirty="0">
                <a:solidFill>
                  <a:srgbClr val="1B1F2A"/>
                </a:solidFill>
                <a:latin typeface="Cambria" pitchFamily="34" charset="0"/>
                <a:ea typeface="Cambria" pitchFamily="34" charset="-122"/>
                <a:cs typeface="Cambria" pitchFamily="34" charset="-120"/>
              </a:rPr>
              <a:t>Automation env: 3 default test categories run automatically</a:t>
            </a:r>
            <a:endParaRPr lang="en-US" sz="1400" dirty="0"/>
          </a:p>
        </p:txBody>
      </p:sp>
      <p:sp>
        <p:nvSpPr>
          <p:cNvPr id="27" name="Text 25"/>
          <p:cNvSpPr/>
          <p:nvPr/>
        </p:nvSpPr>
        <p:spPr>
          <a:xfrm>
            <a:off x="6400800" y="5468112"/>
            <a:ext cx="5394960" cy="493776"/>
          </a:xfrm>
          <a:prstGeom prst="rect">
            <a:avLst/>
          </a:prstGeom>
          <a:noFill/>
          <a:ln/>
        </p:spPr>
        <p:txBody>
          <a:bodyPr wrap="square" rtlCol="0" anchor="ctr"/>
          <a:lstStyle/>
          <a:p>
            <a:pPr indent="0" marL="0">
              <a:buNone/>
            </a:pPr>
            <a:r>
              <a:rPr lang="en-US" sz="1250" dirty="0">
                <a:solidFill>
                  <a:srgbClr val="5B6572"/>
                </a:solidFill>
                <a:latin typeface="Calibri" pitchFamily="34" charset="0"/>
                <a:ea typeface="Calibri" pitchFamily="34" charset="-122"/>
                <a:cs typeface="Calibri" pitchFamily="34" charset="-120"/>
              </a:rPr>
              <a:t>need full/custom coverage? Use chaos-ci with your branch name</a:t>
            </a:r>
            <a:endParaRPr lang="en-US" sz="1250" dirty="0"/>
          </a:p>
        </p:txBody>
      </p:sp>
      <p:sp>
        <p:nvSpPr>
          <p:cNvPr id="28" name="Shape 26"/>
          <p:cNvSpPr/>
          <p:nvPr/>
        </p:nvSpPr>
        <p:spPr>
          <a:xfrm>
            <a:off x="548640" y="6172200"/>
            <a:ext cx="11064240" cy="18288"/>
          </a:xfrm>
          <a:prstGeom prst="roundRect">
            <a:avLst>
              <a:gd name="adj" fmla="val 400000"/>
            </a:avLst>
          </a:prstGeom>
          <a:solidFill>
            <a:srgbClr val="DCE3E8"/>
          </a:solidFill>
          <a:ln/>
        </p:spPr>
      </p:sp>
      <p:sp>
        <p:nvSpPr>
          <p:cNvPr id="29" name="Text 27"/>
          <p:cNvSpPr/>
          <p:nvPr/>
        </p:nvSpPr>
        <p:spPr>
          <a:xfrm>
            <a:off x="548640" y="6263640"/>
            <a:ext cx="11064240" cy="320040"/>
          </a:xfrm>
          <a:prstGeom prst="rect">
            <a:avLst/>
          </a:prstGeom>
          <a:noFill/>
          <a:ln/>
        </p:spPr>
        <p:txBody>
          <a:bodyPr wrap="square" rtlCol="0" anchor="ctr"/>
          <a:lstStyle/>
          <a:p>
            <a:pPr indent="0" marL="0">
              <a:buNone/>
            </a:pPr>
            <a:r>
              <a:rPr lang="en-US" sz="1200" i="1" dirty="0">
                <a:solidFill>
                  <a:srgbClr val="5B6572"/>
                </a:solidFill>
                <a:latin typeface="Calibri" pitchFamily="34" charset="0"/>
                <a:ea typeface="Calibri" pitchFamily="34" charset="-122"/>
                <a:cs typeface="Calibri" pitchFamily="34" charset="-120"/>
              </a:rPr>
              <a:t>Full written step-by-step guide is in the companion document.</a:t>
            </a:r>
            <a:endParaRPr lang="en-US" sz="1200" dirty="0"/>
          </a:p>
        </p:txBody>
      </p:sp>
      <p:sp>
        <p:nvSpPr>
          <p:cNvPr id="30" name="Text 28"/>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B6572"/>
                </a:solidFill>
                <a:latin typeface="Calibri" pitchFamily="34" charset="0"/>
                <a:ea typeface="Calibri" pitchFamily="34" charset="-122"/>
                <a:cs typeface="Calibri" pitchFamily="34" charset="-120"/>
              </a:rPr>
              <a:t>CI/CD Refactor</a:t>
            </a:r>
            <a:endParaRPr lang="en-US" sz="1000" dirty="0"/>
          </a:p>
        </p:txBody>
      </p:sp>
      <p:sp>
        <p:nvSpPr>
          <p:cNvPr id="31" name="Text 29"/>
          <p:cNvSpPr/>
          <p:nvPr/>
        </p:nvSpPr>
        <p:spPr>
          <a:xfrm>
            <a:off x="11457432" y="6528816"/>
            <a:ext cx="365760" cy="274320"/>
          </a:xfrm>
          <a:prstGeom prst="rect">
            <a:avLst/>
          </a:prstGeom>
          <a:noFill/>
          <a:ln/>
        </p:spPr>
        <p:txBody>
          <a:bodyPr wrap="square" rtlCol="0" anchor="ctr"/>
          <a:lstStyle/>
          <a:p>
            <a:pPr algn="r" indent="0" marL="0">
              <a:buNone/>
            </a:pPr>
            <a:r>
              <a:rPr lang="en-US" sz="1000" dirty="0">
                <a:solidFill>
                  <a:srgbClr val="5B65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2286000" y="3200400"/>
            <a:ext cx="5943600" cy="5943600"/>
          </a:xfrm>
          <a:prstGeom prst="ellipse">
            <a:avLst/>
          </a:prstGeom>
          <a:solidFill>
            <a:srgbClr val="065A82">
              <a:alpha val="45000"/>
            </a:srgbClr>
          </a:solidFill>
          <a:ln/>
        </p:spPr>
      </p:sp>
      <p:sp>
        <p:nvSpPr>
          <p:cNvPr id="3" name="Text 1"/>
          <p:cNvSpPr/>
          <p:nvPr/>
        </p:nvSpPr>
        <p:spPr>
          <a:xfrm>
            <a:off x="731520" y="2651760"/>
            <a:ext cx="91440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Questions?</a:t>
            </a:r>
            <a:endParaRPr lang="en-US" sz="4000" dirty="0"/>
          </a:p>
        </p:txBody>
      </p:sp>
      <p:sp>
        <p:nvSpPr>
          <p:cNvPr id="4" name="Text 2"/>
          <p:cNvSpPr/>
          <p:nvPr/>
        </p:nvSpPr>
        <p:spPr>
          <a:xfrm>
            <a:off x="731520" y="3566160"/>
            <a:ext cx="9144000" cy="73152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Docs, folder paths, and troubleshooting live in the companion guide.</a:t>
            </a:r>
            <a:endParaRPr lang="en-US" sz="1500" dirty="0"/>
          </a:p>
          <a:p>
            <a:pPr indent="0" marL="0">
              <a:buNone/>
            </a:pPr>
            <a:r>
              <a:rPr lang="en-US" sz="1500" dirty="0">
                <a:solidFill>
                  <a:srgbClr val="CADCFC"/>
                </a:solidFill>
                <a:latin typeface="Calibri" pitchFamily="34" charset="0"/>
                <a:ea typeface="Calibri" pitchFamily="34" charset="-122"/>
                <a:cs typeface="Calibri" pitchFamily="34" charset="-120"/>
              </a:rPr>
              <a:t>Reach out any time in #devops.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2026-07-16T09:50:01Z</dcterms:created>
  <dcterms:modified xsi:type="dcterms:W3CDTF">2026-07-16T09:50:01Z</dcterms:modified>
</cp:coreProperties>
</file>