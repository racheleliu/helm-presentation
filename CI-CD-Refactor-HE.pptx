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ברוכים הבאים. היום נעבור על ה-CI/CD refactor שלנו: למה שינינו אותו, איך ה-pipeline החדש עובד מקצה לקצה, ואיך בפועל מריצים אותו. נעבור מהמודל הישן של 3 פרויקטים למודל החדש של Nx affected ו-catdevops, נסביר למה זה בעצם מעבר ל-GitOps, ונסיים בהדגמה מעשית.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סדר יום מהיר: מאיפה התחלנו, למה אנחנו משנים את זה — המוטיבציה של GitOps — מה משתנה מבחינה מכנית, סקירה מפורטת של ה-pipeline החדש כולל פוליי-repos, לאחר מכן חלק מעשי של איך להריץ, וזמן לשאלות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בעבר, פריסה הייתה מתחילה באחד משלושה פרויקטים נפרדים בהתאם ליעד: chaos-ci לסביבת האוטומציה והרצת הטסטים, cflow-cd לטסט, ו-deploy-cd לפרודקשן. המפתח בוחר את השירות ב-UI של אותו פרויקט, וזה מה שמפעיל את שאר השרשרת.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חשוב לדייק בכיוון: המפתח מתחיל באחד מ-chaos-ci, cflow-cd, או deploy-cd, בהתאם לסביבה הרצויה, ומזין שם את השירות. אותו פרויקט מפעיל את ה-pipeline הראשי של פרויקט ה-Nx, שקורא את המשתנים שקיבל וכולל את קובץ ה-.gitlab-ci.yml המתאים של האפליקציה — שם באמת רצים ה-build וה-deploy jobs. כלומר, ההפעלה זורמת מפרויקט ה-CD, דרך ה-Nx, ואל תוך ה-jobs ברמת האפליקציה.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לפני שנדבר על הפתרון, כדאי לעצור רגע על הבעיות עצמן: משתנים ידניים בכל הרצה, כל push שעלול לבנות הכול מחדש גם כשרק שירות אחד השתנה, לוגיקת pipeline משוכפלת בכל אפליקציה, שלושה פרויקטי CD נפרדים לתחזק, ואין תיעוד קבוע למה שבאמת רץ ואיפה. ההחלטה שלנו הייתה לעבור למודל המבוסס על Nx affected, catdevops, ו-Helm כמקור אמת — GitOps — בדיוק כי הוא פותר את כל חמש הבעיות האלה בבת אחת, לא רק חלק מהן.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מקום לדוגמה חיה של הפייפליין הישן — צילום מסך או קישור ל-pipeline ב-GitLab שמראה את התהליך הישן בפעולה.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חשוב להיות מפורשים לגבי הסיבה שאנחנו עושים את זה בכלל: המטרה היא לעבור למודל GitOps, שבו פרויקט ה-Helm הוא מקור האמת הדקלרטיבי, וה-pipeline שלנו מוביל את OpenShift בדיוק למה שמחובר שם. חשוב לדייק: כרגע זו גישת push — ה-pipeline הוא זה שדוחף. שכבת סנכרון מבוססת pull כמו ArgoCD, שהייתה עוקבת ומתקנת סטיות באופן רציף לבד, נמצאת במפת הדרכים שלנו.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מעבר למכניקה, הנה מה ש-GitOps באמת נותן לנו: מקור אמת יחיד למה שאמור לרוץ, היסטוריית גרסאות מלאה על כל שינוי, נראות קלה למה פרוס ואיפה, נתיב התאוששות מאסון מהיר בהרבה כי פרויקט ה-Helm לבדו יכול לשחזר את המצב הרצוי, מסלול ביקורת נקי לתאימות, והתנהגות עקבית בכל סביבה במקום סטייה ידנית ספציפית לסביבה.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שלושה מרכיבים מרכיבים את המודל החדש: catdevops כספרייה משותפת כך שלוגיקת ה-pipeline נמצאת במקום אחד בכל ה-repos, nx affected כדי שנבנה רק מה שהשתנה, ואספקה מבוססת Helm כך ש-OpenShift משקף בדיוק את מה שמחובר — זהו חלק ה-GitOps.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הנה התהליך המלא מקצה לקצה. push או MR — בפרויקט ה-Nx או בפוליי-repo — מפעיל nx affected, שיוצר pipeline דינמי עם build job אחד לכל שירות שהשתנה. כל build מבצע commit ל-tag החדש שלו לפרויקט ה-Helm תחת תיקייה לפי שם ה-branch. לאחר מכן המפתח בוחר ידנית סביבה, job הפריסה מריץ helm upgrade רק לשירותים שהשתנו, וטסטים אוטומטיים רצים אוטומטית בפריסה לסביבת האוטומציה, ומכסים את 3 הקטגוריות ברירת המחדל שלנו. נעבור על כל אחד מהשלבים בפירוט.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מקום לדוגמה חיה של הפייפליין החדש — צילום מסך או קישור ל-pipeline ב-GitLab שמראה את nx affected, ה-commit ל-Helm, ובחירת הסביבה בפעולה.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לא רק למונו-repo של Nx — גם פוליי-repos מאמצים את catdevops, עם אותו תהליך בדיוק של push שמפעיל build ו-commit ל-Helm, ואז בחירת סביבה. ההערה התפעולית החשובה: אם פיצ'ר משתרע גם על ה-Nx repo וגם על פוליי-repo, שני ה-branches צריכים להיות באותו שם, כי השם הוא מפתח התיקייה בפרויקט ה-Helm — כך שירותי שני ה-repos נוחתים יחד עבור אותו פיצ'ר.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בסיס ההשוואה תלוי בהקשר: כשאין MR פתוח, משווים מול הקומיט הקודם; כשיש MR פתוח, משווים מול ה-branch היעד שלו. בשני המקרים, רק השירותים המושפעים מקבלים build job ב-pipeline שנוצר — בדוגמה הזו, רק billing-service ו-notification-service באמת נבנים.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ברגע ששירות נבנה בהצלחה, ה-job מבצע commit ל-tag חדש לפרויקט ה-Helm, תחת תיקייה על שם ה-branch המקורי לאחר המרה (slugify). התיקייה מכילה serviceName, image, ו-tag — זה מה ש-OpenShift משקף, וזה משותף גם ל-Nx repo וגם לכל פוליי-repo שמשתמש באותו שם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חשוב להיות מפורשים לגבי מודל ה-promotion, כי הוא לא זהה בכל מקום: עבור אוטומציה וטסט, ה-tag של ה-image הוא ה-commit SHA של branch ה-feature או ה-preprod, נדחף ל-repo של dev ב-Artifactory. עבור פרודקשן, merge ל-master מפעיל build טרי של אותו commit — image חדש עם tag שהוא ה-SHA של master, נדחף ל-repo של פרודקשן ב-Artifactory. כך שפרודקשן תמיד מריץ משהו שנבנה במיוחד מ-master, לא image של dev שקיבל תווית מחדש — זו גישת build-מחדש-לפרודקשן ולא build-אחד-promotion-לכל-מקום.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אפשרויות הסביבה אינן קבוצה קבועה של שלוש עבור כל הרצה — הן תלויות ב-branch. ה-branches של feature מציעים אוטומציה וטסט. ה-branch preprod מציע אוטומציה (טסטים) ואינטגרציה. master מציע פרודקשן. בכל מקרה, המפתח עדיין לוחץ ידנית על מה שהוא רוצה להפעיל — שום דבר לא קורה אוטומטית.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כברירת מחדל, פריסה לסביבת אוטומציה/QA מריצה אוטומטית את 3 קטגוריות הטסט הסטנדרטיות שלנו — פריסה לטסט או לפרודקשן לא מפעילה שום דבר בעצמה, בדיוק כמו קודם. אם מפתח צריך את כל הקטגוריות או שילוב מותאם אישית, chaos-ci עדיין זמין לכך: להזין את ה-branch לפריסה, שם ה-branch של האוטומציה, ואילו קטגוריות להריץ.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שלושה מקרים נוספים שבהם עדיין עובדים מול chaos-ci ישירות: פריסה מקבילה של splash — מערכת של צוות אחר שלפעמים יש איתה ממשק, ורוצים לפרוס את הרכיבים שלה יחד עם ה-feature branch שלנו, אז מריצים chaos-ci ידנית עם שם ה-branch; הוספת טסט חדש לאוטומציה — כדי להריץ את כל הקטגוריות על ה-feature branch ולוודא שהטסט החדש תקין; וההרצה הקבועה בכל לילה, שגם היא רצה דרך chaos-ci.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rollback משתמש בדיוק באותו מנגנון כמו כל שינוי אחר: מבצעים revert לקומיט ב-master, דוחפים אותו, וה-pipeline הרגיל רץ — nx affected מזהה מה ה-revert נוגע בו, build טרי מייצר image חדש עם tag שהוא ה-SHA של ה-revert עצמו, ה-tag מתחבר ל-Helm כרגיל, והפריסה לפרודקשן עדיין job ידני כמו כל release אחר. אין כלי rollback נפרד ללמוד.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סיכום זה מול זה: ההגדרות עוברות ממשתני UI ידניים ל-includes משותפים של catdevops בתוספת nx affected; היקף ה-build מצטמצם לרק מה שהשתנה; האספקה מתאחדת לפרויקט Helm אחד כש-OpenShift משקף כל commit — חלק ה-GitOps; זה משתרע כעת גם על פוליי-repos, לא רק על המונו-repo של Nx; בחירת הסביבה הופכת לבחירה ידנית בתוך pipeline אחד; וטסטים אוטומטיים שומרים על נקודת ההפעלה ברירת המחדל שלהם, כש-chaos-ci הפך לכלי להרצות מלאות או מותאמות אישית.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דברים במפת הדרכים: ArgoCD, שיעביר אותנו מאספקה מבוססת push לגישת GitOps אמיתית מבוססת pull — operator לסנכרון שעוקב ברציפות אחרי פרויקט ה-Helm ומתקן סטיות בעצמו, גם משינוי חיצוני ל-cluster. וסביבות דינמיות — הקמת סביבות אוטומציה וטסט על פי דרישה לכל branch או MR במקום שיתוף קבוצה קבועה, מה שמפחית תחרות על משאבים ומשפר בידוד טסטים.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להתייחסות — כאן ייכנס קישור התיעוד של catdevops ברגע שיהיה לנו. הצוות הבעלים הוא DevOps, וכל פרויקט מכליל אותו באותה צורה: include בראש קובץ ה-.gitlab-ci.yml.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בפועל: לבצע push או לפתוח MR כרגיל, לשמור על שמות branch תואמים אם הפיצ'ר משתרע על פוליי-repo, לעקוב אחרי ה-pipeline שנוצר כדי לראות אילו שירותים הוא אסף, לוודא שה-build הצליח, ואז ללחוץ ידנית על הסביבה הרצויה. לבדוק את לוגי הפריסה כדי לאשר מה עודכן. באוטומציה, 3 הקטגוריות ברירת המחדל רצות אוטומטית; לכיסוי מלא או מותאם, יש להשתמש ב-chaos-ci. המסמך הנלווה מפרט את זה במלואו.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התמונה המלאה — אשמח לענות על שאלות, והמדריך הכתוב מכסה כל שלב בפירוט רב יותר אם תרצו להתייחס אליו בהמשך.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Shape 0"/>
          <p:cNvSpPr/>
          <p:nvPr/>
        </p:nvSpPr>
        <p:spPr>
          <a:xfrm>
            <a:off x="8778240" y="-2011680"/>
            <a:ext cx="5943600" cy="5943600"/>
          </a:xfrm>
          <a:prstGeom prst="ellipse">
            <a:avLst/>
          </a:prstGeom>
          <a:solidFill>
            <a:srgbClr val="3949AB">
              <a:alpha val="45000"/>
            </a:srgbClr>
          </a:solidFill>
          <a:ln/>
        </p:spPr>
      </p:sp>
      <p:sp>
        <p:nvSpPr>
          <p:cNvPr id="3" name="Shape 1"/>
          <p:cNvSpPr/>
          <p:nvPr/>
        </p:nvSpPr>
        <p:spPr>
          <a:xfrm>
            <a:off x="10607040" y="4023360"/>
            <a:ext cx="3840480" cy="3840480"/>
          </a:xfrm>
          <a:prstGeom prst="ellipse">
            <a:avLst/>
          </a:prstGeom>
          <a:solidFill>
            <a:srgbClr val="00A896">
              <a:alpha val="60000"/>
            </a:srgbClr>
          </a:solidFill>
          <a:ln/>
        </p:spPr>
      </p:sp>
      <p:sp>
        <p:nvSpPr>
          <p:cNvPr id="4" name="Text 2"/>
          <p:cNvSpPr/>
          <p:nvPr/>
        </p:nvSpPr>
        <p:spPr>
          <a:xfrm>
            <a:off x="731520" y="2148840"/>
            <a:ext cx="10698480" cy="457200"/>
          </a:xfrm>
          <a:prstGeom prst="rect">
            <a:avLst/>
          </a:prstGeom>
          <a:noFill/>
          <a:ln/>
        </p:spPr>
        <p:txBody>
          <a:bodyPr wrap="square" rtlCol="0" anchor="ctr"/>
          <a:lstStyle/>
          <a:p>
            <a:pPr rtl="1" algn="r" indent="0" marL="0">
              <a:buNone/>
            </a:pPr>
            <a:r>
              <a:rPr lang="en-US" sz="1400" b="1" spc="100" kern="0" dirty="0">
                <a:solidFill>
                  <a:srgbClr val="6FE7DD"/>
                </a:solidFill>
                <a:latin typeface="Arial" pitchFamily="34" charset="0"/>
                <a:ea typeface="Arial" pitchFamily="34" charset="-122"/>
                <a:cs typeface="Arial" pitchFamily="34" charset="-120"/>
              </a:rPr>
              <a:t>CI/CD Refactor</a:t>
            </a:r>
            <a:endParaRPr lang="en-US" sz="1400" dirty="0"/>
          </a:p>
        </p:txBody>
      </p:sp>
      <p:sp>
        <p:nvSpPr>
          <p:cNvPr id="5" name="Text 3"/>
          <p:cNvSpPr/>
          <p:nvPr/>
        </p:nvSpPr>
        <p:spPr>
          <a:xfrm>
            <a:off x="731520" y="2560320"/>
            <a:ext cx="10698480" cy="1737360"/>
          </a:xfrm>
          <a:prstGeom prst="rect">
            <a:avLst/>
          </a:prstGeom>
          <a:noFill/>
          <a:ln/>
        </p:spPr>
        <p:txBody>
          <a:bodyPr wrap="square" rtlCol="0" anchor="ctr"/>
          <a:lstStyle/>
          <a:p>
            <a:pPr rtl="1" algn="r" indent="0" marL="0">
              <a:lnSpc>
                <a:spcPct val="115000"/>
              </a:lnSpc>
              <a:buNone/>
            </a:pPr>
            <a:r>
              <a:rPr lang="en-US" sz="3800" b="1" dirty="0">
                <a:solidFill>
                  <a:srgbClr val="FFFFFF"/>
                </a:solidFill>
                <a:latin typeface="Arial" pitchFamily="34" charset="0"/>
                <a:ea typeface="Arial" pitchFamily="34" charset="-122"/>
                <a:cs typeface="Arial" pitchFamily="34" charset="-120"/>
              </a:rPr>
              <a:t>pipeline אחד מאוחד,</a:t>
            </a:r>
            <a:endParaRPr lang="en-US" sz="3800" dirty="0"/>
          </a:p>
          <a:p>
            <a:pPr rtl="1" algn="r" indent="0" marL="0">
              <a:lnSpc>
                <a:spcPct val="115000"/>
              </a:lnSpc>
              <a:buNone/>
            </a:pPr>
            <a:r>
              <a:rPr lang="en-US" sz="3800" b="1" dirty="0">
                <a:solidFill>
                  <a:srgbClr val="FFFFFF"/>
                </a:solidFill>
                <a:latin typeface="Arial" pitchFamily="34" charset="0"/>
                <a:ea typeface="Arial" pitchFamily="34" charset="-122"/>
                <a:cs typeface="Arial" pitchFamily="34" charset="-120"/>
              </a:rPr>
              <a:t>בנוי על Nx Affected ו-catdevops</a:t>
            </a:r>
            <a:endParaRPr lang="en-US" sz="3800" dirty="0"/>
          </a:p>
        </p:txBody>
      </p:sp>
      <p:sp>
        <p:nvSpPr>
          <p:cNvPr id="6" name="Text 4"/>
          <p:cNvSpPr/>
          <p:nvPr/>
        </p:nvSpPr>
        <p:spPr>
          <a:xfrm>
            <a:off x="731520" y="4434840"/>
            <a:ext cx="10698480" cy="731520"/>
          </a:xfrm>
          <a:prstGeom prst="rect">
            <a:avLst/>
          </a:prstGeom>
          <a:noFill/>
          <a:ln/>
        </p:spPr>
        <p:txBody>
          <a:bodyPr wrap="square" rtlCol="0" anchor="ctr"/>
          <a:lstStyle/>
          <a:p>
            <a:pPr rtl="1" algn="r" indent="0" marL="0">
              <a:buNone/>
            </a:pPr>
            <a:r>
              <a:rPr lang="en-US" sz="1600" dirty="0">
                <a:solidFill>
                  <a:srgbClr val="CADCFC"/>
                </a:solidFill>
                <a:latin typeface="Arial" pitchFamily="34" charset="0"/>
                <a:ea typeface="Arial" pitchFamily="34" charset="-122"/>
                <a:cs typeface="Arial" pitchFamily="34" charset="-120"/>
              </a:rPr>
              <a:t>איך עברנו משלושה פרויקטי CI/CD נפרדים ל-pipeline אחד,</a:t>
            </a:r>
            <a:endParaRPr lang="en-US" sz="1600" dirty="0"/>
          </a:p>
          <a:p>
            <a:pPr rtl="1" algn="r" indent="0" marL="0">
              <a:buNone/>
            </a:pPr>
            <a:r>
              <a:rPr lang="en-US" sz="1600" dirty="0">
                <a:solidFill>
                  <a:srgbClr val="CADCFC"/>
                </a:solidFill>
                <a:latin typeface="Arial" pitchFamily="34" charset="0"/>
                <a:ea typeface="Arial" pitchFamily="34" charset="-122"/>
                <a:cs typeface="Arial" pitchFamily="34" charset="-120"/>
              </a:rPr>
              <a:t>מבוסס GitOps ומודע לשירותים — וכיצד להריץ אותו.</a:t>
            </a:r>
            <a:endParaRPr lang="en-US" sz="1600" dirty="0"/>
          </a:p>
        </p:txBody>
      </p:sp>
      <p:sp>
        <p:nvSpPr>
          <p:cNvPr id="7" name="Shape 5"/>
          <p:cNvSpPr/>
          <p:nvPr/>
        </p:nvSpPr>
        <p:spPr>
          <a:xfrm>
            <a:off x="10424160" y="5623560"/>
            <a:ext cx="1005840" cy="0"/>
          </a:xfrm>
          <a:prstGeom prst="line">
            <a:avLst/>
          </a:prstGeom>
          <a:noFill/>
          <a:ln w="38100">
            <a:solidFill>
              <a:srgbClr val="6FE7DD"/>
            </a:solidFill>
            <a:prstDash val="solid"/>
          </a:ln>
        </p:spPr>
      </p:sp>
      <p:sp>
        <p:nvSpPr>
          <p:cNvPr id="8" name="Text 6"/>
          <p:cNvSpPr/>
          <p:nvPr/>
        </p:nvSpPr>
        <p:spPr>
          <a:xfrm>
            <a:off x="731520" y="5806440"/>
            <a:ext cx="10698480" cy="365760"/>
          </a:xfrm>
          <a:prstGeom prst="rect">
            <a:avLst/>
          </a:prstGeom>
          <a:noFill/>
          <a:ln/>
        </p:spPr>
        <p:txBody>
          <a:bodyPr wrap="square" rtlCol="0" anchor="ctr"/>
          <a:lstStyle/>
          <a:p>
            <a:pPr rtl="1" algn="r" indent="0" marL="0">
              <a:buNone/>
            </a:pPr>
            <a:r>
              <a:rPr lang="en-US" sz="1300" dirty="0">
                <a:solidFill>
                  <a:srgbClr val="9FB3D9"/>
                </a:solidFill>
                <a:latin typeface="Arial" pitchFamily="34" charset="0"/>
                <a:ea typeface="Arial" pitchFamily="34" charset="-122"/>
                <a:cs typeface="Arial" pitchFamily="34" charset="-120"/>
              </a:rPr>
              <a:t>פלטפורמה ו-DevOps • מצגת צוות</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סדר היום</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מה נעבור היום</a:t>
            </a:r>
            <a:endParaRPr lang="en-US" sz="3000" dirty="0"/>
          </a:p>
        </p:txBody>
      </p:sp>
      <p:sp>
        <p:nvSpPr>
          <p:cNvPr id="5" name="Shape 3"/>
          <p:cNvSpPr/>
          <p:nvPr/>
        </p:nvSpPr>
        <p:spPr>
          <a:xfrm>
            <a:off x="11021263" y="1417320"/>
            <a:ext cx="530352" cy="530352"/>
          </a:xfrm>
          <a:prstGeom prst="ellipse">
            <a:avLst/>
          </a:prstGeom>
          <a:solidFill>
            <a:srgbClr val="3949AB"/>
          </a:solidFill>
          <a:ln/>
        </p:spPr>
      </p:sp>
      <p:sp>
        <p:nvSpPr>
          <p:cNvPr id="6" name="Text 4"/>
          <p:cNvSpPr/>
          <p:nvPr/>
        </p:nvSpPr>
        <p:spPr>
          <a:xfrm>
            <a:off x="11021263" y="1417320"/>
            <a:ext cx="530352" cy="53035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01</a:t>
            </a:r>
            <a:endParaRPr lang="en-US" sz="2000" dirty="0"/>
          </a:p>
        </p:txBody>
      </p:sp>
      <p:sp>
        <p:nvSpPr>
          <p:cNvPr id="7" name="Text 5"/>
          <p:cNvSpPr/>
          <p:nvPr/>
        </p:nvSpPr>
        <p:spPr>
          <a:xfrm>
            <a:off x="5516575" y="1399032"/>
            <a:ext cx="5257800" cy="347472"/>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מאיפה התחלנו</a:t>
            </a:r>
            <a:endParaRPr lang="en-US" sz="1700" dirty="0"/>
          </a:p>
        </p:txBody>
      </p:sp>
      <p:sp>
        <p:nvSpPr>
          <p:cNvPr id="8" name="Text 6"/>
          <p:cNvSpPr/>
          <p:nvPr/>
        </p:nvSpPr>
        <p:spPr>
          <a:xfrm>
            <a:off x="2956255" y="1746504"/>
            <a:ext cx="7818120" cy="329184"/>
          </a:xfrm>
          <a:prstGeom prst="rect">
            <a:avLst/>
          </a:prstGeom>
          <a:noFill/>
          <a:ln/>
        </p:spPr>
        <p:txBody>
          <a:bodyPr wrap="square" rtlCol="0" anchor="ctr"/>
          <a:lstStyle/>
          <a:p>
            <a:pPr rtl="1" algn="r" indent="0" marL="0">
              <a:buNone/>
            </a:pPr>
            <a:r>
              <a:rPr lang="en-US" sz="1250" dirty="0">
                <a:solidFill>
                  <a:srgbClr val="5B6572"/>
                </a:solidFill>
                <a:latin typeface="Arial" pitchFamily="34" charset="0"/>
                <a:ea typeface="Arial" pitchFamily="34" charset="-122"/>
                <a:cs typeface="Arial" pitchFamily="34" charset="-120"/>
              </a:rPr>
              <a:t>מודל ה-CI/CD הישן עם 3 הפרויקטים, ונקודות הכאב שלו</a:t>
            </a:r>
            <a:endParaRPr lang="en-US" sz="1250" dirty="0"/>
          </a:p>
        </p:txBody>
      </p:sp>
      <p:sp>
        <p:nvSpPr>
          <p:cNvPr id="9" name="Shape 7"/>
          <p:cNvSpPr/>
          <p:nvPr/>
        </p:nvSpPr>
        <p:spPr>
          <a:xfrm>
            <a:off x="11021263" y="2258568"/>
            <a:ext cx="530352" cy="530352"/>
          </a:xfrm>
          <a:prstGeom prst="ellipse">
            <a:avLst/>
          </a:prstGeom>
          <a:solidFill>
            <a:srgbClr val="3949AB"/>
          </a:solidFill>
          <a:ln/>
        </p:spPr>
      </p:sp>
      <p:sp>
        <p:nvSpPr>
          <p:cNvPr id="10" name="Text 8"/>
          <p:cNvSpPr/>
          <p:nvPr/>
        </p:nvSpPr>
        <p:spPr>
          <a:xfrm>
            <a:off x="11021263" y="2258568"/>
            <a:ext cx="530352" cy="53035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02</a:t>
            </a:r>
            <a:endParaRPr lang="en-US" sz="2000" dirty="0"/>
          </a:p>
        </p:txBody>
      </p:sp>
      <p:sp>
        <p:nvSpPr>
          <p:cNvPr id="11" name="Text 9"/>
          <p:cNvSpPr/>
          <p:nvPr/>
        </p:nvSpPr>
        <p:spPr>
          <a:xfrm>
            <a:off x="5516575" y="2240280"/>
            <a:ext cx="5257800" cy="347472"/>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למה אנחנו משנים את זה</a:t>
            </a:r>
            <a:endParaRPr lang="en-US" sz="1700" dirty="0"/>
          </a:p>
        </p:txBody>
      </p:sp>
      <p:sp>
        <p:nvSpPr>
          <p:cNvPr id="12" name="Text 10"/>
          <p:cNvSpPr/>
          <p:nvPr/>
        </p:nvSpPr>
        <p:spPr>
          <a:xfrm>
            <a:off x="2956255" y="2587752"/>
            <a:ext cx="7818120" cy="329184"/>
          </a:xfrm>
          <a:prstGeom prst="rect">
            <a:avLst/>
          </a:prstGeom>
          <a:noFill/>
          <a:ln/>
        </p:spPr>
        <p:txBody>
          <a:bodyPr wrap="square" rtlCol="0" anchor="ctr"/>
          <a:lstStyle/>
          <a:p>
            <a:pPr rtl="1" algn="r" indent="0" marL="0">
              <a:buNone/>
            </a:pPr>
            <a:r>
              <a:rPr lang="en-US" sz="1250" dirty="0">
                <a:solidFill>
                  <a:srgbClr val="5B6572"/>
                </a:solidFill>
                <a:latin typeface="Arial" pitchFamily="34" charset="0"/>
                <a:ea typeface="Arial" pitchFamily="34" charset="-122"/>
                <a:cs typeface="Arial" pitchFamily="34" charset="-120"/>
              </a:rPr>
              <a:t>המעבר ל-GitOps, והערך שהוא נותן לנו</a:t>
            </a:r>
            <a:endParaRPr lang="en-US" sz="1250" dirty="0"/>
          </a:p>
        </p:txBody>
      </p:sp>
      <p:sp>
        <p:nvSpPr>
          <p:cNvPr id="13" name="Shape 11"/>
          <p:cNvSpPr/>
          <p:nvPr/>
        </p:nvSpPr>
        <p:spPr>
          <a:xfrm>
            <a:off x="11021263" y="3099816"/>
            <a:ext cx="530352" cy="530352"/>
          </a:xfrm>
          <a:prstGeom prst="ellipse">
            <a:avLst/>
          </a:prstGeom>
          <a:solidFill>
            <a:srgbClr val="3949AB"/>
          </a:solidFill>
          <a:ln/>
        </p:spPr>
      </p:sp>
      <p:sp>
        <p:nvSpPr>
          <p:cNvPr id="14" name="Text 12"/>
          <p:cNvSpPr/>
          <p:nvPr/>
        </p:nvSpPr>
        <p:spPr>
          <a:xfrm>
            <a:off x="11021263" y="3099816"/>
            <a:ext cx="530352" cy="53035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03</a:t>
            </a:r>
            <a:endParaRPr lang="en-US" sz="2000" dirty="0"/>
          </a:p>
        </p:txBody>
      </p:sp>
      <p:sp>
        <p:nvSpPr>
          <p:cNvPr id="15" name="Text 13"/>
          <p:cNvSpPr/>
          <p:nvPr/>
        </p:nvSpPr>
        <p:spPr>
          <a:xfrm>
            <a:off x="5516575" y="3081528"/>
            <a:ext cx="5257800" cy="347472"/>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מה משתנה</a:t>
            </a:r>
            <a:endParaRPr lang="en-US" sz="1700" dirty="0"/>
          </a:p>
        </p:txBody>
      </p:sp>
      <p:sp>
        <p:nvSpPr>
          <p:cNvPr id="16" name="Text 14"/>
          <p:cNvSpPr/>
          <p:nvPr/>
        </p:nvSpPr>
        <p:spPr>
          <a:xfrm>
            <a:off x="2956255" y="3429000"/>
            <a:ext cx="7818120" cy="329184"/>
          </a:xfrm>
          <a:prstGeom prst="rect">
            <a:avLst/>
          </a:prstGeom>
          <a:noFill/>
          <a:ln/>
        </p:spPr>
        <p:txBody>
          <a:bodyPr wrap="square" rtlCol="0" anchor="ctr"/>
          <a:lstStyle/>
          <a:p>
            <a:pPr rtl="1" algn="r" indent="0" marL="0">
              <a:buNone/>
            </a:pPr>
            <a:r>
              <a:rPr lang="en-US" sz="1250" dirty="0">
                <a:solidFill>
                  <a:srgbClr val="5B6572"/>
                </a:solidFill>
                <a:latin typeface="Arial" pitchFamily="34" charset="0"/>
                <a:ea typeface="Arial" pitchFamily="34" charset="-122"/>
                <a:cs typeface="Arial" pitchFamily="34" charset="-120"/>
              </a:rPr>
              <a:t>catdevops, Nx affected, ואספקה מבוססת Helm</a:t>
            </a:r>
            <a:endParaRPr lang="en-US" sz="1250" dirty="0"/>
          </a:p>
        </p:txBody>
      </p:sp>
      <p:sp>
        <p:nvSpPr>
          <p:cNvPr id="17" name="Shape 15"/>
          <p:cNvSpPr/>
          <p:nvPr/>
        </p:nvSpPr>
        <p:spPr>
          <a:xfrm>
            <a:off x="11021263" y="3941064"/>
            <a:ext cx="530352" cy="530352"/>
          </a:xfrm>
          <a:prstGeom prst="ellipse">
            <a:avLst/>
          </a:prstGeom>
          <a:solidFill>
            <a:srgbClr val="3949AB"/>
          </a:solidFill>
          <a:ln/>
        </p:spPr>
      </p:sp>
      <p:sp>
        <p:nvSpPr>
          <p:cNvPr id="18" name="Text 16"/>
          <p:cNvSpPr/>
          <p:nvPr/>
        </p:nvSpPr>
        <p:spPr>
          <a:xfrm>
            <a:off x="11021263" y="3941064"/>
            <a:ext cx="530352" cy="53035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04</a:t>
            </a:r>
            <a:endParaRPr lang="en-US" sz="2000" dirty="0"/>
          </a:p>
        </p:txBody>
      </p:sp>
      <p:sp>
        <p:nvSpPr>
          <p:cNvPr id="19" name="Text 17"/>
          <p:cNvSpPr/>
          <p:nvPr/>
        </p:nvSpPr>
        <p:spPr>
          <a:xfrm>
            <a:off x="5516575" y="3922776"/>
            <a:ext cx="5257800" cy="347472"/>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ה-pipeline החדש, שלב אחר שלב</a:t>
            </a:r>
            <a:endParaRPr lang="en-US" sz="1700" dirty="0"/>
          </a:p>
        </p:txBody>
      </p:sp>
      <p:sp>
        <p:nvSpPr>
          <p:cNvPr id="20" name="Text 18"/>
          <p:cNvSpPr/>
          <p:nvPr/>
        </p:nvSpPr>
        <p:spPr>
          <a:xfrm>
            <a:off x="2956255" y="4270248"/>
            <a:ext cx="7818120" cy="329184"/>
          </a:xfrm>
          <a:prstGeom prst="rect">
            <a:avLst/>
          </a:prstGeom>
          <a:noFill/>
          <a:ln/>
        </p:spPr>
        <p:txBody>
          <a:bodyPr wrap="square" rtlCol="0" anchor="ctr"/>
          <a:lstStyle/>
          <a:p>
            <a:pPr rtl="1" algn="r" indent="0" marL="0">
              <a:buNone/>
            </a:pPr>
            <a:r>
              <a:rPr lang="en-US" sz="1250" dirty="0">
                <a:solidFill>
                  <a:srgbClr val="5B6572"/>
                </a:solidFill>
                <a:latin typeface="Arial" pitchFamily="34" charset="0"/>
                <a:ea typeface="Arial" pitchFamily="34" charset="-122"/>
                <a:cs typeface="Arial" pitchFamily="34" charset="-120"/>
              </a:rPr>
              <a:t>מ-push ועד production — גם ב-Nx repo וגם בפוליי-repos</a:t>
            </a:r>
            <a:endParaRPr lang="en-US" sz="1250" dirty="0"/>
          </a:p>
        </p:txBody>
      </p:sp>
      <p:sp>
        <p:nvSpPr>
          <p:cNvPr id="21" name="Shape 19"/>
          <p:cNvSpPr/>
          <p:nvPr/>
        </p:nvSpPr>
        <p:spPr>
          <a:xfrm>
            <a:off x="11021263" y="4782312"/>
            <a:ext cx="530352" cy="530352"/>
          </a:xfrm>
          <a:prstGeom prst="ellipse">
            <a:avLst/>
          </a:prstGeom>
          <a:solidFill>
            <a:srgbClr val="3949AB"/>
          </a:solidFill>
          <a:ln/>
        </p:spPr>
      </p:sp>
      <p:sp>
        <p:nvSpPr>
          <p:cNvPr id="22" name="Text 20"/>
          <p:cNvSpPr/>
          <p:nvPr/>
        </p:nvSpPr>
        <p:spPr>
          <a:xfrm>
            <a:off x="11021263" y="4782312"/>
            <a:ext cx="530352" cy="53035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05</a:t>
            </a:r>
            <a:endParaRPr lang="en-US" sz="2000" dirty="0"/>
          </a:p>
        </p:txBody>
      </p:sp>
      <p:sp>
        <p:nvSpPr>
          <p:cNvPr id="23" name="Text 21"/>
          <p:cNvSpPr/>
          <p:nvPr/>
        </p:nvSpPr>
        <p:spPr>
          <a:xfrm>
            <a:off x="5516575" y="4764024"/>
            <a:ext cx="5257800" cy="347472"/>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תפעול</a:t>
            </a:r>
            <a:endParaRPr lang="en-US" sz="1700" dirty="0"/>
          </a:p>
        </p:txBody>
      </p:sp>
      <p:sp>
        <p:nvSpPr>
          <p:cNvPr id="24" name="Text 22"/>
          <p:cNvSpPr/>
          <p:nvPr/>
        </p:nvSpPr>
        <p:spPr>
          <a:xfrm>
            <a:off x="2956255" y="5111496"/>
            <a:ext cx="7818120" cy="329184"/>
          </a:xfrm>
          <a:prstGeom prst="rect">
            <a:avLst/>
          </a:prstGeom>
          <a:noFill/>
          <a:ln/>
        </p:spPr>
        <p:txBody>
          <a:bodyPr wrap="square" rtlCol="0" anchor="ctr"/>
          <a:lstStyle/>
          <a:p>
            <a:pPr rtl="1" algn="r" indent="0" marL="0">
              <a:buNone/>
            </a:pPr>
            <a:r>
              <a:rPr lang="en-US" sz="1250" dirty="0">
                <a:solidFill>
                  <a:srgbClr val="5B6572"/>
                </a:solidFill>
                <a:latin typeface="Arial" pitchFamily="34" charset="0"/>
                <a:ea typeface="Arial" pitchFamily="34" charset="-122"/>
                <a:cs typeface="Arial" pitchFamily="34" charset="-120"/>
              </a:rPr>
              <a:t>promotion לפרודקשן, rollback, ושימושים נוספים ב-chaos-ci</a:t>
            </a:r>
            <a:endParaRPr lang="en-US" sz="1250" dirty="0"/>
          </a:p>
        </p:txBody>
      </p:sp>
      <p:sp>
        <p:nvSpPr>
          <p:cNvPr id="25" name="Shape 23"/>
          <p:cNvSpPr/>
          <p:nvPr/>
        </p:nvSpPr>
        <p:spPr>
          <a:xfrm>
            <a:off x="11021263" y="5623560"/>
            <a:ext cx="530352" cy="530352"/>
          </a:xfrm>
          <a:prstGeom prst="ellipse">
            <a:avLst/>
          </a:prstGeom>
          <a:solidFill>
            <a:srgbClr val="3949AB"/>
          </a:solidFill>
          <a:ln/>
        </p:spPr>
      </p:sp>
      <p:sp>
        <p:nvSpPr>
          <p:cNvPr id="26" name="Text 24"/>
          <p:cNvSpPr/>
          <p:nvPr/>
        </p:nvSpPr>
        <p:spPr>
          <a:xfrm>
            <a:off x="11021263" y="5623560"/>
            <a:ext cx="530352" cy="53035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06</a:t>
            </a:r>
            <a:endParaRPr lang="en-US" sz="2000" dirty="0"/>
          </a:p>
        </p:txBody>
      </p:sp>
      <p:sp>
        <p:nvSpPr>
          <p:cNvPr id="27" name="Text 25"/>
          <p:cNvSpPr/>
          <p:nvPr/>
        </p:nvSpPr>
        <p:spPr>
          <a:xfrm>
            <a:off x="5516575" y="5605272"/>
            <a:ext cx="5257800" cy="347472"/>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איך מריצים את זה, ומה הלאה</a:t>
            </a:r>
            <a:endParaRPr lang="en-US" sz="1700" dirty="0"/>
          </a:p>
        </p:txBody>
      </p:sp>
      <p:sp>
        <p:nvSpPr>
          <p:cNvPr id="28" name="Text 26"/>
          <p:cNvSpPr/>
          <p:nvPr/>
        </p:nvSpPr>
        <p:spPr>
          <a:xfrm>
            <a:off x="2956255" y="5952744"/>
            <a:ext cx="7818120" cy="329184"/>
          </a:xfrm>
          <a:prstGeom prst="rect">
            <a:avLst/>
          </a:prstGeom>
          <a:noFill/>
          <a:ln/>
        </p:spPr>
        <p:txBody>
          <a:bodyPr wrap="square" rtlCol="0" anchor="ctr"/>
          <a:lstStyle/>
          <a:p>
            <a:pPr rtl="1" algn="r" indent="0" marL="0">
              <a:buNone/>
            </a:pPr>
            <a:r>
              <a:rPr lang="en-US" sz="1250" dirty="0">
                <a:solidFill>
                  <a:srgbClr val="5B6572"/>
                </a:solidFill>
                <a:latin typeface="Arial" pitchFamily="34" charset="0"/>
                <a:ea typeface="Arial" pitchFamily="34" charset="-122"/>
                <a:cs typeface="Arial" pitchFamily="34" charset="-120"/>
              </a:rPr>
              <a:t>הדרכה מעשית, בתוספת מפת הדרכים שלנו</a:t>
            </a:r>
            <a:endParaRPr lang="en-US" sz="1250" dirty="0"/>
          </a:p>
        </p:txBody>
      </p:sp>
      <p:sp>
        <p:nvSpPr>
          <p:cNvPr id="29" name="Text 27"/>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30" name="Text 28"/>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מאיפה התחלנו</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שלושה פרויקטי CI/CD נפרדים</a:t>
            </a:r>
            <a:endParaRPr lang="en-US" sz="3000" dirty="0"/>
          </a:p>
        </p:txBody>
      </p:sp>
      <p:sp>
        <p:nvSpPr>
          <p:cNvPr id="5" name="Shape 3"/>
          <p:cNvSpPr/>
          <p:nvPr/>
        </p:nvSpPr>
        <p:spPr>
          <a:xfrm>
            <a:off x="8046720" y="1691640"/>
            <a:ext cx="3429000" cy="3063240"/>
          </a:xfrm>
          <a:prstGeom prst="roundRect">
            <a:avLst>
              <a:gd name="adj" fmla="val 2388"/>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Shape 4"/>
          <p:cNvSpPr/>
          <p:nvPr/>
        </p:nvSpPr>
        <p:spPr>
          <a:xfrm>
            <a:off x="10652760" y="1965960"/>
            <a:ext cx="548640" cy="548640"/>
          </a:xfrm>
          <a:prstGeom prst="roundRect">
            <a:avLst>
              <a:gd name="adj" fmla="val 16667"/>
            </a:avLst>
          </a:prstGeom>
          <a:solidFill>
            <a:srgbClr val="3949AB"/>
          </a:solidFill>
          <a:ln/>
        </p:spPr>
      </p:sp>
      <p:sp>
        <p:nvSpPr>
          <p:cNvPr id="7" name="Text 5"/>
          <p:cNvSpPr/>
          <p:nvPr/>
        </p:nvSpPr>
        <p:spPr>
          <a:xfrm>
            <a:off x="8321040" y="2697480"/>
            <a:ext cx="2880360" cy="457200"/>
          </a:xfrm>
          <a:prstGeom prst="rect">
            <a:avLst/>
          </a:prstGeom>
          <a:noFill/>
          <a:ln/>
        </p:spPr>
        <p:txBody>
          <a:bodyPr wrap="square" rtlCol="0" anchor="ctr"/>
          <a:lstStyle/>
          <a:p>
            <a:pPr algn="r" indent="0" marL="0">
              <a:buNone/>
            </a:pPr>
            <a:r>
              <a:rPr lang="en-US" sz="2000" b="1" dirty="0">
                <a:solidFill>
                  <a:srgbClr val="1B1F2A"/>
                </a:solidFill>
                <a:latin typeface="Arial" pitchFamily="34" charset="0"/>
                <a:ea typeface="Arial" pitchFamily="34" charset="-122"/>
                <a:cs typeface="Arial" pitchFamily="34" charset="-120"/>
              </a:rPr>
              <a:t>chaos-ci</a:t>
            </a:r>
            <a:endParaRPr lang="en-US" sz="2000" dirty="0"/>
          </a:p>
        </p:txBody>
      </p:sp>
      <p:sp>
        <p:nvSpPr>
          <p:cNvPr id="8" name="Text 6"/>
          <p:cNvSpPr/>
          <p:nvPr/>
        </p:nvSpPr>
        <p:spPr>
          <a:xfrm>
            <a:off x="8321040" y="3200400"/>
            <a:ext cx="2880360" cy="1371600"/>
          </a:xfrm>
          <a:prstGeom prst="rect">
            <a:avLst/>
          </a:prstGeom>
          <a:noFill/>
          <a:ln/>
        </p:spPr>
        <p:txBody>
          <a:bodyPr wrap="square" rtlCol="0" anchor="ctr"/>
          <a:lstStyle/>
          <a:p>
            <a:pPr rtl="1" algn="r" indent="0" marL="0">
              <a:lnSpc>
                <a:spcPct val="120000"/>
              </a:lnSpc>
              <a:buNone/>
            </a:pPr>
            <a:r>
              <a:rPr lang="en-US" sz="1300" dirty="0">
                <a:solidFill>
                  <a:srgbClr val="5B6572"/>
                </a:solidFill>
                <a:latin typeface="Arial" pitchFamily="34" charset="0"/>
                <a:ea typeface="Arial" pitchFamily="34" charset="-122"/>
                <a:cs typeface="Arial" pitchFamily="34" charset="-120"/>
              </a:rPr>
              <a:t>פורס את סביבת האוטומציה/QA, ולאחר מכן מריץ טסטים אוטומטיים מולה.</a:t>
            </a:r>
            <a:endParaRPr lang="en-US" sz="1300" dirty="0"/>
          </a:p>
        </p:txBody>
      </p:sp>
      <p:sp>
        <p:nvSpPr>
          <p:cNvPr id="9" name="Shape 7"/>
          <p:cNvSpPr/>
          <p:nvPr/>
        </p:nvSpPr>
        <p:spPr>
          <a:xfrm>
            <a:off x="4297680" y="1691640"/>
            <a:ext cx="3429000" cy="3063240"/>
          </a:xfrm>
          <a:prstGeom prst="roundRect">
            <a:avLst>
              <a:gd name="adj" fmla="val 2388"/>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0" name="Shape 8"/>
          <p:cNvSpPr/>
          <p:nvPr/>
        </p:nvSpPr>
        <p:spPr>
          <a:xfrm>
            <a:off x="6903720" y="1965960"/>
            <a:ext cx="548640" cy="548640"/>
          </a:xfrm>
          <a:prstGeom prst="roundRect">
            <a:avLst>
              <a:gd name="adj" fmla="val 16667"/>
            </a:avLst>
          </a:prstGeom>
          <a:solidFill>
            <a:srgbClr val="00A896"/>
          </a:solidFill>
          <a:ln/>
        </p:spPr>
      </p:sp>
      <p:sp>
        <p:nvSpPr>
          <p:cNvPr id="11" name="Text 9"/>
          <p:cNvSpPr/>
          <p:nvPr/>
        </p:nvSpPr>
        <p:spPr>
          <a:xfrm>
            <a:off x="4572000" y="2697480"/>
            <a:ext cx="2880360" cy="457200"/>
          </a:xfrm>
          <a:prstGeom prst="rect">
            <a:avLst/>
          </a:prstGeom>
          <a:noFill/>
          <a:ln/>
        </p:spPr>
        <p:txBody>
          <a:bodyPr wrap="square" rtlCol="0" anchor="ctr"/>
          <a:lstStyle/>
          <a:p>
            <a:pPr algn="r" indent="0" marL="0">
              <a:buNone/>
            </a:pPr>
            <a:r>
              <a:rPr lang="en-US" sz="2000" b="1" dirty="0">
                <a:solidFill>
                  <a:srgbClr val="1B1F2A"/>
                </a:solidFill>
                <a:latin typeface="Arial" pitchFamily="34" charset="0"/>
                <a:ea typeface="Arial" pitchFamily="34" charset="-122"/>
                <a:cs typeface="Arial" pitchFamily="34" charset="-120"/>
              </a:rPr>
              <a:t>cflow-cd</a:t>
            </a:r>
            <a:endParaRPr lang="en-US" sz="2000" dirty="0"/>
          </a:p>
        </p:txBody>
      </p:sp>
      <p:sp>
        <p:nvSpPr>
          <p:cNvPr id="12" name="Text 10"/>
          <p:cNvSpPr/>
          <p:nvPr/>
        </p:nvSpPr>
        <p:spPr>
          <a:xfrm>
            <a:off x="4572000" y="3200400"/>
            <a:ext cx="2880360" cy="1371600"/>
          </a:xfrm>
          <a:prstGeom prst="rect">
            <a:avLst/>
          </a:prstGeom>
          <a:noFill/>
          <a:ln/>
        </p:spPr>
        <p:txBody>
          <a:bodyPr wrap="square" rtlCol="0" anchor="ctr"/>
          <a:lstStyle/>
          <a:p>
            <a:pPr rtl="1" algn="r" indent="0" marL="0">
              <a:lnSpc>
                <a:spcPct val="120000"/>
              </a:lnSpc>
              <a:buNone/>
            </a:pPr>
            <a:r>
              <a:rPr lang="en-US" sz="1300" dirty="0">
                <a:solidFill>
                  <a:srgbClr val="5B6572"/>
                </a:solidFill>
                <a:latin typeface="Arial" pitchFamily="34" charset="0"/>
                <a:ea typeface="Arial" pitchFamily="34" charset="-122"/>
                <a:cs typeface="Arial" pitchFamily="34" charset="-120"/>
              </a:rPr>
              <a:t>פורס לסביבת הטסט.</a:t>
            </a:r>
            <a:endParaRPr lang="en-US" sz="1300" dirty="0"/>
          </a:p>
        </p:txBody>
      </p:sp>
      <p:sp>
        <p:nvSpPr>
          <p:cNvPr id="13" name="Shape 11"/>
          <p:cNvSpPr/>
          <p:nvPr/>
        </p:nvSpPr>
        <p:spPr>
          <a:xfrm>
            <a:off x="548640" y="1691640"/>
            <a:ext cx="3429000" cy="3063240"/>
          </a:xfrm>
          <a:prstGeom prst="roundRect">
            <a:avLst>
              <a:gd name="adj" fmla="val 2388"/>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4" name="Shape 12"/>
          <p:cNvSpPr/>
          <p:nvPr/>
        </p:nvSpPr>
        <p:spPr>
          <a:xfrm>
            <a:off x="3154680" y="1965960"/>
            <a:ext cx="548640" cy="548640"/>
          </a:xfrm>
          <a:prstGeom prst="roundRect">
            <a:avLst>
              <a:gd name="adj" fmla="val 16667"/>
            </a:avLst>
          </a:prstGeom>
          <a:solidFill>
            <a:srgbClr val="1B1F3B"/>
          </a:solidFill>
          <a:ln/>
        </p:spPr>
      </p:sp>
      <p:sp>
        <p:nvSpPr>
          <p:cNvPr id="15" name="Text 13"/>
          <p:cNvSpPr/>
          <p:nvPr/>
        </p:nvSpPr>
        <p:spPr>
          <a:xfrm>
            <a:off x="822960" y="2697480"/>
            <a:ext cx="2880360" cy="457200"/>
          </a:xfrm>
          <a:prstGeom prst="rect">
            <a:avLst/>
          </a:prstGeom>
          <a:noFill/>
          <a:ln/>
        </p:spPr>
        <p:txBody>
          <a:bodyPr wrap="square" rtlCol="0" anchor="ctr"/>
          <a:lstStyle/>
          <a:p>
            <a:pPr algn="r" indent="0" marL="0">
              <a:buNone/>
            </a:pPr>
            <a:r>
              <a:rPr lang="en-US" sz="2000" b="1" dirty="0">
                <a:solidFill>
                  <a:srgbClr val="1B1F2A"/>
                </a:solidFill>
                <a:latin typeface="Arial" pitchFamily="34" charset="0"/>
                <a:ea typeface="Arial" pitchFamily="34" charset="-122"/>
                <a:cs typeface="Arial" pitchFamily="34" charset="-120"/>
              </a:rPr>
              <a:t>deploy-cd</a:t>
            </a:r>
            <a:endParaRPr lang="en-US" sz="2000" dirty="0"/>
          </a:p>
        </p:txBody>
      </p:sp>
      <p:sp>
        <p:nvSpPr>
          <p:cNvPr id="16" name="Text 14"/>
          <p:cNvSpPr/>
          <p:nvPr/>
        </p:nvSpPr>
        <p:spPr>
          <a:xfrm>
            <a:off x="822960" y="3200400"/>
            <a:ext cx="2880360" cy="1371600"/>
          </a:xfrm>
          <a:prstGeom prst="rect">
            <a:avLst/>
          </a:prstGeom>
          <a:noFill/>
          <a:ln/>
        </p:spPr>
        <p:txBody>
          <a:bodyPr wrap="square" rtlCol="0" anchor="ctr"/>
          <a:lstStyle/>
          <a:p>
            <a:pPr rtl="1" algn="r" indent="0" marL="0">
              <a:lnSpc>
                <a:spcPct val="120000"/>
              </a:lnSpc>
              <a:buNone/>
            </a:pPr>
            <a:r>
              <a:rPr lang="en-US" sz="1300" dirty="0">
                <a:solidFill>
                  <a:srgbClr val="5B6572"/>
                </a:solidFill>
                <a:latin typeface="Arial" pitchFamily="34" charset="0"/>
                <a:ea typeface="Arial" pitchFamily="34" charset="-122"/>
                <a:cs typeface="Arial" pitchFamily="34" charset="-120"/>
              </a:rPr>
              <a:t>פורס לפרודקשן.</a:t>
            </a:r>
            <a:endParaRPr lang="en-US" sz="1300" dirty="0"/>
          </a:p>
        </p:txBody>
      </p:sp>
      <p:sp>
        <p:nvSpPr>
          <p:cNvPr id="17" name="Text 15"/>
          <p:cNvSpPr/>
          <p:nvPr/>
        </p:nvSpPr>
        <p:spPr>
          <a:xfrm>
            <a:off x="548640" y="4892040"/>
            <a:ext cx="11064240" cy="457200"/>
          </a:xfrm>
          <a:prstGeom prst="rect">
            <a:avLst/>
          </a:prstGeom>
          <a:noFill/>
          <a:ln/>
        </p:spPr>
        <p:txBody>
          <a:bodyPr wrap="square" rtlCol="0" anchor="ctr"/>
          <a:lstStyle/>
          <a:p>
            <a:pPr rtl="1" algn="r" indent="0" marL="0">
              <a:buNone/>
            </a:pPr>
            <a:r>
              <a:rPr lang="en-US" sz="1350" i="1" dirty="0">
                <a:solidFill>
                  <a:srgbClr val="00A896"/>
                </a:solidFill>
                <a:latin typeface="Arial" pitchFamily="34" charset="0"/>
                <a:ea typeface="Arial" pitchFamily="34" charset="-122"/>
                <a:cs typeface="Arial" pitchFamily="34" charset="-120"/>
              </a:rPr>
              <a:t>המפתח מתחיל כאן: בוחר שירות ולוחץ על הרצה באחד משלושת הפרויקטים, בהתאם לסביבת היעד.</a:t>
            </a:r>
            <a:endParaRPr lang="en-US" sz="1350" dirty="0"/>
          </a:p>
        </p:txBody>
      </p:sp>
      <p:sp>
        <p:nvSpPr>
          <p:cNvPr id="18" name="Text 16"/>
          <p:cNvSpPr/>
          <p:nvPr/>
        </p:nvSpPr>
        <p:spPr>
          <a:xfrm>
            <a:off x="548640" y="5303520"/>
            <a:ext cx="11064240" cy="457200"/>
          </a:xfrm>
          <a:prstGeom prst="rect">
            <a:avLst/>
          </a:prstGeom>
          <a:noFill/>
          <a:ln/>
        </p:spPr>
        <p:txBody>
          <a:bodyPr wrap="square" rtlCol="0" anchor="ctr"/>
          <a:lstStyle/>
          <a:p>
            <a:pPr rtl="1" algn="r" indent="0" marL="0">
              <a:buNone/>
            </a:pPr>
            <a:r>
              <a:rPr lang="en-US" sz="1350" i="1" dirty="0">
                <a:solidFill>
                  <a:srgbClr val="5B6572"/>
                </a:solidFill>
                <a:latin typeface="Arial" pitchFamily="34" charset="0"/>
                <a:ea typeface="Arial" pitchFamily="34" charset="-122"/>
                <a:cs typeface="Arial" pitchFamily="34" charset="-120"/>
              </a:rPr>
              <a:t>אותו פרויקט מפעיל את פרויקט ה-Nx, שמפעיל את ה-build/deploy jobs של האפליקציה הרלוונטית — בשקף הבא.</a:t>
            </a:r>
            <a:endParaRPr lang="en-US" sz="1350" dirty="0"/>
          </a:p>
        </p:txBody>
      </p:sp>
      <p:sp>
        <p:nvSpPr>
          <p:cNvPr id="19" name="Text 17"/>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20" name="Text 18"/>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מאיפה התחלנו</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התהליך הישן</a:t>
            </a:r>
            <a:endParaRPr lang="en-US" sz="3000" dirty="0"/>
          </a:p>
        </p:txBody>
      </p:sp>
      <p:sp>
        <p:nvSpPr>
          <p:cNvPr id="5" name="Shape 3"/>
          <p:cNvSpPr/>
          <p:nvPr/>
        </p:nvSpPr>
        <p:spPr>
          <a:xfrm>
            <a:off x="8854135" y="1691640"/>
            <a:ext cx="2880360" cy="3566160"/>
          </a:xfrm>
          <a:prstGeom prst="roundRect">
            <a:avLst>
              <a:gd name="adj" fmla="val 2540"/>
            </a:avLst>
          </a:prstGeom>
          <a:solidFill>
            <a:srgbClr val="EAF2FA"/>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Text 4"/>
          <p:cNvSpPr/>
          <p:nvPr/>
        </p:nvSpPr>
        <p:spPr>
          <a:xfrm>
            <a:off x="11048695" y="1874520"/>
            <a:ext cx="457200" cy="365760"/>
          </a:xfrm>
          <a:prstGeom prst="rect">
            <a:avLst/>
          </a:prstGeom>
          <a:noFill/>
          <a:ln/>
        </p:spPr>
        <p:txBody>
          <a:bodyPr wrap="square" rtlCol="0" anchor="ctr"/>
          <a:lstStyle/>
          <a:p>
            <a:pPr algn="r" indent="0" marL="0">
              <a:buNone/>
            </a:pPr>
            <a:r>
              <a:rPr lang="en-US" sz="1600" b="1" dirty="0">
                <a:solidFill>
                  <a:srgbClr val="3949A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9082735" y="2240280"/>
            <a:ext cx="2468880" cy="548640"/>
          </a:xfrm>
          <a:prstGeom prst="rect">
            <a:avLst/>
          </a:prstGeom>
          <a:noFill/>
          <a:ln/>
        </p:spPr>
        <p:txBody>
          <a:bodyPr wrap="square" rtlCol="0" anchor="ctr"/>
          <a:lstStyle/>
          <a:p>
            <a:pPr rtl="1" algn="r" indent="0" marL="0">
              <a:buNone/>
            </a:pPr>
            <a:r>
              <a:rPr lang="en-US" sz="1300" b="1" dirty="0">
                <a:solidFill>
                  <a:srgbClr val="1B1F2A"/>
                </a:solidFill>
                <a:latin typeface="Arial" pitchFamily="34" charset="0"/>
                <a:ea typeface="Arial" pitchFamily="34" charset="-122"/>
                <a:cs typeface="Arial" pitchFamily="34" charset="-120"/>
              </a:rPr>
              <a:t>המפתח מזין משתנים ב-UI</a:t>
            </a:r>
            <a:endParaRPr lang="en-US" sz="1300" dirty="0"/>
          </a:p>
        </p:txBody>
      </p:sp>
      <p:sp>
        <p:nvSpPr>
          <p:cNvPr id="8" name="Shape 6"/>
          <p:cNvSpPr/>
          <p:nvPr/>
        </p:nvSpPr>
        <p:spPr>
          <a:xfrm>
            <a:off x="9082735" y="2880360"/>
            <a:ext cx="2423160" cy="457200"/>
          </a:xfrm>
          <a:prstGeom prst="roundRect">
            <a:avLst>
              <a:gd name="adj" fmla="val 12000"/>
            </a:avLst>
          </a:prstGeom>
          <a:solidFill>
            <a:srgbClr val="FFFFFF"/>
          </a:solidFill>
          <a:ln w="15240">
            <a:solidFill>
              <a:srgbClr val="3949AB"/>
            </a:solidFill>
            <a:prstDash val="solid"/>
          </a:ln>
        </p:spPr>
      </p:sp>
      <p:sp>
        <p:nvSpPr>
          <p:cNvPr id="9" name="Text 7"/>
          <p:cNvSpPr/>
          <p:nvPr/>
        </p:nvSpPr>
        <p:spPr>
          <a:xfrm>
            <a:off x="9219895" y="2880360"/>
            <a:ext cx="2240280" cy="457200"/>
          </a:xfrm>
          <a:prstGeom prst="rect">
            <a:avLst/>
          </a:prstGeom>
          <a:noFill/>
          <a:ln/>
        </p:spPr>
        <p:txBody>
          <a:bodyPr wrap="square" rtlCol="0" anchor="ctr"/>
          <a:lstStyle/>
          <a:p>
            <a:pPr algn="ctr" indent="0" marL="0">
              <a:buNone/>
            </a:pPr>
            <a:r>
              <a:rPr lang="en-US" sz="1250" b="1" dirty="0">
                <a:solidFill>
                  <a:srgbClr val="3949AB"/>
                </a:solidFill>
                <a:latin typeface="Arial" pitchFamily="34" charset="0"/>
                <a:ea typeface="Arial" pitchFamily="34" charset="-122"/>
                <a:cs typeface="Arial" pitchFamily="34" charset="-120"/>
              </a:rPr>
              <a:t>chaos-ci</a:t>
            </a:r>
            <a:endParaRPr lang="en-US" sz="1250" dirty="0"/>
          </a:p>
        </p:txBody>
      </p:sp>
      <p:sp>
        <p:nvSpPr>
          <p:cNvPr id="10" name="Shape 8"/>
          <p:cNvSpPr/>
          <p:nvPr/>
        </p:nvSpPr>
        <p:spPr>
          <a:xfrm>
            <a:off x="9082735" y="3502152"/>
            <a:ext cx="2423160" cy="457200"/>
          </a:xfrm>
          <a:prstGeom prst="roundRect">
            <a:avLst>
              <a:gd name="adj" fmla="val 12000"/>
            </a:avLst>
          </a:prstGeom>
          <a:solidFill>
            <a:srgbClr val="FFFFFF"/>
          </a:solidFill>
          <a:ln w="15240">
            <a:solidFill>
              <a:srgbClr val="3949AB"/>
            </a:solidFill>
            <a:prstDash val="solid"/>
          </a:ln>
        </p:spPr>
      </p:sp>
      <p:sp>
        <p:nvSpPr>
          <p:cNvPr id="11" name="Text 9"/>
          <p:cNvSpPr/>
          <p:nvPr/>
        </p:nvSpPr>
        <p:spPr>
          <a:xfrm>
            <a:off x="9219895" y="3502152"/>
            <a:ext cx="2240280" cy="457200"/>
          </a:xfrm>
          <a:prstGeom prst="rect">
            <a:avLst/>
          </a:prstGeom>
          <a:noFill/>
          <a:ln/>
        </p:spPr>
        <p:txBody>
          <a:bodyPr wrap="square" rtlCol="0" anchor="ctr"/>
          <a:lstStyle/>
          <a:p>
            <a:pPr algn="ctr" indent="0" marL="0">
              <a:buNone/>
            </a:pPr>
            <a:r>
              <a:rPr lang="en-US" sz="1250" b="1" dirty="0">
                <a:solidFill>
                  <a:srgbClr val="3949AB"/>
                </a:solidFill>
                <a:latin typeface="Arial" pitchFamily="34" charset="0"/>
                <a:ea typeface="Arial" pitchFamily="34" charset="-122"/>
                <a:cs typeface="Arial" pitchFamily="34" charset="-120"/>
              </a:rPr>
              <a:t>cflow-cd</a:t>
            </a:r>
            <a:endParaRPr lang="en-US" sz="1250" dirty="0"/>
          </a:p>
        </p:txBody>
      </p:sp>
      <p:sp>
        <p:nvSpPr>
          <p:cNvPr id="12" name="Shape 10"/>
          <p:cNvSpPr/>
          <p:nvPr/>
        </p:nvSpPr>
        <p:spPr>
          <a:xfrm>
            <a:off x="9082735" y="4123944"/>
            <a:ext cx="2423160" cy="457200"/>
          </a:xfrm>
          <a:prstGeom prst="roundRect">
            <a:avLst>
              <a:gd name="adj" fmla="val 12000"/>
            </a:avLst>
          </a:prstGeom>
          <a:solidFill>
            <a:srgbClr val="FFFFFF"/>
          </a:solidFill>
          <a:ln w="15240">
            <a:solidFill>
              <a:srgbClr val="3949AB"/>
            </a:solidFill>
            <a:prstDash val="solid"/>
          </a:ln>
        </p:spPr>
      </p:sp>
      <p:sp>
        <p:nvSpPr>
          <p:cNvPr id="13" name="Text 11"/>
          <p:cNvSpPr/>
          <p:nvPr/>
        </p:nvSpPr>
        <p:spPr>
          <a:xfrm>
            <a:off x="9219895" y="4123944"/>
            <a:ext cx="2240280" cy="457200"/>
          </a:xfrm>
          <a:prstGeom prst="rect">
            <a:avLst/>
          </a:prstGeom>
          <a:noFill/>
          <a:ln/>
        </p:spPr>
        <p:txBody>
          <a:bodyPr wrap="square" rtlCol="0" anchor="ctr"/>
          <a:lstStyle/>
          <a:p>
            <a:pPr algn="ctr" indent="0" marL="0">
              <a:buNone/>
            </a:pPr>
            <a:r>
              <a:rPr lang="en-US" sz="1250" b="1" dirty="0">
                <a:solidFill>
                  <a:srgbClr val="3949AB"/>
                </a:solidFill>
                <a:latin typeface="Arial" pitchFamily="34" charset="0"/>
                <a:ea typeface="Arial" pitchFamily="34" charset="-122"/>
                <a:cs typeface="Arial" pitchFamily="34" charset="-120"/>
              </a:rPr>
              <a:t>deploy-cd</a:t>
            </a:r>
            <a:endParaRPr lang="en-US" sz="1250" dirty="0"/>
          </a:p>
        </p:txBody>
      </p:sp>
      <p:sp>
        <p:nvSpPr>
          <p:cNvPr id="14" name="Shape 12"/>
          <p:cNvSpPr/>
          <p:nvPr/>
        </p:nvSpPr>
        <p:spPr>
          <a:xfrm>
            <a:off x="8351215" y="3456432"/>
            <a:ext cx="502920" cy="0"/>
          </a:xfrm>
          <a:prstGeom prst="line">
            <a:avLst/>
          </a:prstGeom>
          <a:noFill/>
          <a:ln w="25400">
            <a:solidFill>
              <a:srgbClr val="5B6572"/>
            </a:solidFill>
            <a:prstDash val="solid"/>
            <a:headEnd type="none"/>
            <a:tailEnd type="triangle"/>
          </a:ln>
        </p:spPr>
      </p:sp>
      <p:sp>
        <p:nvSpPr>
          <p:cNvPr id="15" name="Shape 13"/>
          <p:cNvSpPr/>
          <p:nvPr/>
        </p:nvSpPr>
        <p:spPr>
          <a:xfrm>
            <a:off x="5105095" y="1691640"/>
            <a:ext cx="3246120" cy="3566160"/>
          </a:xfrm>
          <a:prstGeom prst="roundRect">
            <a:avLst>
              <a:gd name="adj" fmla="val 2254"/>
            </a:avLst>
          </a:prstGeom>
          <a:solidFill>
            <a:srgbClr val="F0F4F8"/>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6" name="Text 14"/>
          <p:cNvSpPr/>
          <p:nvPr/>
        </p:nvSpPr>
        <p:spPr>
          <a:xfrm>
            <a:off x="7711135" y="1874520"/>
            <a:ext cx="457200" cy="365760"/>
          </a:xfrm>
          <a:prstGeom prst="rect">
            <a:avLst/>
          </a:prstGeom>
          <a:noFill/>
          <a:ln/>
        </p:spPr>
        <p:txBody>
          <a:bodyPr wrap="square" rtlCol="0" anchor="ctr"/>
          <a:lstStyle/>
          <a:p>
            <a:pPr algn="r" indent="0" marL="0">
              <a:buNone/>
            </a:pPr>
            <a:r>
              <a:rPr lang="en-US" sz="1600" b="1" dirty="0">
                <a:solidFill>
                  <a:srgbClr val="00A896"/>
                </a:solidFill>
                <a:latin typeface="Arial" pitchFamily="34" charset="0"/>
                <a:ea typeface="Arial" pitchFamily="34" charset="-122"/>
                <a:cs typeface="Arial" pitchFamily="34" charset="-120"/>
              </a:rPr>
              <a:t>2</a:t>
            </a:r>
            <a:endParaRPr lang="en-US" sz="1600" dirty="0"/>
          </a:p>
        </p:txBody>
      </p:sp>
      <p:sp>
        <p:nvSpPr>
          <p:cNvPr id="17" name="Text 15"/>
          <p:cNvSpPr/>
          <p:nvPr/>
        </p:nvSpPr>
        <p:spPr>
          <a:xfrm>
            <a:off x="5333695" y="2377440"/>
            <a:ext cx="2788920" cy="365760"/>
          </a:xfrm>
          <a:prstGeom prst="rect">
            <a:avLst/>
          </a:prstGeom>
          <a:noFill/>
          <a:ln/>
        </p:spPr>
        <p:txBody>
          <a:bodyPr wrap="square" rtlCol="0" anchor="ctr"/>
          <a:lstStyle/>
          <a:p>
            <a:pPr rtl="1" algn="r" indent="0" marL="0">
              <a:buNone/>
            </a:pPr>
            <a:r>
              <a:rPr lang="en-US" sz="1600" b="1" dirty="0">
                <a:solidFill>
                  <a:srgbClr val="00A896"/>
                </a:solidFill>
                <a:latin typeface="Arial" pitchFamily="34" charset="0"/>
                <a:ea typeface="Arial" pitchFamily="34" charset="-122"/>
                <a:cs typeface="Arial" pitchFamily="34" charset="-120"/>
              </a:rPr>
              <a:t>פרויקט Nx</a:t>
            </a:r>
            <a:endParaRPr lang="en-US" sz="1600" dirty="0"/>
          </a:p>
        </p:txBody>
      </p:sp>
      <p:sp>
        <p:nvSpPr>
          <p:cNvPr id="18" name="Text 16"/>
          <p:cNvSpPr/>
          <p:nvPr/>
        </p:nvSpPr>
        <p:spPr>
          <a:xfrm>
            <a:off x="5333695" y="2761488"/>
            <a:ext cx="2788920" cy="32004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קובץ .gitlab-ci.yml ראשי</a:t>
            </a:r>
            <a:endParaRPr lang="en-US" sz="1200" dirty="0"/>
          </a:p>
        </p:txBody>
      </p:sp>
      <p:sp>
        <p:nvSpPr>
          <p:cNvPr id="19" name="Text 17"/>
          <p:cNvSpPr/>
          <p:nvPr/>
        </p:nvSpPr>
        <p:spPr>
          <a:xfrm>
            <a:off x="5333695" y="3200400"/>
            <a:ext cx="2788920" cy="1874520"/>
          </a:xfrm>
          <a:prstGeom prst="rect">
            <a:avLst/>
          </a:prstGeom>
          <a:noFill/>
          <a:ln/>
        </p:spPr>
        <p:txBody>
          <a:bodyPr wrap="square" rtlCol="0" anchor="ctr"/>
          <a:lstStyle/>
          <a:p>
            <a:pPr rtl="1" algn="r" indent="0" marL="0">
              <a:lnSpc>
                <a:spcPct val="125000"/>
              </a:lnSpc>
              <a:buNone/>
            </a:pPr>
            <a:r>
              <a:rPr lang="en-US" sz="1250" dirty="0">
                <a:solidFill>
                  <a:srgbClr val="1B1F2A"/>
                </a:solidFill>
                <a:latin typeface="Arial" pitchFamily="34" charset="0"/>
                <a:ea typeface="Arial" pitchFamily="34" charset="-122"/>
                <a:cs typeface="Arial" pitchFamily="34" charset="-120"/>
              </a:rPr>
              <a:t>מופעל על ידי פרויקט ה-CD שבו המפתח השתמש. קורא את המשתנים שקיבל, ולפיהם כולל (include) את קובץ ה-.gitlab-ci.yml של האפליקציה הרלוונטית.</a:t>
            </a:r>
            <a:endParaRPr lang="en-US" sz="1250" dirty="0"/>
          </a:p>
        </p:txBody>
      </p:sp>
      <p:sp>
        <p:nvSpPr>
          <p:cNvPr id="20" name="Shape 18"/>
          <p:cNvSpPr/>
          <p:nvPr/>
        </p:nvSpPr>
        <p:spPr>
          <a:xfrm>
            <a:off x="4602175" y="3456432"/>
            <a:ext cx="502920" cy="0"/>
          </a:xfrm>
          <a:prstGeom prst="line">
            <a:avLst/>
          </a:prstGeom>
          <a:noFill/>
          <a:ln w="25400">
            <a:solidFill>
              <a:srgbClr val="5B6572"/>
            </a:solidFill>
            <a:prstDash val="solid"/>
            <a:tailEnd type="triangle"/>
          </a:ln>
        </p:spPr>
      </p:sp>
      <p:sp>
        <p:nvSpPr>
          <p:cNvPr id="21" name="Shape 19"/>
          <p:cNvSpPr/>
          <p:nvPr/>
        </p:nvSpPr>
        <p:spPr>
          <a:xfrm>
            <a:off x="487375" y="1691640"/>
            <a:ext cx="4114800" cy="3566160"/>
          </a:xfrm>
          <a:prstGeom prst="roundRect">
            <a:avLst>
              <a:gd name="adj" fmla="val 2051"/>
            </a:avLst>
          </a:prstGeom>
          <a:solidFill>
            <a:srgbClr val="1B1F3B"/>
          </a:solidFill>
          <a:ln/>
          <a:effectLst>
            <a:outerShdw sx="100000" sy="100000" kx="0" ky="0" algn="bl" rotWithShape="0" blurRad="76200" dist="25400" dir="5400000">
              <a:srgbClr val="9AA5AF">
                <a:alpha val="25000"/>
              </a:srgbClr>
            </a:outerShdw>
          </a:effectLst>
        </p:spPr>
      </p:sp>
      <p:sp>
        <p:nvSpPr>
          <p:cNvPr id="22" name="Text 20"/>
          <p:cNvSpPr/>
          <p:nvPr/>
        </p:nvSpPr>
        <p:spPr>
          <a:xfrm>
            <a:off x="3916375" y="1874520"/>
            <a:ext cx="457200" cy="365760"/>
          </a:xfrm>
          <a:prstGeom prst="rect">
            <a:avLst/>
          </a:prstGeom>
          <a:noFill/>
          <a:ln/>
        </p:spPr>
        <p:txBody>
          <a:bodyPr wrap="square" rtlCol="0" anchor="ctr"/>
          <a:lstStyle/>
          <a:p>
            <a:pPr algn="r" indent="0" marL="0">
              <a:buNone/>
            </a:pPr>
            <a:r>
              <a:rPr lang="en-US" sz="1600" b="1" dirty="0">
                <a:solidFill>
                  <a:srgbClr val="6FE7DD"/>
                </a:solidFill>
                <a:latin typeface="Arial" pitchFamily="34" charset="0"/>
                <a:ea typeface="Arial" pitchFamily="34" charset="-122"/>
                <a:cs typeface="Arial" pitchFamily="34" charset="-120"/>
              </a:rPr>
              <a:t>3</a:t>
            </a:r>
            <a:endParaRPr lang="en-US" sz="1600" dirty="0"/>
          </a:p>
        </p:txBody>
      </p:sp>
      <p:sp>
        <p:nvSpPr>
          <p:cNvPr id="23" name="Text 21"/>
          <p:cNvSpPr/>
          <p:nvPr/>
        </p:nvSpPr>
        <p:spPr>
          <a:xfrm>
            <a:off x="715975" y="2377440"/>
            <a:ext cx="3657600" cy="59436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קובץ ה-.gitlab-ci.yml של פרויקט האפליקציה</a:t>
            </a:r>
            <a:endParaRPr lang="en-US" sz="1500" dirty="0"/>
          </a:p>
        </p:txBody>
      </p:sp>
      <p:sp>
        <p:nvSpPr>
          <p:cNvPr id="24" name="Text 22"/>
          <p:cNvSpPr/>
          <p:nvPr/>
        </p:nvSpPr>
        <p:spPr>
          <a:xfrm>
            <a:off x="715975" y="3017520"/>
            <a:ext cx="3657600" cy="1097280"/>
          </a:xfrm>
          <a:prstGeom prst="rect">
            <a:avLst/>
          </a:prstGeom>
          <a:noFill/>
          <a:ln/>
        </p:spPr>
        <p:txBody>
          <a:bodyPr wrap="square" rtlCol="0" anchor="ctr"/>
          <a:lstStyle/>
          <a:p>
            <a:pPr rtl="1" algn="r" indent="0" marL="0">
              <a:lnSpc>
                <a:spcPct val="125000"/>
              </a:lnSpc>
              <a:buNone/>
            </a:pPr>
            <a:r>
              <a:rPr lang="en-US" sz="1250" dirty="0">
                <a:solidFill>
                  <a:srgbClr val="CADCFC"/>
                </a:solidFill>
                <a:latin typeface="Arial" pitchFamily="34" charset="0"/>
                <a:ea typeface="Arial" pitchFamily="34" charset="-122"/>
                <a:cs typeface="Arial" pitchFamily="34" charset="-120"/>
              </a:rPr>
              <a:t>נכלל בהרצת ה-pipeline של Nx. מכיל את ה-build וה-deploy jobs של האפליקציה, שעכשיו רצים בפועל.</a:t>
            </a:r>
            <a:endParaRPr lang="en-US" sz="1250" dirty="0"/>
          </a:p>
        </p:txBody>
      </p:sp>
      <p:sp>
        <p:nvSpPr>
          <p:cNvPr id="25" name="Text 23"/>
          <p:cNvSpPr/>
          <p:nvPr/>
        </p:nvSpPr>
        <p:spPr>
          <a:xfrm>
            <a:off x="715975" y="4160520"/>
            <a:ext cx="3657600" cy="1005840"/>
          </a:xfrm>
          <a:prstGeom prst="rect">
            <a:avLst/>
          </a:prstGeom>
          <a:noFill/>
          <a:ln/>
        </p:spPr>
        <p:txBody>
          <a:bodyPr wrap="square" rtlCol="0" anchor="ctr"/>
          <a:lstStyle/>
          <a:p>
            <a:pPr rtl="1" algn="r" indent="0" marL="0">
              <a:buNone/>
            </a:pPr>
            <a:r>
              <a:rPr lang="en-US" sz="1200" i="1" dirty="0">
                <a:solidFill>
                  <a:srgbClr val="6FE7DD"/>
                </a:solidFill>
                <a:latin typeface="Arial" pitchFamily="34" charset="0"/>
                <a:ea typeface="Arial" pitchFamily="34" charset="-122"/>
                <a:cs typeface="Arial" pitchFamily="34" charset="-120"/>
              </a:rPr>
              <a:t>התוצאה: השירות הנבחר נבנה ונפרס לסביבה המשויכת לפרויקט ה-CD שבו נעשה שימוש בשלב 1.</a:t>
            </a:r>
            <a:endParaRPr lang="en-US" sz="1200" dirty="0"/>
          </a:p>
        </p:txBody>
      </p:sp>
      <p:sp>
        <p:nvSpPr>
          <p:cNvPr id="26" name="Shape 24"/>
          <p:cNvSpPr/>
          <p:nvPr/>
        </p:nvSpPr>
        <p:spPr>
          <a:xfrm>
            <a:off x="457200" y="5486400"/>
            <a:ext cx="11247120" cy="868680"/>
          </a:xfrm>
          <a:prstGeom prst="roundRect">
            <a:avLst>
              <a:gd name="adj" fmla="val 8421"/>
            </a:avLst>
          </a:prstGeom>
          <a:solidFill>
            <a:srgbClr val="FFF5EC"/>
          </a:solidFill>
          <a:ln w="12700">
            <a:solidFill>
              <a:srgbClr val="F0C6A0"/>
            </a:solidFill>
            <a:prstDash val="solid"/>
          </a:ln>
          <a:effectLst>
            <a:outerShdw sx="100000" sy="100000" kx="0" ky="0" algn="bl" rotWithShape="0" blurRad="76200" dist="25400" dir="5400000">
              <a:srgbClr val="9AA5AF">
                <a:alpha val="25000"/>
              </a:srgbClr>
            </a:outerShdw>
          </a:effectLst>
        </p:spPr>
      </p:sp>
      <p:sp>
        <p:nvSpPr>
          <p:cNvPr id="27" name="Text 25"/>
          <p:cNvSpPr/>
          <p:nvPr/>
        </p:nvSpPr>
        <p:spPr>
          <a:xfrm>
            <a:off x="731520" y="5486400"/>
            <a:ext cx="10698480" cy="868680"/>
          </a:xfrm>
          <a:prstGeom prst="rect">
            <a:avLst/>
          </a:prstGeom>
          <a:noFill/>
          <a:ln/>
        </p:spPr>
        <p:txBody>
          <a:bodyPr wrap="square" rtlCol="0" anchor="ctr"/>
          <a:lstStyle/>
          <a:p>
            <a:pPr rtl="1" algn="r" indent="0" marL="0">
              <a:buNone/>
            </a:pPr>
            <a:r>
              <a:rPr lang="en-US" sz="1250" b="1" dirty="0">
                <a:solidFill>
                  <a:srgbClr val="E4572E"/>
                </a:solidFill>
                <a:latin typeface="Arial" pitchFamily="34" charset="0"/>
                <a:ea typeface="Arial" pitchFamily="34" charset="-122"/>
                <a:cs typeface="Arial" pitchFamily="34" charset="-120"/>
              </a:rPr>
              <a:t>נקודות כאב: משתנים ידניים בכל הרצה, כל push עלול לבנות הכול מחדש ללא קשר לשינוי בפועל, ולוגיקת ה-pipeline משוכפלת בכל אפליקציה במקום להיות משותפת.</a:t>
            </a:r>
            <a:endParaRPr lang="en-US" sz="1250" dirty="0"/>
          </a:p>
        </p:txBody>
      </p:sp>
      <p:sp>
        <p:nvSpPr>
          <p:cNvPr id="28" name="Text 26"/>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29" name="Text 27"/>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מאיפה התחלנו</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נקודות כאב, ולמה החלטנו לעבור</a:t>
            </a:r>
            <a:endParaRPr lang="en-US" sz="3000" dirty="0"/>
          </a:p>
        </p:txBody>
      </p:sp>
      <p:sp>
        <p:nvSpPr>
          <p:cNvPr id="5" name="Shape 3"/>
          <p:cNvSpPr/>
          <p:nvPr/>
        </p:nvSpPr>
        <p:spPr>
          <a:xfrm>
            <a:off x="11185855" y="1691640"/>
            <a:ext cx="457200" cy="457200"/>
          </a:xfrm>
          <a:prstGeom prst="ellipse">
            <a:avLst/>
          </a:prstGeom>
          <a:solidFill>
            <a:srgbClr val="E4572E"/>
          </a:solidFill>
          <a:ln/>
        </p:spPr>
      </p:sp>
      <p:sp>
        <p:nvSpPr>
          <p:cNvPr id="6" name="Text 4"/>
          <p:cNvSpPr/>
          <p:nvPr/>
        </p:nvSpPr>
        <p:spPr>
          <a:xfrm>
            <a:off x="11185855" y="1691640"/>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5608015" y="1673352"/>
            <a:ext cx="5532120" cy="384048"/>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משתנים ידניים בכל הרצה</a:t>
            </a:r>
            <a:endParaRPr lang="en-US" sz="1450" dirty="0"/>
          </a:p>
        </p:txBody>
      </p:sp>
      <p:sp>
        <p:nvSpPr>
          <p:cNvPr id="8" name="Text 6"/>
          <p:cNvSpPr/>
          <p:nvPr/>
        </p:nvSpPr>
        <p:spPr>
          <a:xfrm>
            <a:off x="548640" y="2057400"/>
            <a:ext cx="10881360" cy="36576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מוזנים ב-UI של GitLab בכל פעם מחדש — קל לטעות, קל לשכוח.</a:t>
            </a:r>
            <a:endParaRPr lang="en-US" sz="1200" dirty="0"/>
          </a:p>
        </p:txBody>
      </p:sp>
      <p:sp>
        <p:nvSpPr>
          <p:cNvPr id="9" name="Shape 7"/>
          <p:cNvSpPr/>
          <p:nvPr/>
        </p:nvSpPr>
        <p:spPr>
          <a:xfrm>
            <a:off x="11185855" y="2532888"/>
            <a:ext cx="457200" cy="457200"/>
          </a:xfrm>
          <a:prstGeom prst="ellipse">
            <a:avLst/>
          </a:prstGeom>
          <a:solidFill>
            <a:srgbClr val="E4572E"/>
          </a:solidFill>
          <a:ln/>
        </p:spPr>
      </p:sp>
      <p:sp>
        <p:nvSpPr>
          <p:cNvPr id="10" name="Text 8"/>
          <p:cNvSpPr/>
          <p:nvPr/>
        </p:nvSpPr>
        <p:spPr>
          <a:xfrm>
            <a:off x="11185855" y="2532888"/>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p:nvPr/>
        </p:nvSpPr>
        <p:spPr>
          <a:xfrm>
            <a:off x="5608015" y="2514600"/>
            <a:ext cx="5532120" cy="384048"/>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כל push עלול לבנות הכול מחדש</a:t>
            </a:r>
            <a:endParaRPr lang="en-US" sz="1450" dirty="0"/>
          </a:p>
        </p:txBody>
      </p:sp>
      <p:sp>
        <p:nvSpPr>
          <p:cNvPr id="12" name="Text 10"/>
          <p:cNvSpPr/>
          <p:nvPr/>
        </p:nvSpPr>
        <p:spPr>
          <a:xfrm>
            <a:off x="548640" y="2898648"/>
            <a:ext cx="10881360" cy="36576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גם כשרק שירות אחד השתנה בפועל — בזבוז זמן ומשאבי compute.</a:t>
            </a:r>
            <a:endParaRPr lang="en-US" sz="1200" dirty="0"/>
          </a:p>
        </p:txBody>
      </p:sp>
      <p:sp>
        <p:nvSpPr>
          <p:cNvPr id="13" name="Shape 11"/>
          <p:cNvSpPr/>
          <p:nvPr/>
        </p:nvSpPr>
        <p:spPr>
          <a:xfrm>
            <a:off x="11185855" y="3374136"/>
            <a:ext cx="457200" cy="457200"/>
          </a:xfrm>
          <a:prstGeom prst="ellipse">
            <a:avLst/>
          </a:prstGeom>
          <a:solidFill>
            <a:srgbClr val="E4572E"/>
          </a:solidFill>
          <a:ln/>
        </p:spPr>
      </p:sp>
      <p:sp>
        <p:nvSpPr>
          <p:cNvPr id="14" name="Text 12"/>
          <p:cNvSpPr/>
          <p:nvPr/>
        </p:nvSpPr>
        <p:spPr>
          <a:xfrm>
            <a:off x="11185855" y="3374136"/>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5" name="Text 13"/>
          <p:cNvSpPr/>
          <p:nvPr/>
        </p:nvSpPr>
        <p:spPr>
          <a:xfrm>
            <a:off x="5608015" y="3355848"/>
            <a:ext cx="5532120" cy="384048"/>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לוגיקת ה-pipeline משוכפלת</a:t>
            </a:r>
            <a:endParaRPr lang="en-US" sz="1450" dirty="0"/>
          </a:p>
        </p:txBody>
      </p:sp>
      <p:sp>
        <p:nvSpPr>
          <p:cNvPr id="16" name="Text 14"/>
          <p:cNvSpPr/>
          <p:nvPr/>
        </p:nvSpPr>
        <p:spPr>
          <a:xfrm>
            <a:off x="548640" y="3739896"/>
            <a:ext cx="10881360" cy="36576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כל אפליקציה מגדירה אותה בנפרד, במקום שתהיה משותפת ומתוחזקת במקום אחד.</a:t>
            </a:r>
            <a:endParaRPr lang="en-US" sz="1200" dirty="0"/>
          </a:p>
        </p:txBody>
      </p:sp>
      <p:sp>
        <p:nvSpPr>
          <p:cNvPr id="17" name="Shape 15"/>
          <p:cNvSpPr/>
          <p:nvPr/>
        </p:nvSpPr>
        <p:spPr>
          <a:xfrm>
            <a:off x="11185855" y="4215384"/>
            <a:ext cx="457200" cy="457200"/>
          </a:xfrm>
          <a:prstGeom prst="ellipse">
            <a:avLst/>
          </a:prstGeom>
          <a:solidFill>
            <a:srgbClr val="E4572E"/>
          </a:solidFill>
          <a:ln/>
        </p:spPr>
      </p:sp>
      <p:sp>
        <p:nvSpPr>
          <p:cNvPr id="18" name="Text 16"/>
          <p:cNvSpPr/>
          <p:nvPr/>
        </p:nvSpPr>
        <p:spPr>
          <a:xfrm>
            <a:off x="11185855" y="4215384"/>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9" name="Text 17"/>
          <p:cNvSpPr/>
          <p:nvPr/>
        </p:nvSpPr>
        <p:spPr>
          <a:xfrm>
            <a:off x="5608015" y="4197096"/>
            <a:ext cx="5532120" cy="384048"/>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שלושה פרויקטי CD נפרדים</a:t>
            </a:r>
            <a:endParaRPr lang="en-US" sz="1450" dirty="0"/>
          </a:p>
        </p:txBody>
      </p:sp>
      <p:sp>
        <p:nvSpPr>
          <p:cNvPr id="20" name="Text 18"/>
          <p:cNvSpPr/>
          <p:nvPr/>
        </p:nvSpPr>
        <p:spPr>
          <a:xfrm>
            <a:off x="548640" y="4581144"/>
            <a:ext cx="10881360" cy="36576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chaos-ci, cflow-cd, deploy-cd — צריך לתחזק ולסנכרן ביניהם ככל שהתהליך מתפתח.</a:t>
            </a:r>
            <a:endParaRPr lang="en-US" sz="1200" dirty="0"/>
          </a:p>
        </p:txBody>
      </p:sp>
      <p:sp>
        <p:nvSpPr>
          <p:cNvPr id="21" name="Shape 19"/>
          <p:cNvSpPr/>
          <p:nvPr/>
        </p:nvSpPr>
        <p:spPr>
          <a:xfrm>
            <a:off x="11185855" y="5056632"/>
            <a:ext cx="457200" cy="457200"/>
          </a:xfrm>
          <a:prstGeom prst="ellipse">
            <a:avLst/>
          </a:prstGeom>
          <a:solidFill>
            <a:srgbClr val="E4572E"/>
          </a:solidFill>
          <a:ln/>
        </p:spPr>
      </p:sp>
      <p:sp>
        <p:nvSpPr>
          <p:cNvPr id="22" name="Text 20"/>
          <p:cNvSpPr/>
          <p:nvPr/>
        </p:nvSpPr>
        <p:spPr>
          <a:xfrm>
            <a:off x="11185855" y="5056632"/>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3" name="Text 21"/>
          <p:cNvSpPr/>
          <p:nvPr/>
        </p:nvSpPr>
        <p:spPr>
          <a:xfrm>
            <a:off x="5608015" y="5038344"/>
            <a:ext cx="5532120" cy="384048"/>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אין תיעוד קבוע למה שבאמת רץ</a:t>
            </a:r>
            <a:endParaRPr lang="en-US" sz="1450" dirty="0"/>
          </a:p>
        </p:txBody>
      </p:sp>
      <p:sp>
        <p:nvSpPr>
          <p:cNvPr id="24" name="Text 22"/>
          <p:cNvSpPr/>
          <p:nvPr/>
        </p:nvSpPr>
        <p:spPr>
          <a:xfrm>
            <a:off x="548640" y="5422392"/>
            <a:ext cx="10881360" cy="36576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"מה פרוס, ואיפה" חי רק בהיסטוריית ה-jobs — לא במקום קבוע וניתן לסקירה.</a:t>
            </a:r>
            <a:endParaRPr lang="en-US" sz="1200" dirty="0"/>
          </a:p>
        </p:txBody>
      </p:sp>
      <p:sp>
        <p:nvSpPr>
          <p:cNvPr id="25" name="Shape 23"/>
          <p:cNvSpPr/>
          <p:nvPr/>
        </p:nvSpPr>
        <p:spPr>
          <a:xfrm>
            <a:off x="548640" y="5943600"/>
            <a:ext cx="11064240" cy="685800"/>
          </a:xfrm>
          <a:prstGeom prst="roundRect">
            <a:avLst>
              <a:gd name="adj" fmla="val 10667"/>
            </a:avLst>
          </a:prstGeom>
          <a:solidFill>
            <a:srgbClr val="1B1F3B"/>
          </a:solidFill>
          <a:ln/>
          <a:effectLst>
            <a:outerShdw sx="100000" sy="100000" kx="0" ky="0" algn="bl" rotWithShape="0" blurRad="76200" dist="25400" dir="5400000">
              <a:srgbClr val="9AA5AF">
                <a:alpha val="25000"/>
              </a:srgbClr>
            </a:outerShdw>
          </a:effectLst>
        </p:spPr>
      </p:sp>
      <p:sp>
        <p:nvSpPr>
          <p:cNvPr id="26" name="Text 24"/>
          <p:cNvSpPr/>
          <p:nvPr/>
        </p:nvSpPr>
        <p:spPr>
          <a:xfrm>
            <a:off x="822960" y="5943600"/>
            <a:ext cx="10515600" cy="685800"/>
          </a:xfrm>
          <a:prstGeom prst="rect">
            <a:avLst/>
          </a:prstGeom>
          <a:noFill/>
          <a:ln/>
        </p:spPr>
        <p:txBody>
          <a:bodyPr wrap="square" rtlCol="0" anchor="ctr"/>
          <a:lstStyle/>
          <a:p>
            <a:pPr rtl="1" algn="r" indent="0" marL="0">
              <a:buNone/>
            </a:pPr>
            <a:r>
              <a:rPr lang="en-US" sz="1300" b="1" dirty="0">
                <a:solidFill>
                  <a:srgbClr val="6FE7DD"/>
                </a:solidFill>
                <a:latin typeface="Arial" pitchFamily="34" charset="0"/>
                <a:ea typeface="Arial" pitchFamily="34" charset="-122"/>
                <a:cs typeface="Arial" pitchFamily="34" charset="-120"/>
              </a:rPr>
              <a:t>ההחלטה: לעבור למודל המבוסס על Nx affected + catdevops + Helm כמקור אמת (GitOps) — כי הוא פותר את כל אלה בבת אחת.</a:t>
            </a:r>
            <a:endParaRPr lang="en-US" sz="1300" dirty="0"/>
          </a:p>
        </p:txBody>
      </p:sp>
      <p:sp>
        <p:nvSpPr>
          <p:cNvPr id="27" name="Text 25"/>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28" name="Text 26"/>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מאיפה התחלנו</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דוגמה: פייפליין ישן</a:t>
            </a:r>
            <a:endParaRPr lang="en-US" sz="3000" dirty="0"/>
          </a:p>
        </p:txBody>
      </p:sp>
      <p:sp>
        <p:nvSpPr>
          <p:cNvPr id="5" name="Shape 3"/>
          <p:cNvSpPr/>
          <p:nvPr/>
        </p:nvSpPr>
        <p:spPr>
          <a:xfrm>
            <a:off x="548640" y="1645920"/>
            <a:ext cx="11064240" cy="3794760"/>
          </a:xfrm>
          <a:prstGeom prst="roundRect">
            <a:avLst>
              <a:gd name="adj" fmla="val 1928"/>
            </a:avLst>
          </a:prstGeom>
          <a:solidFill>
            <a:srgbClr val="FFFFFF"/>
          </a:solidFill>
          <a:ln w="19050">
            <a:solidFill>
              <a:srgbClr val="5B6572"/>
            </a:solidFill>
            <a:prstDash val="dash"/>
          </a:ln>
        </p:spPr>
      </p:sp>
      <p:sp>
        <p:nvSpPr>
          <p:cNvPr id="6" name="Shape 4"/>
          <p:cNvSpPr/>
          <p:nvPr/>
        </p:nvSpPr>
        <p:spPr>
          <a:xfrm>
            <a:off x="5641848" y="2651760"/>
            <a:ext cx="914400" cy="914400"/>
          </a:xfrm>
          <a:prstGeom prst="roundRect">
            <a:avLst>
              <a:gd name="adj" fmla="val 15000"/>
            </a:avLst>
          </a:prstGeom>
          <a:solidFill>
            <a:srgbClr val="DEE1EC"/>
          </a:solidFill>
          <a:ln/>
        </p:spPr>
      </p:sp>
      <p:sp>
        <p:nvSpPr>
          <p:cNvPr id="7" name="Text 5"/>
          <p:cNvSpPr/>
          <p:nvPr/>
        </p:nvSpPr>
        <p:spPr>
          <a:xfrm>
            <a:off x="5641848" y="2606040"/>
            <a:ext cx="914400" cy="914400"/>
          </a:xfrm>
          <a:prstGeom prst="rect">
            <a:avLst/>
          </a:prstGeom>
          <a:noFill/>
          <a:ln/>
        </p:spPr>
        <p:txBody>
          <a:bodyPr wrap="square" rtlCol="0" anchor="ctr"/>
          <a:lstStyle/>
          <a:p>
            <a:pPr algn="ctr" indent="0" marL="0">
              <a:buNone/>
            </a:pPr>
            <a:r>
              <a:rPr lang="en-US" sz="3200" dirty="0">
                <a:solidFill>
                  <a:srgbClr val="000000"/>
                </a:solidFill>
                <a:latin typeface="Arial" pitchFamily="34" charset="0"/>
                <a:ea typeface="Arial" pitchFamily="34" charset="-122"/>
                <a:cs typeface="Arial" pitchFamily="34" charset="-120"/>
              </a:rPr>
              <a:t>🖼</a:t>
            </a:r>
            <a:endParaRPr lang="en-US" sz="3200" dirty="0"/>
          </a:p>
        </p:txBody>
      </p:sp>
      <p:sp>
        <p:nvSpPr>
          <p:cNvPr id="8" name="Text 6"/>
          <p:cNvSpPr/>
          <p:nvPr/>
        </p:nvSpPr>
        <p:spPr>
          <a:xfrm>
            <a:off x="1463040" y="3703320"/>
            <a:ext cx="9235440" cy="365760"/>
          </a:xfrm>
          <a:prstGeom prst="rect">
            <a:avLst/>
          </a:prstGeom>
          <a:noFill/>
          <a:ln/>
        </p:spPr>
        <p:txBody>
          <a:bodyPr wrap="square" rtlCol="0" anchor="ctr"/>
          <a:lstStyle/>
          <a:p>
            <a:pPr rtl="1" algn="ctr" indent="0" marL="0">
              <a:buNone/>
            </a:pPr>
            <a:r>
              <a:rPr lang="en-US" sz="1300" b="1" dirty="0">
                <a:solidFill>
                  <a:srgbClr val="5B6572"/>
                </a:solidFill>
                <a:latin typeface="Arial" pitchFamily="34" charset="0"/>
                <a:ea typeface="Arial" pitchFamily="34" charset="-122"/>
                <a:cs typeface="Arial" pitchFamily="34" charset="-120"/>
              </a:rPr>
              <a:t>צילום מסך / דוגמה יתווספו כאן</a:t>
            </a:r>
            <a:endParaRPr lang="en-US" sz="1300" dirty="0"/>
          </a:p>
        </p:txBody>
      </p:sp>
      <p:sp>
        <p:nvSpPr>
          <p:cNvPr id="9" name="Text 7"/>
          <p:cNvSpPr/>
          <p:nvPr/>
        </p:nvSpPr>
        <p:spPr>
          <a:xfrm>
            <a:off x="1463040" y="4069080"/>
            <a:ext cx="9235440" cy="365760"/>
          </a:xfrm>
          <a:prstGeom prst="rect">
            <a:avLst/>
          </a:prstGeom>
          <a:noFill/>
          <a:ln/>
        </p:spPr>
        <p:txBody>
          <a:bodyPr wrap="square" rtlCol="0" anchor="ctr"/>
          <a:lstStyle/>
          <a:p>
            <a:pPr rtl="1" algn="ctr" indent="0" marL="0">
              <a:buNone/>
            </a:pPr>
            <a:r>
              <a:rPr lang="en-US" sz="1150" i="1" dirty="0">
                <a:solidFill>
                  <a:srgbClr val="5B6572"/>
                </a:solidFill>
                <a:latin typeface="Arial" pitchFamily="34" charset="0"/>
                <a:ea typeface="Arial" pitchFamily="34" charset="-122"/>
                <a:cs typeface="Arial" pitchFamily="34" charset="-120"/>
              </a:rPr>
              <a:t>לדוגמה: הרצה של chaos-ci / cflow-cd / deploy-cd מתוך GitLab</a:t>
            </a:r>
            <a:endParaRPr lang="en-US" sz="1150" dirty="0"/>
          </a:p>
        </p:txBody>
      </p:sp>
      <p:sp>
        <p:nvSpPr>
          <p:cNvPr id="10" name="Shape 8"/>
          <p:cNvSpPr/>
          <p:nvPr/>
        </p:nvSpPr>
        <p:spPr>
          <a:xfrm>
            <a:off x="548640" y="5623560"/>
            <a:ext cx="11064240" cy="777240"/>
          </a:xfrm>
          <a:prstGeom prst="roundRect">
            <a:avLst>
              <a:gd name="adj" fmla="val 9412"/>
            </a:avLst>
          </a:prstGeom>
          <a:solidFill>
            <a:srgbClr val="FFFFFF"/>
          </a:solidFill>
          <a:ln w="15240">
            <a:solidFill>
              <a:srgbClr val="DEE1EC"/>
            </a:solidFill>
            <a:prstDash val="solid"/>
          </a:ln>
        </p:spPr>
      </p:sp>
      <p:sp>
        <p:nvSpPr>
          <p:cNvPr id="11" name="Text 9"/>
          <p:cNvSpPr/>
          <p:nvPr/>
        </p:nvSpPr>
        <p:spPr>
          <a:xfrm>
            <a:off x="822960" y="5760720"/>
            <a:ext cx="1828800" cy="365760"/>
          </a:xfrm>
          <a:prstGeom prst="rect">
            <a:avLst/>
          </a:prstGeom>
          <a:noFill/>
          <a:ln/>
        </p:spPr>
        <p:txBody>
          <a:bodyPr wrap="square" rtlCol="0" anchor="ctr"/>
          <a:lstStyle/>
          <a:p>
            <a:pPr rtl="1" algn="r" indent="0" marL="0">
              <a:buNone/>
            </a:pPr>
            <a:r>
              <a:rPr lang="en-US" sz="1300" b="1" dirty="0">
                <a:solidFill>
                  <a:srgbClr val="3949AB"/>
                </a:solidFill>
                <a:latin typeface="Arial" pitchFamily="34" charset="0"/>
                <a:ea typeface="Arial" pitchFamily="34" charset="-122"/>
                <a:cs typeface="Arial" pitchFamily="34" charset="-120"/>
              </a:rPr>
              <a:t>קישור</a:t>
            </a:r>
            <a:endParaRPr lang="en-US" sz="1300" dirty="0"/>
          </a:p>
        </p:txBody>
      </p:sp>
      <p:sp>
        <p:nvSpPr>
          <p:cNvPr id="12" name="Text 10"/>
          <p:cNvSpPr/>
          <p:nvPr/>
        </p:nvSpPr>
        <p:spPr>
          <a:xfrm>
            <a:off x="822960" y="6053328"/>
            <a:ext cx="10332720" cy="320040"/>
          </a:xfrm>
          <a:prstGeom prst="rect">
            <a:avLst/>
          </a:prstGeom>
          <a:noFill/>
          <a:ln/>
        </p:spPr>
        <p:txBody>
          <a:bodyPr wrap="square" rtlCol="0" anchor="ctr"/>
          <a:lstStyle/>
          <a:p>
            <a:pPr algn="r" indent="0" marL="0">
              <a:buNone/>
            </a:pPr>
            <a:r>
              <a:rPr lang="en-US" sz="1300" i="1" dirty="0">
                <a:solidFill>
                  <a:srgbClr val="5B6572"/>
                </a:solidFill>
                <a:latin typeface="Consolas" pitchFamily="34" charset="0"/>
                <a:ea typeface="Consolas" pitchFamily="34" charset="-122"/>
                <a:cs typeface="Consolas" pitchFamily="34" charset="-120"/>
              </a:rPr>
              <a:t>[ להוסיף קישור לדוגמה ]</a:t>
            </a:r>
            <a:endParaRPr lang="en-US" sz="1300" dirty="0"/>
          </a:p>
        </p:txBody>
      </p:sp>
      <p:sp>
        <p:nvSpPr>
          <p:cNvPr id="13" name="Text 11"/>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4" name="Text 12"/>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F3B"/>
        </a:solidFill>
      </p:bgPr>
    </p:bg>
    <p:spTree>
      <p:nvGrpSpPr>
        <p:cNvPr id="1" name=""/>
        <p:cNvGrpSpPr/>
        <p:nvPr/>
      </p:nvGrpSpPr>
      <p:grpSpPr>
        <a:xfrm>
          <a:off x="0" y="0"/>
          <a:ext cx="0" cy="0"/>
          <a:chOff x="0" y="0"/>
          <a:chExt cx="0" cy="0"/>
        </a:xfrm>
      </p:grpSpPr>
      <p:sp>
        <p:nvSpPr>
          <p:cNvPr id="2" name="Shape 0"/>
          <p:cNvSpPr/>
          <p:nvPr/>
        </p:nvSpPr>
        <p:spPr>
          <a:xfrm>
            <a:off x="-2926080" y="4206240"/>
            <a:ext cx="5669280" cy="5669280"/>
          </a:xfrm>
          <a:prstGeom prst="ellipse">
            <a:avLst/>
          </a:prstGeom>
          <a:solidFill>
            <a:srgbClr val="3949AB">
              <a:alpha val="40000"/>
            </a:srgbClr>
          </a:solidFill>
          <a:ln/>
        </p:spPr>
      </p:sp>
      <p:sp>
        <p:nvSpPr>
          <p:cNvPr id="3" name="Shape 1"/>
          <p:cNvSpPr/>
          <p:nvPr/>
        </p:nvSpPr>
        <p:spPr>
          <a:xfrm>
            <a:off x="10607040" y="-1645920"/>
            <a:ext cx="3291840" cy="3291840"/>
          </a:xfrm>
          <a:prstGeom prst="ellipse">
            <a:avLst/>
          </a:prstGeom>
          <a:solidFill>
            <a:srgbClr val="FFB100">
              <a:alpha val="22000"/>
            </a:srgbClr>
          </a:solidFill>
          <a:ln/>
        </p:spPr>
      </p:sp>
      <p:sp>
        <p:nvSpPr>
          <p:cNvPr id="4" name="Shape 2"/>
          <p:cNvSpPr/>
          <p:nvPr/>
        </p:nvSpPr>
        <p:spPr>
          <a:xfrm>
            <a:off x="11265408" y="219456"/>
            <a:ext cx="118872" cy="118872"/>
          </a:xfrm>
          <a:prstGeom prst="ellipse">
            <a:avLst/>
          </a:prstGeom>
          <a:solidFill>
            <a:srgbClr val="FFB100"/>
          </a:solidFill>
          <a:ln/>
        </p:spPr>
      </p:sp>
      <p:sp>
        <p:nvSpPr>
          <p:cNvPr id="5" name="Text 3"/>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6FE7DD"/>
                </a:solidFill>
                <a:latin typeface="Arial" pitchFamily="34" charset="0"/>
                <a:ea typeface="Arial" pitchFamily="34" charset="-122"/>
                <a:cs typeface="Arial" pitchFamily="34" charset="-120"/>
              </a:rPr>
              <a:t>למה אנחנו משנים את זה</a:t>
            </a:r>
            <a:endParaRPr lang="en-US" sz="1200" dirty="0"/>
          </a:p>
        </p:txBody>
      </p:sp>
      <p:sp>
        <p:nvSpPr>
          <p:cNvPr id="6" name="Text 4"/>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FFFFFF"/>
                </a:solidFill>
                <a:latin typeface="Arial" pitchFamily="34" charset="0"/>
                <a:ea typeface="Arial" pitchFamily="34" charset="-122"/>
                <a:cs typeface="Arial" pitchFamily="34" charset="-120"/>
              </a:rPr>
              <a:t>מעבר למודל GitOps</a:t>
            </a:r>
            <a:endParaRPr lang="en-US" sz="3000" dirty="0"/>
          </a:p>
        </p:txBody>
      </p:sp>
      <p:sp>
        <p:nvSpPr>
          <p:cNvPr id="7" name="Shape 5"/>
          <p:cNvSpPr/>
          <p:nvPr/>
        </p:nvSpPr>
        <p:spPr>
          <a:xfrm>
            <a:off x="6248095" y="1691640"/>
            <a:ext cx="5394960" cy="3977640"/>
          </a:xfrm>
          <a:prstGeom prst="roundRect">
            <a:avLst>
              <a:gd name="adj" fmla="val 1839"/>
            </a:avLst>
          </a:prstGeom>
          <a:solidFill>
            <a:srgbClr val="2C3766"/>
          </a:solidFill>
          <a:ln/>
          <a:effectLst>
            <a:outerShdw sx="100000" sy="100000" kx="0" ky="0" algn="bl" rotWithShape="0" blurRad="76200" dist="25400" dir="5400000">
              <a:srgbClr val="9AA5AF">
                <a:alpha val="25000"/>
              </a:srgbClr>
            </a:outerShdw>
          </a:effectLst>
        </p:spPr>
      </p:sp>
      <p:sp>
        <p:nvSpPr>
          <p:cNvPr id="8" name="Text 6"/>
          <p:cNvSpPr/>
          <p:nvPr/>
        </p:nvSpPr>
        <p:spPr>
          <a:xfrm>
            <a:off x="6568135" y="1920240"/>
            <a:ext cx="4754880" cy="365760"/>
          </a:xfrm>
          <a:prstGeom prst="rect">
            <a:avLst/>
          </a:prstGeom>
          <a:noFill/>
          <a:ln/>
        </p:spPr>
        <p:txBody>
          <a:bodyPr wrap="square" rtlCol="0" anchor="ctr"/>
          <a:lstStyle/>
          <a:p>
            <a:pPr rtl="1" algn="r" indent="0" marL="0">
              <a:buNone/>
            </a:pPr>
            <a:r>
              <a:rPr lang="en-US" sz="1700" b="1" dirty="0">
                <a:solidFill>
                  <a:srgbClr val="8892B0"/>
                </a:solidFill>
                <a:latin typeface="Arial" pitchFamily="34" charset="0"/>
                <a:ea typeface="Arial" pitchFamily="34" charset="-122"/>
                <a:cs typeface="Arial" pitchFamily="34" charset="-120"/>
              </a:rPr>
              <a:t>לפני</a:t>
            </a:r>
            <a:endParaRPr lang="en-US" sz="1700" dirty="0"/>
          </a:p>
        </p:txBody>
      </p:sp>
      <p:sp>
        <p:nvSpPr>
          <p:cNvPr id="9" name="Text 7"/>
          <p:cNvSpPr/>
          <p:nvPr/>
        </p:nvSpPr>
        <p:spPr>
          <a:xfrm>
            <a:off x="6568135" y="2377440"/>
            <a:ext cx="4846320" cy="1554480"/>
          </a:xfrm>
          <a:prstGeom prst="rect">
            <a:avLst/>
          </a:prstGeom>
          <a:noFill/>
          <a:ln/>
        </p:spPr>
        <p:txBody>
          <a:bodyPr wrap="square" rtlCol="0" anchor="ctr"/>
          <a:lstStyle/>
          <a:p>
            <a:pPr rtl="1" algn="r" indent="0" marL="0">
              <a:lnSpc>
                <a:spcPct val="130000"/>
              </a:lnSpc>
              <a:buNone/>
            </a:pPr>
            <a:r>
              <a:rPr lang="en-US" sz="1350" dirty="0">
                <a:solidFill>
                  <a:srgbClr val="CADCFC"/>
                </a:solidFill>
                <a:latin typeface="Arial" pitchFamily="34" charset="0"/>
                <a:ea typeface="Arial" pitchFamily="34" charset="-122"/>
                <a:cs typeface="Arial" pitchFamily="34" charset="-120"/>
              </a:rPr>
              <a:t>ה-pipelines פעלו ישירות על ה-cluster. מה שבאמת רץ ב-OpenShift היה קיים רק בהיסטוריית ריצות ה-deploy — ולא היה כתוב במקום קבוע וניתן לסקירה.</a:t>
            </a:r>
            <a:endParaRPr lang="en-US" sz="1350" dirty="0"/>
          </a:p>
        </p:txBody>
      </p:sp>
      <p:sp>
        <p:nvSpPr>
          <p:cNvPr id="10" name="Shape 8"/>
          <p:cNvSpPr/>
          <p:nvPr/>
        </p:nvSpPr>
        <p:spPr>
          <a:xfrm>
            <a:off x="533095" y="1691640"/>
            <a:ext cx="5394960" cy="3977640"/>
          </a:xfrm>
          <a:prstGeom prst="roundRect">
            <a:avLst>
              <a:gd name="adj" fmla="val 1839"/>
            </a:avLst>
          </a:prstGeom>
          <a:solidFill>
            <a:srgbClr val="00A896"/>
          </a:solidFill>
          <a:ln/>
          <a:effectLst>
            <a:outerShdw sx="100000" sy="100000" kx="0" ky="0" algn="bl" rotWithShape="0" blurRad="76200" dist="25400" dir="5400000">
              <a:srgbClr val="9AA5AF">
                <a:alpha val="25000"/>
              </a:srgbClr>
            </a:outerShdw>
          </a:effectLst>
        </p:spPr>
      </p:sp>
      <p:sp>
        <p:nvSpPr>
          <p:cNvPr id="11" name="Text 9"/>
          <p:cNvSpPr/>
          <p:nvPr/>
        </p:nvSpPr>
        <p:spPr>
          <a:xfrm>
            <a:off x="853135" y="1920240"/>
            <a:ext cx="4754880" cy="36576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אחרי — GitOps</a:t>
            </a:r>
            <a:endParaRPr lang="en-US" sz="1700" dirty="0"/>
          </a:p>
        </p:txBody>
      </p:sp>
      <p:sp>
        <p:nvSpPr>
          <p:cNvPr id="12" name="Text 10"/>
          <p:cNvSpPr/>
          <p:nvPr/>
        </p:nvSpPr>
        <p:spPr>
          <a:xfrm>
            <a:off x="853135" y="2377440"/>
            <a:ext cx="4846320" cy="2011680"/>
          </a:xfrm>
          <a:prstGeom prst="rect">
            <a:avLst/>
          </a:prstGeom>
          <a:noFill/>
          <a:ln/>
        </p:spPr>
        <p:txBody>
          <a:bodyPr wrap="square" rtlCol="0" anchor="ctr"/>
          <a:lstStyle/>
          <a:p>
            <a:pPr rtl="1" algn="r" indent="0" marL="0">
              <a:lnSpc>
                <a:spcPct val="130000"/>
              </a:lnSpc>
              <a:buNone/>
            </a:pPr>
            <a:r>
              <a:rPr lang="en-US" sz="1300" dirty="0">
                <a:solidFill>
                  <a:srgbClr val="FFFFFF"/>
                </a:solidFill>
                <a:latin typeface="Arial" pitchFamily="34" charset="0"/>
                <a:ea typeface="Arial" pitchFamily="34" charset="-122"/>
                <a:cs typeface="Arial" pitchFamily="34" charset="-120"/>
              </a:rPr>
              <a:t>פרויקט ה-Helm הוא כעת מקור האמת הדקלרטיבי. ה-pipeline שלנו מוביל את OpenShift בדיוק למה שמחובר שם — כרגע בגישת push. כל deploy הוא commit ל-Git: עם היסטוריה, ניתן לסקירה וניתן לשחזור, במקום פעולה אימפרטיבית בתוך pipeline.</a:t>
            </a:r>
            <a:endParaRPr lang="en-US" sz="1300" dirty="0"/>
          </a:p>
        </p:txBody>
      </p:sp>
      <p:sp>
        <p:nvSpPr>
          <p:cNvPr id="13" name="Text 11"/>
          <p:cNvSpPr/>
          <p:nvPr/>
        </p:nvSpPr>
        <p:spPr>
          <a:xfrm>
            <a:off x="548640" y="5760720"/>
            <a:ext cx="11064240" cy="731520"/>
          </a:xfrm>
          <a:prstGeom prst="rect">
            <a:avLst/>
          </a:prstGeom>
          <a:noFill/>
          <a:ln/>
        </p:spPr>
        <p:txBody>
          <a:bodyPr wrap="square" rtlCol="0" anchor="ctr"/>
          <a:lstStyle/>
          <a:p>
            <a:pPr rtl="1" algn="r" indent="0" marL="0">
              <a:buNone/>
            </a:pPr>
            <a:r>
              <a:rPr lang="en-US" sz="1200" i="1" dirty="0">
                <a:solidFill>
                  <a:srgbClr val="9FB3D9"/>
                </a:solidFill>
                <a:latin typeface="Arial" pitchFamily="34" charset="0"/>
                <a:ea typeface="Arial" pitchFamily="34" charset="-122"/>
                <a:cs typeface="Arial" pitchFamily="34" charset="-120"/>
              </a:rPr>
              <a:t>זו הסיבה האמיתית מאחורי הריפקטור — Nx affected ו-catdevops הם המנגנון שהופך את ה-commit ל-Helm על כל שינוי, למעשי. (כרגע זו גישת push דרך ה-pipeline שלנו; שכבת סנכרון מבוססת pull — ArgoCD — נמצאת במפת הדרכים. ראו "מבט קדימה".)</a:t>
            </a:r>
            <a:endParaRPr lang="en-US" sz="1200" dirty="0"/>
          </a:p>
        </p:txBody>
      </p:sp>
      <p:sp>
        <p:nvSpPr>
          <p:cNvPr id="14" name="Text 12"/>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5" name="Text 13"/>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למה אנחנו משנים את זה</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הערכים ש-GitOps נותן לנו</a:t>
            </a:r>
            <a:endParaRPr lang="en-US" sz="3000" dirty="0"/>
          </a:p>
        </p:txBody>
      </p:sp>
      <p:sp>
        <p:nvSpPr>
          <p:cNvPr id="5" name="Shape 3"/>
          <p:cNvSpPr/>
          <p:nvPr/>
        </p:nvSpPr>
        <p:spPr>
          <a:xfrm>
            <a:off x="6202375" y="1600200"/>
            <a:ext cx="5440680" cy="1417320"/>
          </a:xfrm>
          <a:prstGeom prst="roundRect">
            <a:avLst>
              <a:gd name="adj" fmla="val 5161"/>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Shape 4"/>
          <p:cNvSpPr/>
          <p:nvPr/>
        </p:nvSpPr>
        <p:spPr>
          <a:xfrm>
            <a:off x="10957255" y="1828800"/>
            <a:ext cx="457200" cy="457200"/>
          </a:xfrm>
          <a:prstGeom prst="roundRect">
            <a:avLst>
              <a:gd name="adj" fmla="val 18000"/>
            </a:avLst>
          </a:prstGeom>
          <a:solidFill>
            <a:srgbClr val="3949AB"/>
          </a:solidFill>
          <a:ln/>
        </p:spPr>
      </p:sp>
      <p:sp>
        <p:nvSpPr>
          <p:cNvPr id="7" name="Text 5"/>
          <p:cNvSpPr/>
          <p:nvPr/>
        </p:nvSpPr>
        <p:spPr>
          <a:xfrm>
            <a:off x="10957255" y="182880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6"/>
          <p:cNvSpPr/>
          <p:nvPr/>
        </p:nvSpPr>
        <p:spPr>
          <a:xfrm>
            <a:off x="6430975" y="1783080"/>
            <a:ext cx="4389120" cy="365760"/>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מקור אמת</a:t>
            </a:r>
            <a:endParaRPr lang="en-US" sz="1450" dirty="0"/>
          </a:p>
        </p:txBody>
      </p:sp>
      <p:sp>
        <p:nvSpPr>
          <p:cNvPr id="9" name="Text 7"/>
          <p:cNvSpPr/>
          <p:nvPr/>
        </p:nvSpPr>
        <p:spPr>
          <a:xfrm>
            <a:off x="6430975" y="2167128"/>
            <a:ext cx="4389120" cy="777240"/>
          </a:xfrm>
          <a:prstGeom prst="rect">
            <a:avLst/>
          </a:prstGeom>
          <a:noFill/>
          <a:ln/>
        </p:spPr>
        <p:txBody>
          <a:bodyPr wrap="square" rtlCol="0" anchor="ctr"/>
          <a:lstStyle/>
          <a:p>
            <a:pPr rtl="1" algn="r" indent="0" marL="0">
              <a:lnSpc>
                <a:spcPct val="125000"/>
              </a:lnSpc>
              <a:buNone/>
            </a:pPr>
            <a:r>
              <a:rPr lang="en-US" sz="1100" dirty="0">
                <a:solidFill>
                  <a:srgbClr val="5B6572"/>
                </a:solidFill>
                <a:latin typeface="Arial" pitchFamily="34" charset="0"/>
                <a:ea typeface="Arial" pitchFamily="34" charset="-122"/>
                <a:cs typeface="Arial" pitchFamily="34" charset="-120"/>
              </a:rPr>
              <a:t>מה שמחובר (committed) בפרויקט ה-Helm הוא מה שאמור לרוץ — בלי ניחושים ובלי ידע שבעל-פה.</a:t>
            </a:r>
            <a:endParaRPr lang="en-US" sz="1100" dirty="0"/>
          </a:p>
        </p:txBody>
      </p:sp>
      <p:sp>
        <p:nvSpPr>
          <p:cNvPr id="10" name="Shape 8"/>
          <p:cNvSpPr/>
          <p:nvPr/>
        </p:nvSpPr>
        <p:spPr>
          <a:xfrm>
            <a:off x="487375" y="1600200"/>
            <a:ext cx="5440680" cy="1417320"/>
          </a:xfrm>
          <a:prstGeom prst="roundRect">
            <a:avLst>
              <a:gd name="adj" fmla="val 5161"/>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1" name="Shape 9"/>
          <p:cNvSpPr/>
          <p:nvPr/>
        </p:nvSpPr>
        <p:spPr>
          <a:xfrm>
            <a:off x="5242255" y="1828800"/>
            <a:ext cx="457200" cy="457200"/>
          </a:xfrm>
          <a:prstGeom prst="roundRect">
            <a:avLst>
              <a:gd name="adj" fmla="val 18000"/>
            </a:avLst>
          </a:prstGeom>
          <a:solidFill>
            <a:srgbClr val="3949AB"/>
          </a:solidFill>
          <a:ln/>
        </p:spPr>
      </p:sp>
      <p:sp>
        <p:nvSpPr>
          <p:cNvPr id="12" name="Text 10"/>
          <p:cNvSpPr/>
          <p:nvPr/>
        </p:nvSpPr>
        <p:spPr>
          <a:xfrm>
            <a:off x="5242255" y="182880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715975" y="1783080"/>
            <a:ext cx="4389120" cy="365760"/>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גרסאות (Versioning)</a:t>
            </a:r>
            <a:endParaRPr lang="en-US" sz="1450" dirty="0"/>
          </a:p>
        </p:txBody>
      </p:sp>
      <p:sp>
        <p:nvSpPr>
          <p:cNvPr id="14" name="Text 12"/>
          <p:cNvSpPr/>
          <p:nvPr/>
        </p:nvSpPr>
        <p:spPr>
          <a:xfrm>
            <a:off x="715975" y="2167128"/>
            <a:ext cx="4389120" cy="777240"/>
          </a:xfrm>
          <a:prstGeom prst="rect">
            <a:avLst/>
          </a:prstGeom>
          <a:noFill/>
          <a:ln/>
        </p:spPr>
        <p:txBody>
          <a:bodyPr wrap="square" rtlCol="0" anchor="ctr"/>
          <a:lstStyle/>
          <a:p>
            <a:pPr rtl="1" algn="r" indent="0" marL="0">
              <a:lnSpc>
                <a:spcPct val="125000"/>
              </a:lnSpc>
              <a:buNone/>
            </a:pPr>
            <a:r>
              <a:rPr lang="en-US" sz="1100" dirty="0">
                <a:solidFill>
                  <a:srgbClr val="5B6572"/>
                </a:solidFill>
                <a:latin typeface="Arial" pitchFamily="34" charset="0"/>
                <a:ea typeface="Arial" pitchFamily="34" charset="-122"/>
                <a:cs typeface="Arial" pitchFamily="34" charset="-120"/>
              </a:rPr>
              <a:t>כל שינוי הוא commit ל-Git: היסטוריה מלאה של מה השתנה, מתי, ועל ידי מי.</a:t>
            </a:r>
            <a:endParaRPr lang="en-US" sz="1100" dirty="0"/>
          </a:p>
        </p:txBody>
      </p:sp>
      <p:sp>
        <p:nvSpPr>
          <p:cNvPr id="15" name="Shape 13"/>
          <p:cNvSpPr/>
          <p:nvPr/>
        </p:nvSpPr>
        <p:spPr>
          <a:xfrm>
            <a:off x="6202375" y="3127248"/>
            <a:ext cx="5440680" cy="1417320"/>
          </a:xfrm>
          <a:prstGeom prst="roundRect">
            <a:avLst>
              <a:gd name="adj" fmla="val 5161"/>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6" name="Shape 14"/>
          <p:cNvSpPr/>
          <p:nvPr/>
        </p:nvSpPr>
        <p:spPr>
          <a:xfrm>
            <a:off x="10957255" y="3355848"/>
            <a:ext cx="457200" cy="457200"/>
          </a:xfrm>
          <a:prstGeom prst="roundRect">
            <a:avLst>
              <a:gd name="adj" fmla="val 18000"/>
            </a:avLst>
          </a:prstGeom>
          <a:solidFill>
            <a:srgbClr val="3949AB"/>
          </a:solidFill>
          <a:ln/>
        </p:spPr>
      </p:sp>
      <p:sp>
        <p:nvSpPr>
          <p:cNvPr id="17" name="Text 15"/>
          <p:cNvSpPr/>
          <p:nvPr/>
        </p:nvSpPr>
        <p:spPr>
          <a:xfrm>
            <a:off x="10957255" y="335584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16"/>
          <p:cNvSpPr/>
          <p:nvPr/>
        </p:nvSpPr>
        <p:spPr>
          <a:xfrm>
            <a:off x="6430975" y="3310128"/>
            <a:ext cx="4389120" cy="365760"/>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נראות</a:t>
            </a:r>
            <a:endParaRPr lang="en-US" sz="1450" dirty="0"/>
          </a:p>
        </p:txBody>
      </p:sp>
      <p:sp>
        <p:nvSpPr>
          <p:cNvPr id="19" name="Text 17"/>
          <p:cNvSpPr/>
          <p:nvPr/>
        </p:nvSpPr>
        <p:spPr>
          <a:xfrm>
            <a:off x="6430975" y="3694176"/>
            <a:ext cx="4389120" cy="777240"/>
          </a:xfrm>
          <a:prstGeom prst="rect">
            <a:avLst/>
          </a:prstGeom>
          <a:noFill/>
          <a:ln/>
        </p:spPr>
        <p:txBody>
          <a:bodyPr wrap="square" rtlCol="0" anchor="ctr"/>
          <a:lstStyle/>
          <a:p>
            <a:pPr rtl="1" algn="r" indent="0" marL="0">
              <a:lnSpc>
                <a:spcPct val="125000"/>
              </a:lnSpc>
              <a:buNone/>
            </a:pPr>
            <a:r>
              <a:rPr lang="en-US" sz="1100" dirty="0">
                <a:solidFill>
                  <a:srgbClr val="5B6572"/>
                </a:solidFill>
                <a:latin typeface="Arial" pitchFamily="34" charset="0"/>
                <a:ea typeface="Arial" pitchFamily="34" charset="-122"/>
                <a:cs typeface="Arial" pitchFamily="34" charset="-120"/>
              </a:rPr>
              <a:t>"מה פרוס, ואיפה" נענה על ידי קריאת קובץ — לא על ידי שאילת אנשים או חיפוש בלוגים.</a:t>
            </a:r>
            <a:endParaRPr lang="en-US" sz="1100" dirty="0"/>
          </a:p>
        </p:txBody>
      </p:sp>
      <p:sp>
        <p:nvSpPr>
          <p:cNvPr id="20" name="Shape 18"/>
          <p:cNvSpPr/>
          <p:nvPr/>
        </p:nvSpPr>
        <p:spPr>
          <a:xfrm>
            <a:off x="487375" y="3127248"/>
            <a:ext cx="5440680" cy="1417320"/>
          </a:xfrm>
          <a:prstGeom prst="roundRect">
            <a:avLst>
              <a:gd name="adj" fmla="val 5161"/>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21" name="Shape 19"/>
          <p:cNvSpPr/>
          <p:nvPr/>
        </p:nvSpPr>
        <p:spPr>
          <a:xfrm>
            <a:off x="5242255" y="3355848"/>
            <a:ext cx="457200" cy="457200"/>
          </a:xfrm>
          <a:prstGeom prst="roundRect">
            <a:avLst>
              <a:gd name="adj" fmla="val 18000"/>
            </a:avLst>
          </a:prstGeom>
          <a:solidFill>
            <a:srgbClr val="3949AB"/>
          </a:solidFill>
          <a:ln/>
        </p:spPr>
      </p:sp>
      <p:sp>
        <p:nvSpPr>
          <p:cNvPr id="22" name="Text 20"/>
          <p:cNvSpPr/>
          <p:nvPr/>
        </p:nvSpPr>
        <p:spPr>
          <a:xfrm>
            <a:off x="5242255" y="335584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21"/>
          <p:cNvSpPr/>
          <p:nvPr/>
        </p:nvSpPr>
        <p:spPr>
          <a:xfrm>
            <a:off x="715975" y="3310128"/>
            <a:ext cx="4389120" cy="365760"/>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התאוששות מאסון</a:t>
            </a:r>
            <a:endParaRPr lang="en-US" sz="1450" dirty="0"/>
          </a:p>
        </p:txBody>
      </p:sp>
      <p:sp>
        <p:nvSpPr>
          <p:cNvPr id="24" name="Text 22"/>
          <p:cNvSpPr/>
          <p:nvPr/>
        </p:nvSpPr>
        <p:spPr>
          <a:xfrm>
            <a:off x="715975" y="3694176"/>
            <a:ext cx="4389120" cy="777240"/>
          </a:xfrm>
          <a:prstGeom prst="rect">
            <a:avLst/>
          </a:prstGeom>
          <a:noFill/>
          <a:ln/>
        </p:spPr>
        <p:txBody>
          <a:bodyPr wrap="square" rtlCol="0" anchor="ctr"/>
          <a:lstStyle/>
          <a:p>
            <a:pPr rtl="1" algn="r" indent="0" marL="0">
              <a:lnSpc>
                <a:spcPct val="125000"/>
              </a:lnSpc>
              <a:buNone/>
            </a:pPr>
            <a:r>
              <a:rPr lang="en-US" sz="1100" dirty="0">
                <a:solidFill>
                  <a:srgbClr val="5B6572"/>
                </a:solidFill>
                <a:latin typeface="Arial" pitchFamily="34" charset="0"/>
                <a:ea typeface="Arial" pitchFamily="34" charset="-122"/>
                <a:cs typeface="Arial" pitchFamily="34" charset="-120"/>
              </a:rPr>
              <a:t>איבדתם cluster או namespace? פרויקט ה-Helm לבדו מספיק כדי לשחזר את המצב הרצוי מאפס.</a:t>
            </a:r>
            <a:endParaRPr lang="en-US" sz="1100" dirty="0"/>
          </a:p>
        </p:txBody>
      </p:sp>
      <p:sp>
        <p:nvSpPr>
          <p:cNvPr id="25" name="Shape 23"/>
          <p:cNvSpPr/>
          <p:nvPr/>
        </p:nvSpPr>
        <p:spPr>
          <a:xfrm>
            <a:off x="6202375" y="4654296"/>
            <a:ext cx="5440680" cy="1417320"/>
          </a:xfrm>
          <a:prstGeom prst="roundRect">
            <a:avLst>
              <a:gd name="adj" fmla="val 5161"/>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26" name="Shape 24"/>
          <p:cNvSpPr/>
          <p:nvPr/>
        </p:nvSpPr>
        <p:spPr>
          <a:xfrm>
            <a:off x="10957255" y="4882896"/>
            <a:ext cx="457200" cy="457200"/>
          </a:xfrm>
          <a:prstGeom prst="roundRect">
            <a:avLst>
              <a:gd name="adj" fmla="val 18000"/>
            </a:avLst>
          </a:prstGeom>
          <a:solidFill>
            <a:srgbClr val="3949AB"/>
          </a:solidFill>
          <a:ln/>
        </p:spPr>
      </p:sp>
      <p:sp>
        <p:nvSpPr>
          <p:cNvPr id="27" name="Text 25"/>
          <p:cNvSpPr/>
          <p:nvPr/>
        </p:nvSpPr>
        <p:spPr>
          <a:xfrm>
            <a:off x="10957255" y="4882896"/>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8" name="Text 26"/>
          <p:cNvSpPr/>
          <p:nvPr/>
        </p:nvSpPr>
        <p:spPr>
          <a:xfrm>
            <a:off x="6430975" y="4837176"/>
            <a:ext cx="4389120" cy="365760"/>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ביקורת (audit) ותאימות</a:t>
            </a:r>
            <a:endParaRPr lang="en-US" sz="1450" dirty="0"/>
          </a:p>
        </p:txBody>
      </p:sp>
      <p:sp>
        <p:nvSpPr>
          <p:cNvPr id="29" name="Text 27"/>
          <p:cNvSpPr/>
          <p:nvPr/>
        </p:nvSpPr>
        <p:spPr>
          <a:xfrm>
            <a:off x="6430975" y="5221224"/>
            <a:ext cx="4389120" cy="777240"/>
          </a:xfrm>
          <a:prstGeom prst="rect">
            <a:avLst/>
          </a:prstGeom>
          <a:noFill/>
          <a:ln/>
        </p:spPr>
        <p:txBody>
          <a:bodyPr wrap="square" rtlCol="0" anchor="ctr"/>
          <a:lstStyle/>
          <a:p>
            <a:pPr rtl="1" algn="r" indent="0" marL="0">
              <a:lnSpc>
                <a:spcPct val="125000"/>
              </a:lnSpc>
              <a:buNone/>
            </a:pPr>
            <a:r>
              <a:rPr lang="en-US" sz="1100" dirty="0">
                <a:solidFill>
                  <a:srgbClr val="5B6572"/>
                </a:solidFill>
                <a:latin typeface="Arial" pitchFamily="34" charset="0"/>
                <a:ea typeface="Arial" pitchFamily="34" charset="-122"/>
                <a:cs typeface="Arial" pitchFamily="34" charset="-120"/>
              </a:rPr>
              <a:t>כל deploy הוא commit ל-Git הניתן לייחוס ולסקירה, במקום פעולת pipeline לא מתועדת.</a:t>
            </a:r>
            <a:endParaRPr lang="en-US" sz="1100" dirty="0"/>
          </a:p>
        </p:txBody>
      </p:sp>
      <p:sp>
        <p:nvSpPr>
          <p:cNvPr id="30" name="Shape 28"/>
          <p:cNvSpPr/>
          <p:nvPr/>
        </p:nvSpPr>
        <p:spPr>
          <a:xfrm>
            <a:off x="487375" y="4654296"/>
            <a:ext cx="5440680" cy="1417320"/>
          </a:xfrm>
          <a:prstGeom prst="roundRect">
            <a:avLst>
              <a:gd name="adj" fmla="val 5161"/>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31" name="Shape 29"/>
          <p:cNvSpPr/>
          <p:nvPr/>
        </p:nvSpPr>
        <p:spPr>
          <a:xfrm>
            <a:off x="5242255" y="4882896"/>
            <a:ext cx="457200" cy="457200"/>
          </a:xfrm>
          <a:prstGeom prst="roundRect">
            <a:avLst>
              <a:gd name="adj" fmla="val 18000"/>
            </a:avLst>
          </a:prstGeom>
          <a:solidFill>
            <a:srgbClr val="3949AB"/>
          </a:solidFill>
          <a:ln/>
        </p:spPr>
      </p:sp>
      <p:sp>
        <p:nvSpPr>
          <p:cNvPr id="32" name="Text 30"/>
          <p:cNvSpPr/>
          <p:nvPr/>
        </p:nvSpPr>
        <p:spPr>
          <a:xfrm>
            <a:off x="5242255" y="4882896"/>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3" name="Text 31"/>
          <p:cNvSpPr/>
          <p:nvPr/>
        </p:nvSpPr>
        <p:spPr>
          <a:xfrm>
            <a:off x="715975" y="4837176"/>
            <a:ext cx="4389120" cy="365760"/>
          </a:xfrm>
          <a:prstGeom prst="rect">
            <a:avLst/>
          </a:prstGeom>
          <a:noFill/>
          <a:ln/>
        </p:spPr>
        <p:txBody>
          <a:bodyPr wrap="square" rtlCol="0" anchor="ctr"/>
          <a:lstStyle/>
          <a:p>
            <a:pPr rtl="1" algn="r" indent="0" marL="0">
              <a:buNone/>
            </a:pPr>
            <a:r>
              <a:rPr lang="en-US" sz="1450" b="1" dirty="0">
                <a:solidFill>
                  <a:srgbClr val="1B1F2A"/>
                </a:solidFill>
                <a:latin typeface="Arial" pitchFamily="34" charset="0"/>
                <a:ea typeface="Arial" pitchFamily="34" charset="-122"/>
                <a:cs typeface="Arial" pitchFamily="34" charset="-120"/>
              </a:rPr>
              <a:t>סביבות עקביות</a:t>
            </a:r>
            <a:endParaRPr lang="en-US" sz="1450" dirty="0"/>
          </a:p>
        </p:txBody>
      </p:sp>
      <p:sp>
        <p:nvSpPr>
          <p:cNvPr id="34" name="Text 32"/>
          <p:cNvSpPr/>
          <p:nvPr/>
        </p:nvSpPr>
        <p:spPr>
          <a:xfrm>
            <a:off x="715975" y="5221224"/>
            <a:ext cx="4389120" cy="777240"/>
          </a:xfrm>
          <a:prstGeom prst="rect">
            <a:avLst/>
          </a:prstGeom>
          <a:noFill/>
          <a:ln/>
        </p:spPr>
        <p:txBody>
          <a:bodyPr wrap="square" rtlCol="0" anchor="ctr"/>
          <a:lstStyle/>
          <a:p>
            <a:pPr rtl="1" algn="r" indent="0" marL="0">
              <a:lnSpc>
                <a:spcPct val="125000"/>
              </a:lnSpc>
              <a:buNone/>
            </a:pPr>
            <a:r>
              <a:rPr lang="en-US" sz="1100" dirty="0">
                <a:solidFill>
                  <a:srgbClr val="5B6572"/>
                </a:solidFill>
                <a:latin typeface="Arial" pitchFamily="34" charset="0"/>
                <a:ea typeface="Arial" pitchFamily="34" charset="-122"/>
                <a:cs typeface="Arial" pitchFamily="34" charset="-120"/>
              </a:rPr>
              <a:t>אותו מנגנון דקלרטיבי בכל הסביבות — אוטומציה, טסט, פרודקשן — מבטל סטיות שנובעות מפעולות ידניות.</a:t>
            </a:r>
            <a:endParaRPr lang="en-US" sz="1100" dirty="0"/>
          </a:p>
        </p:txBody>
      </p:sp>
      <p:sp>
        <p:nvSpPr>
          <p:cNvPr id="35" name="Text 33"/>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36" name="Text 34"/>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מה משתנה</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שלושה מרכיבי יסוד במודל החדש</a:t>
            </a:r>
            <a:endParaRPr lang="en-US" sz="3000" dirty="0"/>
          </a:p>
        </p:txBody>
      </p:sp>
      <p:sp>
        <p:nvSpPr>
          <p:cNvPr id="5" name="Shape 3"/>
          <p:cNvSpPr/>
          <p:nvPr/>
        </p:nvSpPr>
        <p:spPr>
          <a:xfrm>
            <a:off x="8046720" y="1691640"/>
            <a:ext cx="3429000" cy="3794760"/>
          </a:xfrm>
          <a:prstGeom prst="roundRect">
            <a:avLst>
              <a:gd name="adj" fmla="val 2133"/>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Shape 4"/>
          <p:cNvSpPr/>
          <p:nvPr/>
        </p:nvSpPr>
        <p:spPr>
          <a:xfrm>
            <a:off x="10698480" y="1965960"/>
            <a:ext cx="502920" cy="502920"/>
          </a:xfrm>
          <a:prstGeom prst="roundRect">
            <a:avLst>
              <a:gd name="adj" fmla="val 18182"/>
            </a:avLst>
          </a:prstGeom>
          <a:solidFill>
            <a:srgbClr val="3949AB"/>
          </a:solidFill>
          <a:ln/>
        </p:spPr>
      </p:sp>
      <p:sp>
        <p:nvSpPr>
          <p:cNvPr id="7" name="Text 5"/>
          <p:cNvSpPr/>
          <p:nvPr/>
        </p:nvSpPr>
        <p:spPr>
          <a:xfrm>
            <a:off x="10698480" y="1965960"/>
            <a:ext cx="502920" cy="5029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p:nvPr/>
        </p:nvSpPr>
        <p:spPr>
          <a:xfrm>
            <a:off x="8321040" y="2651760"/>
            <a:ext cx="2880360" cy="457200"/>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catdevops</a:t>
            </a:r>
            <a:endParaRPr lang="en-US" sz="1700" dirty="0"/>
          </a:p>
        </p:txBody>
      </p:sp>
      <p:sp>
        <p:nvSpPr>
          <p:cNvPr id="9" name="Text 7"/>
          <p:cNvSpPr/>
          <p:nvPr/>
        </p:nvSpPr>
        <p:spPr>
          <a:xfrm>
            <a:off x="8321040" y="3154680"/>
            <a:ext cx="2880360" cy="2103120"/>
          </a:xfrm>
          <a:prstGeom prst="rect">
            <a:avLst/>
          </a:prstGeom>
          <a:noFill/>
          <a:ln/>
        </p:spPr>
        <p:txBody>
          <a:bodyPr wrap="square" rtlCol="0" anchor="ctr"/>
          <a:lstStyle/>
          <a:p>
            <a:pPr rtl="1" algn="r" indent="0" marL="0">
              <a:lnSpc>
                <a:spcPct val="125000"/>
              </a:lnSpc>
              <a:buNone/>
            </a:pPr>
            <a:r>
              <a:rPr lang="en-US" sz="1300" dirty="0">
                <a:solidFill>
                  <a:srgbClr val="5B6572"/>
                </a:solidFill>
                <a:latin typeface="Arial" pitchFamily="34" charset="0"/>
                <a:ea typeface="Arial" pitchFamily="34" charset="-122"/>
                <a:cs typeface="Arial" pitchFamily="34" charset="-120"/>
              </a:rPr>
              <a:t>ספריית CI/CD משותפת, בבעלות צוות ה-DevOps, נכללת (include) בראש כל .gitlab-ci.yml — גם ב-Nx repo וגם בפוליי-repos.</a:t>
            </a:r>
            <a:endParaRPr lang="en-US" sz="1300" dirty="0"/>
          </a:p>
        </p:txBody>
      </p:sp>
      <p:sp>
        <p:nvSpPr>
          <p:cNvPr id="10" name="Shape 8"/>
          <p:cNvSpPr/>
          <p:nvPr/>
        </p:nvSpPr>
        <p:spPr>
          <a:xfrm>
            <a:off x="4297680" y="1691640"/>
            <a:ext cx="3429000" cy="3794760"/>
          </a:xfrm>
          <a:prstGeom prst="roundRect">
            <a:avLst>
              <a:gd name="adj" fmla="val 2133"/>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1" name="Shape 9"/>
          <p:cNvSpPr/>
          <p:nvPr/>
        </p:nvSpPr>
        <p:spPr>
          <a:xfrm>
            <a:off x="6949440" y="1965960"/>
            <a:ext cx="502920" cy="502920"/>
          </a:xfrm>
          <a:prstGeom prst="roundRect">
            <a:avLst>
              <a:gd name="adj" fmla="val 18182"/>
            </a:avLst>
          </a:prstGeom>
          <a:solidFill>
            <a:srgbClr val="00A896"/>
          </a:solidFill>
          <a:ln/>
        </p:spPr>
      </p:sp>
      <p:sp>
        <p:nvSpPr>
          <p:cNvPr id="12" name="Text 10"/>
          <p:cNvSpPr/>
          <p:nvPr/>
        </p:nvSpPr>
        <p:spPr>
          <a:xfrm>
            <a:off x="6949440" y="1965960"/>
            <a:ext cx="502920" cy="5029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4572000" y="2651760"/>
            <a:ext cx="2880360" cy="457200"/>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Nx affected</a:t>
            </a:r>
            <a:endParaRPr lang="en-US" sz="1700" dirty="0"/>
          </a:p>
        </p:txBody>
      </p:sp>
      <p:sp>
        <p:nvSpPr>
          <p:cNvPr id="14" name="Text 12"/>
          <p:cNvSpPr/>
          <p:nvPr/>
        </p:nvSpPr>
        <p:spPr>
          <a:xfrm>
            <a:off x="4572000" y="3154680"/>
            <a:ext cx="2880360" cy="2103120"/>
          </a:xfrm>
          <a:prstGeom prst="rect">
            <a:avLst/>
          </a:prstGeom>
          <a:noFill/>
          <a:ln/>
        </p:spPr>
        <p:txBody>
          <a:bodyPr wrap="square" rtlCol="0" anchor="ctr"/>
          <a:lstStyle/>
          <a:p>
            <a:pPr rtl="1" algn="r" indent="0" marL="0">
              <a:lnSpc>
                <a:spcPct val="125000"/>
              </a:lnSpc>
              <a:buNone/>
            </a:pPr>
            <a:r>
              <a:rPr lang="en-US" sz="1300" dirty="0">
                <a:solidFill>
                  <a:srgbClr val="5B6572"/>
                </a:solidFill>
                <a:latin typeface="Arial" pitchFamily="34" charset="0"/>
                <a:ea typeface="Arial" pitchFamily="34" charset="-122"/>
                <a:cs typeface="Arial" pitchFamily="34" charset="-120"/>
              </a:rPr>
              <a:t>כל push או MR מפעיל בדיקת nx affected. רק השירותים שבאמת השתנו נבנים — שום דבר אחר.</a:t>
            </a:r>
            <a:endParaRPr lang="en-US" sz="1300" dirty="0"/>
          </a:p>
        </p:txBody>
      </p:sp>
      <p:sp>
        <p:nvSpPr>
          <p:cNvPr id="15" name="Shape 13"/>
          <p:cNvSpPr/>
          <p:nvPr/>
        </p:nvSpPr>
        <p:spPr>
          <a:xfrm>
            <a:off x="548640" y="1691640"/>
            <a:ext cx="3429000" cy="3794760"/>
          </a:xfrm>
          <a:prstGeom prst="roundRect">
            <a:avLst>
              <a:gd name="adj" fmla="val 2133"/>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6" name="Shape 14"/>
          <p:cNvSpPr/>
          <p:nvPr/>
        </p:nvSpPr>
        <p:spPr>
          <a:xfrm>
            <a:off x="3200400" y="1965960"/>
            <a:ext cx="502920" cy="502920"/>
          </a:xfrm>
          <a:prstGeom prst="roundRect">
            <a:avLst>
              <a:gd name="adj" fmla="val 18182"/>
            </a:avLst>
          </a:prstGeom>
          <a:solidFill>
            <a:srgbClr val="1B1F3B"/>
          </a:solidFill>
          <a:ln/>
        </p:spPr>
      </p:sp>
      <p:sp>
        <p:nvSpPr>
          <p:cNvPr id="17" name="Text 15"/>
          <p:cNvSpPr/>
          <p:nvPr/>
        </p:nvSpPr>
        <p:spPr>
          <a:xfrm>
            <a:off x="3200400" y="1965960"/>
            <a:ext cx="502920" cy="5029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8" name="Text 16"/>
          <p:cNvSpPr/>
          <p:nvPr/>
        </p:nvSpPr>
        <p:spPr>
          <a:xfrm>
            <a:off x="822960" y="2651760"/>
            <a:ext cx="2880360" cy="457200"/>
          </a:xfrm>
          <a:prstGeom prst="rect">
            <a:avLst/>
          </a:prstGeom>
          <a:noFill/>
          <a:ln/>
        </p:spPr>
        <p:txBody>
          <a:bodyPr wrap="square" rtlCol="0" anchor="ctr"/>
          <a:lstStyle/>
          <a:p>
            <a:pPr rtl="1" algn="r" indent="0" marL="0">
              <a:buNone/>
            </a:pPr>
            <a:r>
              <a:rPr lang="en-US" sz="1700" b="1" dirty="0">
                <a:solidFill>
                  <a:srgbClr val="1B1F2A"/>
                </a:solidFill>
                <a:latin typeface="Arial" pitchFamily="34" charset="0"/>
                <a:ea typeface="Arial" pitchFamily="34" charset="-122"/>
                <a:cs typeface="Arial" pitchFamily="34" charset="-120"/>
              </a:rPr>
              <a:t>אספקה מבוססת Helm</a:t>
            </a:r>
            <a:endParaRPr lang="en-US" sz="1700" dirty="0"/>
          </a:p>
        </p:txBody>
      </p:sp>
      <p:sp>
        <p:nvSpPr>
          <p:cNvPr id="19" name="Text 17"/>
          <p:cNvSpPr/>
          <p:nvPr/>
        </p:nvSpPr>
        <p:spPr>
          <a:xfrm>
            <a:off x="822960" y="3154680"/>
            <a:ext cx="2880360" cy="2103120"/>
          </a:xfrm>
          <a:prstGeom prst="rect">
            <a:avLst/>
          </a:prstGeom>
          <a:noFill/>
          <a:ln/>
        </p:spPr>
        <p:txBody>
          <a:bodyPr wrap="square" rtlCol="0" anchor="ctr"/>
          <a:lstStyle/>
          <a:p>
            <a:pPr rtl="1" algn="r" indent="0" marL="0">
              <a:lnSpc>
                <a:spcPct val="125000"/>
              </a:lnSpc>
              <a:buNone/>
            </a:pPr>
            <a:r>
              <a:rPr lang="en-US" sz="1300" dirty="0">
                <a:solidFill>
                  <a:srgbClr val="5B6572"/>
                </a:solidFill>
                <a:latin typeface="Arial" pitchFamily="34" charset="0"/>
                <a:ea typeface="Arial" pitchFamily="34" charset="-122"/>
                <a:cs typeface="Arial" pitchFamily="34" charset="-120"/>
              </a:rPr>
              <a:t>ה-build jobs מבצעים commit ל-tag של ה-image החדש ישירות לפרויקט ה-Helm. OpenShift משקף בדיוק את מה שמחובר שם.</a:t>
            </a:r>
            <a:endParaRPr lang="en-US" sz="1300" dirty="0"/>
          </a:p>
        </p:txBody>
      </p:sp>
      <p:sp>
        <p:nvSpPr>
          <p:cNvPr id="20" name="Text 18"/>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21" name="Text 19"/>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ה-pipeline החדש</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מ-push ועד production</a:t>
            </a:r>
            <a:endParaRPr lang="en-US" sz="3000" dirty="0"/>
          </a:p>
        </p:txBody>
      </p:sp>
      <p:sp>
        <p:nvSpPr>
          <p:cNvPr id="5" name="Shape 3"/>
          <p:cNvSpPr/>
          <p:nvPr/>
        </p:nvSpPr>
        <p:spPr>
          <a:xfrm>
            <a:off x="11240719" y="1508760"/>
            <a:ext cx="402336" cy="402336"/>
          </a:xfrm>
          <a:prstGeom prst="ellipse">
            <a:avLst/>
          </a:prstGeom>
          <a:solidFill>
            <a:srgbClr val="3949AB"/>
          </a:solidFill>
          <a:ln/>
        </p:spPr>
      </p:sp>
      <p:sp>
        <p:nvSpPr>
          <p:cNvPr id="6" name="Text 4"/>
          <p:cNvSpPr/>
          <p:nvPr/>
        </p:nvSpPr>
        <p:spPr>
          <a:xfrm>
            <a:off x="11240719" y="1508760"/>
            <a:ext cx="402336" cy="402336"/>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6595567" y="1481328"/>
            <a:ext cx="4480560" cy="40233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Push או פתיחת MR</a:t>
            </a:r>
            <a:endParaRPr lang="en-US" sz="1350" dirty="0"/>
          </a:p>
        </p:txBody>
      </p:sp>
      <p:sp>
        <p:nvSpPr>
          <p:cNvPr id="8" name="Text 6"/>
          <p:cNvSpPr/>
          <p:nvPr/>
        </p:nvSpPr>
        <p:spPr>
          <a:xfrm>
            <a:off x="548640" y="1481328"/>
            <a:ext cx="5943600" cy="402336"/>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בפרויקט ה-Nx, או בכל פוליי-repo שמשתמש ב-catdevops</a:t>
            </a:r>
            <a:endParaRPr lang="en-US" sz="1200" dirty="0"/>
          </a:p>
        </p:txBody>
      </p:sp>
      <p:sp>
        <p:nvSpPr>
          <p:cNvPr id="9" name="Shape 7"/>
          <p:cNvSpPr/>
          <p:nvPr/>
        </p:nvSpPr>
        <p:spPr>
          <a:xfrm>
            <a:off x="11441887" y="1911096"/>
            <a:ext cx="0" cy="201168"/>
          </a:xfrm>
          <a:prstGeom prst="line">
            <a:avLst/>
          </a:prstGeom>
          <a:noFill/>
          <a:ln w="19050">
            <a:solidFill>
              <a:srgbClr val="DEE1EC"/>
            </a:solidFill>
            <a:prstDash val="dash"/>
          </a:ln>
        </p:spPr>
      </p:sp>
      <p:sp>
        <p:nvSpPr>
          <p:cNvPr id="10" name="Shape 8"/>
          <p:cNvSpPr/>
          <p:nvPr/>
        </p:nvSpPr>
        <p:spPr>
          <a:xfrm>
            <a:off x="11240719" y="2112264"/>
            <a:ext cx="402336" cy="402336"/>
          </a:xfrm>
          <a:prstGeom prst="ellipse">
            <a:avLst/>
          </a:prstGeom>
          <a:solidFill>
            <a:srgbClr val="3949AB"/>
          </a:solidFill>
          <a:ln/>
        </p:spPr>
      </p:sp>
      <p:sp>
        <p:nvSpPr>
          <p:cNvPr id="11" name="Text 9"/>
          <p:cNvSpPr/>
          <p:nvPr/>
        </p:nvSpPr>
        <p:spPr>
          <a:xfrm>
            <a:off x="11240719" y="2112264"/>
            <a:ext cx="402336" cy="402336"/>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p:nvPr/>
        </p:nvSpPr>
        <p:spPr>
          <a:xfrm>
            <a:off x="6595567" y="2084832"/>
            <a:ext cx="4480560" cy="40233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מריצים nx affected</a:t>
            </a:r>
            <a:endParaRPr lang="en-US" sz="1350" dirty="0"/>
          </a:p>
        </p:txBody>
      </p:sp>
      <p:sp>
        <p:nvSpPr>
          <p:cNvPr id="13" name="Text 11"/>
          <p:cNvSpPr/>
          <p:nvPr/>
        </p:nvSpPr>
        <p:spPr>
          <a:xfrm>
            <a:off x="548640" y="2084832"/>
            <a:ext cx="5943600" cy="402336"/>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השוואה מול הקומיט הקודם, או מול ה-branch היעד של ה-MR</a:t>
            </a:r>
            <a:endParaRPr lang="en-US" sz="1200" dirty="0"/>
          </a:p>
        </p:txBody>
      </p:sp>
      <p:sp>
        <p:nvSpPr>
          <p:cNvPr id="14" name="Shape 12"/>
          <p:cNvSpPr/>
          <p:nvPr/>
        </p:nvSpPr>
        <p:spPr>
          <a:xfrm>
            <a:off x="11441887" y="2514600"/>
            <a:ext cx="0" cy="201168"/>
          </a:xfrm>
          <a:prstGeom prst="line">
            <a:avLst/>
          </a:prstGeom>
          <a:noFill/>
          <a:ln w="19050">
            <a:solidFill>
              <a:srgbClr val="DEE1EC"/>
            </a:solidFill>
            <a:prstDash val="dash"/>
          </a:ln>
        </p:spPr>
      </p:sp>
      <p:sp>
        <p:nvSpPr>
          <p:cNvPr id="15" name="Shape 13"/>
          <p:cNvSpPr/>
          <p:nvPr/>
        </p:nvSpPr>
        <p:spPr>
          <a:xfrm>
            <a:off x="11240719" y="2715768"/>
            <a:ext cx="402336" cy="402336"/>
          </a:xfrm>
          <a:prstGeom prst="ellipse">
            <a:avLst/>
          </a:prstGeom>
          <a:solidFill>
            <a:srgbClr val="3949AB"/>
          </a:solidFill>
          <a:ln/>
        </p:spPr>
      </p:sp>
      <p:sp>
        <p:nvSpPr>
          <p:cNvPr id="16" name="Text 14"/>
          <p:cNvSpPr/>
          <p:nvPr/>
        </p:nvSpPr>
        <p:spPr>
          <a:xfrm>
            <a:off x="11240719" y="2715768"/>
            <a:ext cx="402336" cy="402336"/>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7" name="Text 15"/>
          <p:cNvSpPr/>
          <p:nvPr/>
        </p:nvSpPr>
        <p:spPr>
          <a:xfrm>
            <a:off x="6595567" y="2688336"/>
            <a:ext cx="4480560" cy="40233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נוצר pipeline דינמי</a:t>
            </a:r>
            <a:endParaRPr lang="en-US" sz="1350" dirty="0"/>
          </a:p>
        </p:txBody>
      </p:sp>
      <p:sp>
        <p:nvSpPr>
          <p:cNvPr id="18" name="Text 16"/>
          <p:cNvSpPr/>
          <p:nvPr/>
        </p:nvSpPr>
        <p:spPr>
          <a:xfrm>
            <a:off x="548640" y="2688336"/>
            <a:ext cx="5943600" cy="402336"/>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build job אחד לכל שירות מושפע</a:t>
            </a:r>
            <a:endParaRPr lang="en-US" sz="1200" dirty="0"/>
          </a:p>
        </p:txBody>
      </p:sp>
      <p:sp>
        <p:nvSpPr>
          <p:cNvPr id="19" name="Shape 17"/>
          <p:cNvSpPr/>
          <p:nvPr/>
        </p:nvSpPr>
        <p:spPr>
          <a:xfrm>
            <a:off x="11441887" y="3118104"/>
            <a:ext cx="0" cy="201168"/>
          </a:xfrm>
          <a:prstGeom prst="line">
            <a:avLst/>
          </a:prstGeom>
          <a:noFill/>
          <a:ln w="19050">
            <a:solidFill>
              <a:srgbClr val="DEE1EC"/>
            </a:solidFill>
            <a:prstDash val="dash"/>
          </a:ln>
        </p:spPr>
      </p:sp>
      <p:sp>
        <p:nvSpPr>
          <p:cNvPr id="20" name="Shape 18"/>
          <p:cNvSpPr/>
          <p:nvPr/>
        </p:nvSpPr>
        <p:spPr>
          <a:xfrm>
            <a:off x="11240719" y="3319272"/>
            <a:ext cx="402336" cy="402336"/>
          </a:xfrm>
          <a:prstGeom prst="ellipse">
            <a:avLst/>
          </a:prstGeom>
          <a:solidFill>
            <a:srgbClr val="3949AB"/>
          </a:solidFill>
          <a:ln/>
        </p:spPr>
      </p:sp>
      <p:sp>
        <p:nvSpPr>
          <p:cNvPr id="21" name="Text 19"/>
          <p:cNvSpPr/>
          <p:nvPr/>
        </p:nvSpPr>
        <p:spPr>
          <a:xfrm>
            <a:off x="11240719" y="3319272"/>
            <a:ext cx="402336" cy="402336"/>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2" name="Text 20"/>
          <p:cNvSpPr/>
          <p:nvPr/>
        </p:nvSpPr>
        <p:spPr>
          <a:xfrm>
            <a:off x="6595567" y="3291840"/>
            <a:ext cx="4480560" cy="40233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tag מחובר (committed) לפרויקט ה-Helm</a:t>
            </a:r>
            <a:endParaRPr lang="en-US" sz="1350" dirty="0"/>
          </a:p>
        </p:txBody>
      </p:sp>
      <p:sp>
        <p:nvSpPr>
          <p:cNvPr id="23" name="Text 21"/>
          <p:cNvSpPr/>
          <p:nvPr/>
        </p:nvSpPr>
        <p:spPr>
          <a:xfrm>
            <a:off x="548640" y="3291840"/>
            <a:ext cx="5943600" cy="402336"/>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branches/&lt;שם-branch-מומר&gt;/ — serviceName, image, tag</a:t>
            </a:r>
            <a:endParaRPr lang="en-US" sz="1200" dirty="0"/>
          </a:p>
        </p:txBody>
      </p:sp>
      <p:sp>
        <p:nvSpPr>
          <p:cNvPr id="24" name="Shape 22"/>
          <p:cNvSpPr/>
          <p:nvPr/>
        </p:nvSpPr>
        <p:spPr>
          <a:xfrm>
            <a:off x="11441887" y="3721608"/>
            <a:ext cx="0" cy="201168"/>
          </a:xfrm>
          <a:prstGeom prst="line">
            <a:avLst/>
          </a:prstGeom>
          <a:noFill/>
          <a:ln w="19050">
            <a:solidFill>
              <a:srgbClr val="DEE1EC"/>
            </a:solidFill>
            <a:prstDash val="dash"/>
          </a:ln>
        </p:spPr>
      </p:sp>
      <p:sp>
        <p:nvSpPr>
          <p:cNvPr id="25" name="Shape 23"/>
          <p:cNvSpPr/>
          <p:nvPr/>
        </p:nvSpPr>
        <p:spPr>
          <a:xfrm>
            <a:off x="11240719" y="3922776"/>
            <a:ext cx="402336" cy="402336"/>
          </a:xfrm>
          <a:prstGeom prst="ellipse">
            <a:avLst/>
          </a:prstGeom>
          <a:solidFill>
            <a:srgbClr val="3949AB"/>
          </a:solidFill>
          <a:ln/>
        </p:spPr>
      </p:sp>
      <p:sp>
        <p:nvSpPr>
          <p:cNvPr id="26" name="Text 24"/>
          <p:cNvSpPr/>
          <p:nvPr/>
        </p:nvSpPr>
        <p:spPr>
          <a:xfrm>
            <a:off x="11240719" y="3922776"/>
            <a:ext cx="402336" cy="402336"/>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7" name="Text 25"/>
          <p:cNvSpPr/>
          <p:nvPr/>
        </p:nvSpPr>
        <p:spPr>
          <a:xfrm>
            <a:off x="6595567" y="3895344"/>
            <a:ext cx="4480560" cy="40233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המפתח בוחר סביבה</a:t>
            </a:r>
            <a:endParaRPr lang="en-US" sz="1350" dirty="0"/>
          </a:p>
        </p:txBody>
      </p:sp>
      <p:sp>
        <p:nvSpPr>
          <p:cNvPr id="28" name="Text 26"/>
          <p:cNvSpPr/>
          <p:nvPr/>
        </p:nvSpPr>
        <p:spPr>
          <a:xfrm>
            <a:off x="548640" y="3895344"/>
            <a:ext cx="5943600" cy="402336"/>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בחירה ידנית — האפשרויות תלויות ב-branch (feature / preprod / master)</a:t>
            </a:r>
            <a:endParaRPr lang="en-US" sz="1200" dirty="0"/>
          </a:p>
        </p:txBody>
      </p:sp>
      <p:sp>
        <p:nvSpPr>
          <p:cNvPr id="29" name="Shape 27"/>
          <p:cNvSpPr/>
          <p:nvPr/>
        </p:nvSpPr>
        <p:spPr>
          <a:xfrm>
            <a:off x="11441887" y="4325112"/>
            <a:ext cx="0" cy="201168"/>
          </a:xfrm>
          <a:prstGeom prst="line">
            <a:avLst/>
          </a:prstGeom>
          <a:noFill/>
          <a:ln w="19050">
            <a:solidFill>
              <a:srgbClr val="DEE1EC"/>
            </a:solidFill>
            <a:prstDash val="dash"/>
          </a:ln>
        </p:spPr>
      </p:sp>
      <p:sp>
        <p:nvSpPr>
          <p:cNvPr id="30" name="Shape 28"/>
          <p:cNvSpPr/>
          <p:nvPr/>
        </p:nvSpPr>
        <p:spPr>
          <a:xfrm>
            <a:off x="11240719" y="4526280"/>
            <a:ext cx="402336" cy="402336"/>
          </a:xfrm>
          <a:prstGeom prst="ellipse">
            <a:avLst/>
          </a:prstGeom>
          <a:solidFill>
            <a:srgbClr val="3949AB"/>
          </a:solidFill>
          <a:ln/>
        </p:spPr>
      </p:sp>
      <p:sp>
        <p:nvSpPr>
          <p:cNvPr id="31" name="Text 29"/>
          <p:cNvSpPr/>
          <p:nvPr/>
        </p:nvSpPr>
        <p:spPr>
          <a:xfrm>
            <a:off x="11240719" y="4526280"/>
            <a:ext cx="402336" cy="402336"/>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32" name="Text 30"/>
          <p:cNvSpPr/>
          <p:nvPr/>
        </p:nvSpPr>
        <p:spPr>
          <a:xfrm>
            <a:off x="6595567" y="4498848"/>
            <a:ext cx="4480560" cy="40233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job הפריסה מריץ helm upgrade</a:t>
            </a:r>
            <a:endParaRPr lang="en-US" sz="1350" dirty="0"/>
          </a:p>
        </p:txBody>
      </p:sp>
      <p:sp>
        <p:nvSpPr>
          <p:cNvPr id="33" name="Text 31"/>
          <p:cNvSpPr/>
          <p:nvPr/>
        </p:nvSpPr>
        <p:spPr>
          <a:xfrm>
            <a:off x="548640" y="4498848"/>
            <a:ext cx="5943600" cy="402336"/>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רק לשירותים שהשתנו — OpenShift משקף את ה-commit</a:t>
            </a:r>
            <a:endParaRPr lang="en-US" sz="1200" dirty="0"/>
          </a:p>
        </p:txBody>
      </p:sp>
      <p:sp>
        <p:nvSpPr>
          <p:cNvPr id="34" name="Shape 32"/>
          <p:cNvSpPr/>
          <p:nvPr/>
        </p:nvSpPr>
        <p:spPr>
          <a:xfrm>
            <a:off x="11441887" y="4928616"/>
            <a:ext cx="0" cy="201168"/>
          </a:xfrm>
          <a:prstGeom prst="line">
            <a:avLst/>
          </a:prstGeom>
          <a:noFill/>
          <a:ln w="19050">
            <a:solidFill>
              <a:srgbClr val="DEE1EC"/>
            </a:solidFill>
            <a:prstDash val="dash"/>
          </a:ln>
        </p:spPr>
      </p:sp>
      <p:sp>
        <p:nvSpPr>
          <p:cNvPr id="35" name="Shape 33"/>
          <p:cNvSpPr/>
          <p:nvPr/>
        </p:nvSpPr>
        <p:spPr>
          <a:xfrm>
            <a:off x="11240719" y="5129784"/>
            <a:ext cx="402336" cy="402336"/>
          </a:xfrm>
          <a:prstGeom prst="ellipse">
            <a:avLst/>
          </a:prstGeom>
          <a:solidFill>
            <a:srgbClr val="FFB100"/>
          </a:solidFill>
          <a:ln/>
        </p:spPr>
      </p:sp>
      <p:sp>
        <p:nvSpPr>
          <p:cNvPr id="36" name="Text 34"/>
          <p:cNvSpPr/>
          <p:nvPr/>
        </p:nvSpPr>
        <p:spPr>
          <a:xfrm>
            <a:off x="11240719" y="5129784"/>
            <a:ext cx="402336" cy="402336"/>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37" name="Text 35"/>
          <p:cNvSpPr/>
          <p:nvPr/>
        </p:nvSpPr>
        <p:spPr>
          <a:xfrm>
            <a:off x="6595567" y="5102352"/>
            <a:ext cx="4480560" cy="40233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רצים טסטים אוטומטיים</a:t>
            </a:r>
            <a:endParaRPr lang="en-US" sz="1350" dirty="0"/>
          </a:p>
        </p:txBody>
      </p:sp>
      <p:sp>
        <p:nvSpPr>
          <p:cNvPr id="38" name="Text 36"/>
          <p:cNvSpPr/>
          <p:nvPr/>
        </p:nvSpPr>
        <p:spPr>
          <a:xfrm>
            <a:off x="548640" y="5102352"/>
            <a:ext cx="5943600" cy="402336"/>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3 קטגוריות ברירת מחדל, אוטומטית, בפריסה לסביבת אוטומציה/QA</a:t>
            </a:r>
            <a:endParaRPr lang="en-US" sz="1200" dirty="0"/>
          </a:p>
        </p:txBody>
      </p:sp>
      <p:sp>
        <p:nvSpPr>
          <p:cNvPr id="39" name="Text 37"/>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40" name="Text 38"/>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הפייפליין החדש</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דוגמה: פייפליין חדש</a:t>
            </a:r>
            <a:endParaRPr lang="en-US" sz="3000" dirty="0"/>
          </a:p>
        </p:txBody>
      </p:sp>
      <p:sp>
        <p:nvSpPr>
          <p:cNvPr id="5" name="Shape 3"/>
          <p:cNvSpPr/>
          <p:nvPr/>
        </p:nvSpPr>
        <p:spPr>
          <a:xfrm>
            <a:off x="548640" y="1645920"/>
            <a:ext cx="11064240" cy="3794760"/>
          </a:xfrm>
          <a:prstGeom prst="roundRect">
            <a:avLst>
              <a:gd name="adj" fmla="val 1928"/>
            </a:avLst>
          </a:prstGeom>
          <a:solidFill>
            <a:srgbClr val="FFFFFF"/>
          </a:solidFill>
          <a:ln w="19050">
            <a:solidFill>
              <a:srgbClr val="00A896"/>
            </a:solidFill>
            <a:prstDash val="dash"/>
          </a:ln>
        </p:spPr>
      </p:sp>
      <p:sp>
        <p:nvSpPr>
          <p:cNvPr id="6" name="Shape 4"/>
          <p:cNvSpPr/>
          <p:nvPr/>
        </p:nvSpPr>
        <p:spPr>
          <a:xfrm>
            <a:off x="5641848" y="2651760"/>
            <a:ext cx="914400" cy="914400"/>
          </a:xfrm>
          <a:prstGeom prst="roundRect">
            <a:avLst>
              <a:gd name="adj" fmla="val 15000"/>
            </a:avLst>
          </a:prstGeom>
          <a:solidFill>
            <a:srgbClr val="D6F0EC"/>
          </a:solidFill>
          <a:ln/>
        </p:spPr>
      </p:sp>
      <p:sp>
        <p:nvSpPr>
          <p:cNvPr id="7" name="Text 5"/>
          <p:cNvSpPr/>
          <p:nvPr/>
        </p:nvSpPr>
        <p:spPr>
          <a:xfrm>
            <a:off x="5641848" y="2606040"/>
            <a:ext cx="914400" cy="914400"/>
          </a:xfrm>
          <a:prstGeom prst="rect">
            <a:avLst/>
          </a:prstGeom>
          <a:noFill/>
          <a:ln/>
        </p:spPr>
        <p:txBody>
          <a:bodyPr wrap="square" rtlCol="0" anchor="ctr"/>
          <a:lstStyle/>
          <a:p>
            <a:pPr algn="ctr" indent="0" marL="0">
              <a:buNone/>
            </a:pPr>
            <a:r>
              <a:rPr lang="en-US" sz="3200" dirty="0">
                <a:solidFill>
                  <a:srgbClr val="000000"/>
                </a:solidFill>
                <a:latin typeface="Arial" pitchFamily="34" charset="0"/>
                <a:ea typeface="Arial" pitchFamily="34" charset="-122"/>
                <a:cs typeface="Arial" pitchFamily="34" charset="-120"/>
              </a:rPr>
              <a:t>🖼</a:t>
            </a:r>
            <a:endParaRPr lang="en-US" sz="3200" dirty="0"/>
          </a:p>
        </p:txBody>
      </p:sp>
      <p:sp>
        <p:nvSpPr>
          <p:cNvPr id="8" name="Text 6"/>
          <p:cNvSpPr/>
          <p:nvPr/>
        </p:nvSpPr>
        <p:spPr>
          <a:xfrm>
            <a:off x="1463040" y="3703320"/>
            <a:ext cx="9235440" cy="365760"/>
          </a:xfrm>
          <a:prstGeom prst="rect">
            <a:avLst/>
          </a:prstGeom>
          <a:noFill/>
          <a:ln/>
        </p:spPr>
        <p:txBody>
          <a:bodyPr wrap="square" rtlCol="0" anchor="ctr"/>
          <a:lstStyle/>
          <a:p>
            <a:pPr rtl="1" algn="ctr" indent="0" marL="0">
              <a:buNone/>
            </a:pPr>
            <a:r>
              <a:rPr lang="en-US" sz="1300" b="1" dirty="0">
                <a:solidFill>
                  <a:srgbClr val="5B6572"/>
                </a:solidFill>
                <a:latin typeface="Arial" pitchFamily="34" charset="0"/>
                <a:ea typeface="Arial" pitchFamily="34" charset="-122"/>
                <a:cs typeface="Arial" pitchFamily="34" charset="-120"/>
              </a:rPr>
              <a:t>צילום מסך / דוגמה יתווספו כאן</a:t>
            </a:r>
            <a:endParaRPr lang="en-US" sz="1300" dirty="0"/>
          </a:p>
        </p:txBody>
      </p:sp>
      <p:sp>
        <p:nvSpPr>
          <p:cNvPr id="9" name="Text 7"/>
          <p:cNvSpPr/>
          <p:nvPr/>
        </p:nvSpPr>
        <p:spPr>
          <a:xfrm>
            <a:off x="1463040" y="4069080"/>
            <a:ext cx="9235440" cy="365760"/>
          </a:xfrm>
          <a:prstGeom prst="rect">
            <a:avLst/>
          </a:prstGeom>
          <a:noFill/>
          <a:ln/>
        </p:spPr>
        <p:txBody>
          <a:bodyPr wrap="square" rtlCol="0" anchor="ctr"/>
          <a:lstStyle/>
          <a:p>
            <a:pPr rtl="1" algn="ctr" indent="0" marL="0">
              <a:buNone/>
            </a:pPr>
            <a:r>
              <a:rPr lang="en-US" sz="1150" i="1" dirty="0">
                <a:solidFill>
                  <a:srgbClr val="5B6572"/>
                </a:solidFill>
                <a:latin typeface="Arial" pitchFamily="34" charset="0"/>
                <a:ea typeface="Arial" pitchFamily="34" charset="-122"/>
                <a:cs typeface="Arial" pitchFamily="34" charset="-120"/>
              </a:rPr>
              <a:t>לדוגמה: pipeline דינמי עם nx affected, commit ל-Helm, ובחירת סביבה</a:t>
            </a:r>
            <a:endParaRPr lang="en-US" sz="1150" dirty="0"/>
          </a:p>
        </p:txBody>
      </p:sp>
      <p:sp>
        <p:nvSpPr>
          <p:cNvPr id="10" name="Shape 8"/>
          <p:cNvSpPr/>
          <p:nvPr/>
        </p:nvSpPr>
        <p:spPr>
          <a:xfrm>
            <a:off x="548640" y="5623560"/>
            <a:ext cx="11064240" cy="777240"/>
          </a:xfrm>
          <a:prstGeom prst="roundRect">
            <a:avLst>
              <a:gd name="adj" fmla="val 9412"/>
            </a:avLst>
          </a:prstGeom>
          <a:solidFill>
            <a:srgbClr val="FFFFFF"/>
          </a:solidFill>
          <a:ln w="15240">
            <a:solidFill>
              <a:srgbClr val="DEE1EC"/>
            </a:solidFill>
            <a:prstDash val="solid"/>
          </a:ln>
        </p:spPr>
      </p:sp>
      <p:sp>
        <p:nvSpPr>
          <p:cNvPr id="11" name="Text 9"/>
          <p:cNvSpPr/>
          <p:nvPr/>
        </p:nvSpPr>
        <p:spPr>
          <a:xfrm>
            <a:off x="822960" y="5760720"/>
            <a:ext cx="1828800" cy="365760"/>
          </a:xfrm>
          <a:prstGeom prst="rect">
            <a:avLst/>
          </a:prstGeom>
          <a:noFill/>
          <a:ln/>
        </p:spPr>
        <p:txBody>
          <a:bodyPr wrap="square" rtlCol="0" anchor="ctr"/>
          <a:lstStyle/>
          <a:p>
            <a:pPr rtl="1" algn="r" indent="0" marL="0">
              <a:buNone/>
            </a:pPr>
            <a:r>
              <a:rPr lang="en-US" sz="1300" b="1" dirty="0">
                <a:solidFill>
                  <a:srgbClr val="00A896"/>
                </a:solidFill>
                <a:latin typeface="Arial" pitchFamily="34" charset="0"/>
                <a:ea typeface="Arial" pitchFamily="34" charset="-122"/>
                <a:cs typeface="Arial" pitchFamily="34" charset="-120"/>
              </a:rPr>
              <a:t>קישור</a:t>
            </a:r>
            <a:endParaRPr lang="en-US" sz="1300" dirty="0"/>
          </a:p>
        </p:txBody>
      </p:sp>
      <p:sp>
        <p:nvSpPr>
          <p:cNvPr id="12" name="Text 10"/>
          <p:cNvSpPr/>
          <p:nvPr/>
        </p:nvSpPr>
        <p:spPr>
          <a:xfrm>
            <a:off x="822960" y="6053328"/>
            <a:ext cx="10332720" cy="320040"/>
          </a:xfrm>
          <a:prstGeom prst="rect">
            <a:avLst/>
          </a:prstGeom>
          <a:noFill/>
          <a:ln/>
        </p:spPr>
        <p:txBody>
          <a:bodyPr wrap="square" rtlCol="0" anchor="ctr"/>
          <a:lstStyle/>
          <a:p>
            <a:pPr algn="r" indent="0" marL="0">
              <a:buNone/>
            </a:pPr>
            <a:r>
              <a:rPr lang="en-US" sz="1300" i="1" dirty="0">
                <a:solidFill>
                  <a:srgbClr val="5B6572"/>
                </a:solidFill>
                <a:latin typeface="Consolas" pitchFamily="34" charset="0"/>
                <a:ea typeface="Consolas" pitchFamily="34" charset="-122"/>
                <a:cs typeface="Consolas" pitchFamily="34" charset="-120"/>
              </a:rPr>
              <a:t>[ להוסיף קישור לדוגמה ]</a:t>
            </a:r>
            <a:endParaRPr lang="en-US" sz="1300" dirty="0"/>
          </a:p>
        </p:txBody>
      </p:sp>
      <p:sp>
        <p:nvSpPr>
          <p:cNvPr id="13" name="Text 11"/>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4" name="Text 12"/>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ה-pipeline החדש</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ספרייה אחת, הרבה repos</a:t>
            </a:r>
            <a:endParaRPr lang="en-US" sz="3000" dirty="0"/>
          </a:p>
        </p:txBody>
      </p:sp>
      <p:sp>
        <p:nvSpPr>
          <p:cNvPr id="5" name="Shape 3"/>
          <p:cNvSpPr/>
          <p:nvPr/>
        </p:nvSpPr>
        <p:spPr>
          <a:xfrm>
            <a:off x="6248095" y="1645920"/>
            <a:ext cx="5394960" cy="4114800"/>
          </a:xfrm>
          <a:prstGeom prst="roundRect">
            <a:avLst>
              <a:gd name="adj" fmla="val 1778"/>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Text 4"/>
          <p:cNvSpPr/>
          <p:nvPr/>
        </p:nvSpPr>
        <p:spPr>
          <a:xfrm>
            <a:off x="6568135" y="1828800"/>
            <a:ext cx="4754880" cy="365760"/>
          </a:xfrm>
          <a:prstGeom prst="rect">
            <a:avLst/>
          </a:prstGeom>
          <a:noFill/>
          <a:ln/>
        </p:spPr>
        <p:txBody>
          <a:bodyPr wrap="square" rtlCol="0" anchor="ctr"/>
          <a:lstStyle/>
          <a:p>
            <a:pPr rtl="1" algn="r" indent="0" marL="0">
              <a:buNone/>
            </a:pPr>
            <a:r>
              <a:rPr lang="en-US" sz="1600" b="1" dirty="0">
                <a:solidFill>
                  <a:srgbClr val="1B1F2A"/>
                </a:solidFill>
                <a:latin typeface="Arial" pitchFamily="34" charset="0"/>
                <a:ea typeface="Arial" pitchFamily="34" charset="-122"/>
                <a:cs typeface="Arial" pitchFamily="34" charset="-120"/>
              </a:rPr>
              <a:t>catdevops לא רק ב-Nx</a:t>
            </a:r>
            <a:endParaRPr lang="en-US" sz="1600" dirty="0"/>
          </a:p>
        </p:txBody>
      </p:sp>
      <p:sp>
        <p:nvSpPr>
          <p:cNvPr id="7" name="Text 5"/>
          <p:cNvSpPr/>
          <p:nvPr/>
        </p:nvSpPr>
        <p:spPr>
          <a:xfrm>
            <a:off x="6568135" y="2286000"/>
            <a:ext cx="4846320" cy="731520"/>
          </a:xfrm>
          <a:prstGeom prst="rect">
            <a:avLst/>
          </a:prstGeom>
          <a:noFill/>
          <a:ln/>
        </p:spPr>
        <p:txBody>
          <a:bodyPr wrap="square" rtlCol="0" anchor="ctr"/>
          <a:lstStyle/>
          <a:p>
            <a:pPr rtl="1" algn="r" indent="0" marL="0">
              <a:lnSpc>
                <a:spcPct val="125000"/>
              </a:lnSpc>
              <a:buNone/>
            </a:pPr>
            <a:r>
              <a:rPr lang="en-US" sz="1300" dirty="0">
                <a:solidFill>
                  <a:srgbClr val="5B6572"/>
                </a:solidFill>
                <a:latin typeface="Arial" pitchFamily="34" charset="0"/>
                <a:ea typeface="Arial" pitchFamily="34" charset="-122"/>
                <a:cs typeface="Arial" pitchFamily="34" charset="-120"/>
              </a:rPr>
              <a:t>פוליי-repos — repos עצמאיים מחוץ למונו-repo של Nx — מאמצים גם הם את catdevops. כל push שם מפעיל את אותה התנהגות:</a:t>
            </a:r>
            <a:endParaRPr lang="en-US" sz="1300" dirty="0"/>
          </a:p>
        </p:txBody>
      </p:sp>
      <p:sp>
        <p:nvSpPr>
          <p:cNvPr id="8" name="Text 6"/>
          <p:cNvSpPr/>
          <p:nvPr/>
        </p:nvSpPr>
        <p:spPr>
          <a:xfrm>
            <a:off x="6568135" y="3063240"/>
            <a:ext cx="4846320" cy="1828800"/>
          </a:xfrm>
          <a:prstGeom prst="rect">
            <a:avLst/>
          </a:prstGeom>
          <a:noFill/>
          <a:ln/>
        </p:spPr>
        <p:txBody>
          <a:bodyPr wrap="square" rtlCol="0" anchor="ctr"/>
          <a:lstStyle/>
          <a:p>
            <a:pPr rtl="1" algn="r" marL="342900" indent="-342900">
              <a:spcAft>
                <a:spcPts val="800"/>
              </a:spcAft>
              <a:buSzPct val="100000"/>
              <a:buChar char="•"/>
            </a:pPr>
            <a:r>
              <a:rPr lang="en-US" sz="1300" dirty="0">
                <a:solidFill>
                  <a:srgbClr val="1B1F2A"/>
                </a:solidFill>
                <a:latin typeface="Arial" pitchFamily="34" charset="0"/>
                <a:ea typeface="Arial" pitchFamily="34" charset="-122"/>
                <a:cs typeface="Arial" pitchFamily="34" charset="-120"/>
              </a:rPr>
              <a:t>build רץ עם כל push</a:t>
            </a:r>
            <a:endParaRPr lang="en-US" sz="1300" dirty="0"/>
          </a:p>
          <a:p>
            <a:pPr rtl="1" algn="r" marL="342900" indent="-342900">
              <a:spcAft>
                <a:spcPts val="800"/>
              </a:spcAft>
              <a:buSzPct val="100000"/>
              <a:buChar char="•"/>
            </a:pPr>
            <a:r>
              <a:rPr lang="en-US" sz="1300" dirty="0">
                <a:solidFill>
                  <a:srgbClr val="1B1F2A"/>
                </a:solidFill>
                <a:latin typeface="Arial" pitchFamily="34" charset="0"/>
                <a:ea typeface="Arial" pitchFamily="34" charset="-122"/>
                <a:cs typeface="Arial" pitchFamily="34" charset="-120"/>
              </a:rPr>
              <a:t>ה-tag של ה-image מחובר (committed) לפרויקט ה-Helm, באותו מבנה תיקיות לפי branch</a:t>
            </a:r>
            <a:endParaRPr lang="en-US" sz="1300" dirty="0"/>
          </a:p>
          <a:p>
            <a:pPr rtl="1" algn="r" marL="342900" indent="-342900">
              <a:spcAft>
                <a:spcPts val="800"/>
              </a:spcAft>
              <a:buSzPct val="100000"/>
              <a:buChar char="•"/>
            </a:pPr>
            <a:r>
              <a:rPr lang="en-US" sz="1300" dirty="0">
                <a:solidFill>
                  <a:srgbClr val="1B1F2A"/>
                </a:solidFill>
                <a:latin typeface="Arial" pitchFamily="34" charset="0"/>
                <a:ea typeface="Arial" pitchFamily="34" charset="-122"/>
                <a:cs typeface="Arial" pitchFamily="34" charset="-120"/>
              </a:rPr>
              <a:t>המפתח בוחר סביבה בהמשך, בדיוק כמו בתהליך של Nx</a:t>
            </a:r>
            <a:endParaRPr lang="en-US" sz="1300" dirty="0"/>
          </a:p>
        </p:txBody>
      </p:sp>
      <p:sp>
        <p:nvSpPr>
          <p:cNvPr id="9" name="Shape 7"/>
          <p:cNvSpPr/>
          <p:nvPr/>
        </p:nvSpPr>
        <p:spPr>
          <a:xfrm>
            <a:off x="533095" y="1645920"/>
            <a:ext cx="5394960" cy="4114800"/>
          </a:xfrm>
          <a:prstGeom prst="roundRect">
            <a:avLst>
              <a:gd name="adj" fmla="val 1778"/>
            </a:avLst>
          </a:prstGeom>
          <a:solidFill>
            <a:srgbClr val="1B1F3B"/>
          </a:solidFill>
          <a:ln/>
          <a:effectLst>
            <a:outerShdw sx="100000" sy="100000" kx="0" ky="0" algn="bl" rotWithShape="0" blurRad="76200" dist="25400" dir="5400000">
              <a:srgbClr val="9AA5AF">
                <a:alpha val="25000"/>
              </a:srgbClr>
            </a:outerShdw>
          </a:effectLst>
        </p:spPr>
      </p:sp>
      <p:sp>
        <p:nvSpPr>
          <p:cNvPr id="10" name="Text 8"/>
          <p:cNvSpPr/>
          <p:nvPr/>
        </p:nvSpPr>
        <p:spPr>
          <a:xfrm>
            <a:off x="853135" y="1828800"/>
            <a:ext cx="4754880" cy="365760"/>
          </a:xfrm>
          <a:prstGeom prst="rect">
            <a:avLst/>
          </a:prstGeom>
          <a:noFill/>
          <a:ln/>
        </p:spPr>
        <p:txBody>
          <a:bodyPr wrap="square" rtlCol="0" anchor="ctr"/>
          <a:lstStyle/>
          <a:p>
            <a:pPr rtl="1" algn="r" indent="0" marL="0">
              <a:buNone/>
            </a:pPr>
            <a:r>
              <a:rPr lang="en-US" sz="1500" b="1" dirty="0">
                <a:solidFill>
                  <a:srgbClr val="FFC98B"/>
                </a:solidFill>
                <a:latin typeface="Arial" pitchFamily="34" charset="0"/>
                <a:ea typeface="Arial" pitchFamily="34" charset="-122"/>
                <a:cs typeface="Arial" pitchFamily="34" charset="-120"/>
              </a:rPr>
              <a:t>⚠ חשוב לשמור על שמות branch זהים</a:t>
            </a:r>
            <a:endParaRPr lang="en-US" sz="1500" dirty="0"/>
          </a:p>
        </p:txBody>
      </p:sp>
      <p:sp>
        <p:nvSpPr>
          <p:cNvPr id="11" name="Text 9"/>
          <p:cNvSpPr/>
          <p:nvPr/>
        </p:nvSpPr>
        <p:spPr>
          <a:xfrm>
            <a:off x="853135" y="2286000"/>
            <a:ext cx="4846320" cy="685800"/>
          </a:xfrm>
          <a:prstGeom prst="rect">
            <a:avLst/>
          </a:prstGeom>
          <a:noFill/>
          <a:ln/>
        </p:spPr>
        <p:txBody>
          <a:bodyPr wrap="square"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כשפיצ'ר כולל שינויים גם ב-Nx repo וגם בפוליי-repo, יש להשתמש באותו שם branch בשניהם.</a:t>
            </a:r>
            <a:endParaRPr lang="en-US" sz="1350" dirty="0"/>
          </a:p>
        </p:txBody>
      </p:sp>
      <p:sp>
        <p:nvSpPr>
          <p:cNvPr id="12" name="Text 10"/>
          <p:cNvSpPr/>
          <p:nvPr/>
        </p:nvSpPr>
        <p:spPr>
          <a:xfrm>
            <a:off x="853135" y="2971800"/>
            <a:ext cx="4846320" cy="2011680"/>
          </a:xfrm>
          <a:prstGeom prst="rect">
            <a:avLst/>
          </a:prstGeom>
          <a:noFill/>
          <a:ln/>
        </p:spPr>
        <p:txBody>
          <a:bodyPr wrap="square" rtlCol="0" anchor="ctr"/>
          <a:lstStyle/>
          <a:p>
            <a:pPr rtl="1" algn="r" indent="0" marL="0">
              <a:lnSpc>
                <a:spcPct val="130000"/>
              </a:lnSpc>
              <a:buNone/>
            </a:pPr>
            <a:r>
              <a:rPr lang="en-US" sz="1250" dirty="0">
                <a:solidFill>
                  <a:srgbClr val="CADCFC"/>
                </a:solidFill>
                <a:latin typeface="Arial" pitchFamily="34" charset="0"/>
                <a:ea typeface="Arial" pitchFamily="34" charset="-122"/>
                <a:cs typeface="Arial" pitchFamily="34" charset="-120"/>
              </a:rPr>
              <a:t>למה: כל repo מבצע commit לשירותים שלו לאותה תיקיית branches/&lt;branch&gt;/ בפרויקט ה-Helm. שמות תואמים אומרים ששני הצדדים ינחתו יחד — שמות לא תואמים אומרים ששירותי הפיצ'ר שלכם יתפצלו לשתי תיקיות שונות, ולא ייפרסו כיחידה אחת.</a:t>
            </a:r>
            <a:endParaRPr lang="en-US" sz="1250" dirty="0"/>
          </a:p>
        </p:txBody>
      </p:sp>
      <p:sp>
        <p:nvSpPr>
          <p:cNvPr id="13" name="Text 11"/>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4" name="Text 12"/>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שלב 1–2</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זיהוי מה באמת השתנה</a:t>
            </a:r>
            <a:endParaRPr lang="en-US" sz="3000" dirty="0"/>
          </a:p>
        </p:txBody>
      </p:sp>
      <p:sp>
        <p:nvSpPr>
          <p:cNvPr id="5" name="Shape 3"/>
          <p:cNvSpPr/>
          <p:nvPr/>
        </p:nvSpPr>
        <p:spPr>
          <a:xfrm>
            <a:off x="6248095" y="1645920"/>
            <a:ext cx="5394960" cy="4023360"/>
          </a:xfrm>
          <a:prstGeom prst="roundRect">
            <a:avLst>
              <a:gd name="adj" fmla="val 1818"/>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Text 4"/>
          <p:cNvSpPr/>
          <p:nvPr/>
        </p:nvSpPr>
        <p:spPr>
          <a:xfrm>
            <a:off x="6568135" y="1874520"/>
            <a:ext cx="4754880" cy="365760"/>
          </a:xfrm>
          <a:prstGeom prst="rect">
            <a:avLst/>
          </a:prstGeom>
          <a:noFill/>
          <a:ln/>
        </p:spPr>
        <p:txBody>
          <a:bodyPr wrap="square" rtlCol="0" anchor="ctr"/>
          <a:lstStyle/>
          <a:p>
            <a:pPr rtl="1" algn="r" indent="0" marL="0">
              <a:buNone/>
            </a:pPr>
            <a:r>
              <a:rPr lang="en-US" sz="1700" b="1" dirty="0">
                <a:solidFill>
                  <a:srgbClr val="3949AB"/>
                </a:solidFill>
                <a:latin typeface="Arial" pitchFamily="34" charset="0"/>
                <a:ea typeface="Arial" pitchFamily="34" charset="-122"/>
                <a:cs typeface="Arial" pitchFamily="34" charset="-120"/>
              </a:rPr>
              <a:t>אין MR פתוח</a:t>
            </a:r>
            <a:endParaRPr lang="en-US" sz="1700" dirty="0"/>
          </a:p>
        </p:txBody>
      </p:sp>
      <p:sp>
        <p:nvSpPr>
          <p:cNvPr id="7" name="Text 5"/>
          <p:cNvSpPr/>
          <p:nvPr/>
        </p:nvSpPr>
        <p:spPr>
          <a:xfrm>
            <a:off x="6568135" y="2331720"/>
            <a:ext cx="4754880" cy="914400"/>
          </a:xfrm>
          <a:prstGeom prst="rect">
            <a:avLst/>
          </a:prstGeom>
          <a:noFill/>
          <a:ln/>
        </p:spPr>
        <p:txBody>
          <a:bodyPr wrap="square" rtlCol="0" anchor="ctr"/>
          <a:lstStyle/>
          <a:p>
            <a:pPr rtl="1" algn="r" indent="0" marL="0">
              <a:lnSpc>
                <a:spcPct val="125000"/>
              </a:lnSpc>
              <a:buNone/>
            </a:pPr>
            <a:r>
              <a:rPr lang="en-US" sz="1350" dirty="0">
                <a:solidFill>
                  <a:srgbClr val="1B1F2A"/>
                </a:solidFill>
                <a:latin typeface="Arial" pitchFamily="34" charset="0"/>
                <a:ea typeface="Arial" pitchFamily="34" charset="-122"/>
                <a:cs typeface="Arial" pitchFamily="34" charset="-120"/>
              </a:rPr>
              <a:t>nx affected משווה מול הקומיט הקודם ב-branch.</a:t>
            </a:r>
            <a:endParaRPr lang="en-US" sz="1350" dirty="0"/>
          </a:p>
        </p:txBody>
      </p:sp>
      <p:sp>
        <p:nvSpPr>
          <p:cNvPr id="8" name="Shape 6"/>
          <p:cNvSpPr/>
          <p:nvPr/>
        </p:nvSpPr>
        <p:spPr>
          <a:xfrm>
            <a:off x="6568135" y="3383280"/>
            <a:ext cx="4754880" cy="0"/>
          </a:xfrm>
          <a:prstGeom prst="line">
            <a:avLst/>
          </a:prstGeom>
          <a:noFill/>
          <a:ln w="12700">
            <a:solidFill>
              <a:srgbClr val="DEE1EC"/>
            </a:solidFill>
            <a:prstDash val="solid"/>
          </a:ln>
        </p:spPr>
      </p:sp>
      <p:sp>
        <p:nvSpPr>
          <p:cNvPr id="9" name="Text 7"/>
          <p:cNvSpPr/>
          <p:nvPr/>
        </p:nvSpPr>
        <p:spPr>
          <a:xfrm>
            <a:off x="6568135" y="3566160"/>
            <a:ext cx="4754880" cy="365760"/>
          </a:xfrm>
          <a:prstGeom prst="rect">
            <a:avLst/>
          </a:prstGeom>
          <a:noFill/>
          <a:ln/>
        </p:spPr>
        <p:txBody>
          <a:bodyPr wrap="square" rtlCol="0" anchor="ctr"/>
          <a:lstStyle/>
          <a:p>
            <a:pPr rtl="1" algn="r" indent="0" marL="0">
              <a:buNone/>
            </a:pPr>
            <a:r>
              <a:rPr lang="en-US" sz="1700" b="1" dirty="0">
                <a:solidFill>
                  <a:srgbClr val="00A896"/>
                </a:solidFill>
                <a:latin typeface="Arial" pitchFamily="34" charset="0"/>
                <a:ea typeface="Arial" pitchFamily="34" charset="-122"/>
                <a:cs typeface="Arial" pitchFamily="34" charset="-120"/>
              </a:rPr>
              <a:t>יש MR פתוח</a:t>
            </a:r>
            <a:endParaRPr lang="en-US" sz="1700" dirty="0"/>
          </a:p>
        </p:txBody>
      </p:sp>
      <p:sp>
        <p:nvSpPr>
          <p:cNvPr id="10" name="Text 8"/>
          <p:cNvSpPr/>
          <p:nvPr/>
        </p:nvSpPr>
        <p:spPr>
          <a:xfrm>
            <a:off x="6568135" y="4023360"/>
            <a:ext cx="4754880" cy="914400"/>
          </a:xfrm>
          <a:prstGeom prst="rect">
            <a:avLst/>
          </a:prstGeom>
          <a:noFill/>
          <a:ln/>
        </p:spPr>
        <p:txBody>
          <a:bodyPr wrap="square" rtlCol="0" anchor="ctr"/>
          <a:lstStyle/>
          <a:p>
            <a:pPr rtl="1" algn="r" indent="0" marL="0">
              <a:lnSpc>
                <a:spcPct val="125000"/>
              </a:lnSpc>
              <a:buNone/>
            </a:pPr>
            <a:r>
              <a:rPr lang="en-US" sz="1350" dirty="0">
                <a:solidFill>
                  <a:srgbClr val="1B1F2A"/>
                </a:solidFill>
                <a:latin typeface="Arial" pitchFamily="34" charset="0"/>
                <a:ea typeface="Arial" pitchFamily="34" charset="-122"/>
                <a:cs typeface="Arial" pitchFamily="34" charset="-120"/>
              </a:rPr>
              <a:t>nx affected משווה מול ה-branch היעד של ה-MR.</a:t>
            </a:r>
            <a:endParaRPr lang="en-US" sz="1350" dirty="0"/>
          </a:p>
        </p:txBody>
      </p:sp>
      <p:sp>
        <p:nvSpPr>
          <p:cNvPr id="11" name="Text 9"/>
          <p:cNvSpPr/>
          <p:nvPr/>
        </p:nvSpPr>
        <p:spPr>
          <a:xfrm>
            <a:off x="6568135" y="4937760"/>
            <a:ext cx="4754880" cy="685800"/>
          </a:xfrm>
          <a:prstGeom prst="rect">
            <a:avLst/>
          </a:prstGeom>
          <a:noFill/>
          <a:ln/>
        </p:spPr>
        <p:txBody>
          <a:bodyPr wrap="square" rtlCol="0" anchor="ctr"/>
          <a:lstStyle/>
          <a:p>
            <a:pPr rtl="1" algn="r" indent="0" marL="0">
              <a:buNone/>
            </a:pPr>
            <a:r>
              <a:rPr lang="en-US" sz="1250" i="1" dirty="0">
                <a:solidFill>
                  <a:srgbClr val="5B6572"/>
                </a:solidFill>
                <a:latin typeface="Arial" pitchFamily="34" charset="0"/>
                <a:ea typeface="Arial" pitchFamily="34" charset="-122"/>
                <a:cs typeface="Arial" pitchFamily="34" charset="-120"/>
              </a:rPr>
              <a:t>התוצאה: נוצר pipeline דינמי עם build job אחד בדיוק לכל שירות מושפע — לא יותר.</a:t>
            </a:r>
            <a:endParaRPr lang="en-US" sz="1250" dirty="0"/>
          </a:p>
        </p:txBody>
      </p:sp>
      <p:sp>
        <p:nvSpPr>
          <p:cNvPr id="12" name="Shape 10"/>
          <p:cNvSpPr/>
          <p:nvPr/>
        </p:nvSpPr>
        <p:spPr>
          <a:xfrm>
            <a:off x="533095" y="1645920"/>
            <a:ext cx="5394960" cy="4023360"/>
          </a:xfrm>
          <a:prstGeom prst="roundRect">
            <a:avLst>
              <a:gd name="adj" fmla="val 1818"/>
            </a:avLst>
          </a:prstGeom>
          <a:solidFill>
            <a:srgbClr val="1B1F3B"/>
          </a:solidFill>
          <a:ln/>
          <a:effectLst>
            <a:outerShdw sx="100000" sy="100000" kx="0" ky="0" algn="bl" rotWithShape="0" blurRad="76200" dist="25400" dir="5400000">
              <a:srgbClr val="9AA5AF">
                <a:alpha val="25000"/>
              </a:srgbClr>
            </a:outerShdw>
          </a:effectLst>
        </p:spPr>
      </p:sp>
      <p:sp>
        <p:nvSpPr>
          <p:cNvPr id="13" name="Text 11"/>
          <p:cNvSpPr/>
          <p:nvPr/>
        </p:nvSpPr>
        <p:spPr>
          <a:xfrm>
            <a:off x="853135" y="1874520"/>
            <a:ext cx="4754880" cy="365760"/>
          </a:xfrm>
          <a:prstGeom prst="rect">
            <a:avLst/>
          </a:prstGeom>
          <a:noFill/>
          <a:ln/>
        </p:spPr>
        <p:txBody>
          <a:bodyPr wrap="square" rtlCol="0" anchor="ctr"/>
          <a:lstStyle/>
          <a:p>
            <a:pPr rtl="1" algn="r" indent="0" marL="0">
              <a:buNone/>
            </a:pPr>
            <a:r>
              <a:rPr lang="en-US" sz="1300" b="1" dirty="0">
                <a:solidFill>
                  <a:srgbClr val="6FE7DD"/>
                </a:solidFill>
                <a:latin typeface="Arial" pitchFamily="34" charset="0"/>
                <a:ea typeface="Arial" pitchFamily="34" charset="-122"/>
                <a:cs typeface="Arial" pitchFamily="34" charset="-120"/>
              </a:rPr>
              <a:t>דוגמה: 5 שירותים במונו-repo</a:t>
            </a:r>
            <a:endParaRPr lang="en-US" sz="1300" dirty="0"/>
          </a:p>
        </p:txBody>
      </p:sp>
      <p:sp>
        <p:nvSpPr>
          <p:cNvPr id="14" name="Shape 12"/>
          <p:cNvSpPr/>
          <p:nvPr/>
        </p:nvSpPr>
        <p:spPr>
          <a:xfrm>
            <a:off x="853135" y="2377440"/>
            <a:ext cx="4754880" cy="566928"/>
          </a:xfrm>
          <a:prstGeom prst="roundRect">
            <a:avLst>
              <a:gd name="adj" fmla="val 9677"/>
            </a:avLst>
          </a:prstGeom>
          <a:solidFill>
            <a:srgbClr val="00A896"/>
          </a:solidFill>
          <a:ln w="12700">
            <a:solidFill>
              <a:srgbClr val="6FE7DD"/>
            </a:solidFill>
            <a:prstDash val="solid"/>
          </a:ln>
        </p:spPr>
      </p:sp>
      <p:sp>
        <p:nvSpPr>
          <p:cNvPr id="15" name="Text 13"/>
          <p:cNvSpPr/>
          <p:nvPr/>
        </p:nvSpPr>
        <p:spPr>
          <a:xfrm>
            <a:off x="1036015" y="2377440"/>
            <a:ext cx="2926080" cy="566928"/>
          </a:xfrm>
          <a:prstGeom prst="rect">
            <a:avLst/>
          </a:prstGeom>
          <a:noFill/>
          <a:ln/>
        </p:spPr>
        <p:txBody>
          <a:bodyPr wrap="square"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billing-service</a:t>
            </a:r>
            <a:endParaRPr lang="en-US" sz="1300" dirty="0"/>
          </a:p>
        </p:txBody>
      </p:sp>
      <p:sp>
        <p:nvSpPr>
          <p:cNvPr id="16" name="Text 14"/>
          <p:cNvSpPr/>
          <p:nvPr/>
        </p:nvSpPr>
        <p:spPr>
          <a:xfrm>
            <a:off x="3962095" y="2377440"/>
            <a:ext cx="1463040" cy="566928"/>
          </a:xfrm>
          <a:prstGeom prst="rect">
            <a:avLst/>
          </a:prstGeom>
          <a:noFill/>
          <a:ln/>
        </p:spPr>
        <p:txBody>
          <a:bodyPr wrap="square" rtlCol="0" anchor="ctr"/>
          <a:lstStyle/>
          <a:p>
            <a:pPr rtl="1" algn="l" indent="0" marL="0">
              <a:buNone/>
            </a:pPr>
            <a:r>
              <a:rPr lang="en-US" sz="1050" b="1" dirty="0">
                <a:solidFill>
                  <a:srgbClr val="6FE7DD"/>
                </a:solidFill>
                <a:latin typeface="Arial" pitchFamily="34" charset="0"/>
                <a:ea typeface="Arial" pitchFamily="34" charset="-122"/>
                <a:cs typeface="Arial" pitchFamily="34" charset="-120"/>
              </a:rPr>
              <a:t>מושפע ← build</a:t>
            </a:r>
            <a:endParaRPr lang="en-US" sz="1050" dirty="0"/>
          </a:p>
        </p:txBody>
      </p:sp>
      <p:sp>
        <p:nvSpPr>
          <p:cNvPr id="17" name="Shape 15"/>
          <p:cNvSpPr/>
          <p:nvPr/>
        </p:nvSpPr>
        <p:spPr>
          <a:xfrm>
            <a:off x="853135" y="3035808"/>
            <a:ext cx="4754880" cy="566928"/>
          </a:xfrm>
          <a:prstGeom prst="roundRect">
            <a:avLst>
              <a:gd name="adj" fmla="val 9677"/>
            </a:avLst>
          </a:prstGeom>
          <a:solidFill>
            <a:srgbClr val="2C3766"/>
          </a:solidFill>
          <a:ln w="12700">
            <a:solidFill>
              <a:srgbClr val="3C4778"/>
            </a:solidFill>
            <a:prstDash val="solid"/>
          </a:ln>
        </p:spPr>
      </p:sp>
      <p:sp>
        <p:nvSpPr>
          <p:cNvPr id="18" name="Text 16"/>
          <p:cNvSpPr/>
          <p:nvPr/>
        </p:nvSpPr>
        <p:spPr>
          <a:xfrm>
            <a:off x="1036015" y="3035808"/>
            <a:ext cx="2926080" cy="566928"/>
          </a:xfrm>
          <a:prstGeom prst="rect">
            <a:avLst/>
          </a:prstGeom>
          <a:noFill/>
          <a:ln/>
        </p:spPr>
        <p:txBody>
          <a:bodyPr wrap="square" rtlCol="0" anchor="ctr"/>
          <a:lstStyle/>
          <a:p>
            <a:pPr algn="l" indent="0" marL="0">
              <a:buNone/>
            </a:pPr>
            <a:r>
              <a:rPr lang="en-US" sz="1300" dirty="0">
                <a:solidFill>
                  <a:srgbClr val="FFFFFF"/>
                </a:solidFill>
                <a:latin typeface="Arial" pitchFamily="34" charset="0"/>
                <a:ea typeface="Arial" pitchFamily="34" charset="-122"/>
                <a:cs typeface="Arial" pitchFamily="34" charset="-120"/>
              </a:rPr>
              <a:t>auth-service</a:t>
            </a:r>
            <a:endParaRPr lang="en-US" sz="1300" dirty="0"/>
          </a:p>
        </p:txBody>
      </p:sp>
      <p:sp>
        <p:nvSpPr>
          <p:cNvPr id="19" name="Text 17"/>
          <p:cNvSpPr/>
          <p:nvPr/>
        </p:nvSpPr>
        <p:spPr>
          <a:xfrm>
            <a:off x="3962095" y="3035808"/>
            <a:ext cx="1463040" cy="566928"/>
          </a:xfrm>
          <a:prstGeom prst="rect">
            <a:avLst/>
          </a:prstGeom>
          <a:noFill/>
          <a:ln/>
        </p:spPr>
        <p:txBody>
          <a:bodyPr wrap="square" rtlCol="0" anchor="ctr"/>
          <a:lstStyle/>
          <a:p>
            <a:pPr rtl="1" algn="l" indent="0" marL="0">
              <a:buNone/>
            </a:pPr>
            <a:r>
              <a:rPr lang="en-US" sz="1050" dirty="0">
                <a:solidFill>
                  <a:srgbClr val="8892B0"/>
                </a:solidFill>
                <a:latin typeface="Arial" pitchFamily="34" charset="0"/>
                <a:ea typeface="Arial" pitchFamily="34" charset="-122"/>
                <a:cs typeface="Arial" pitchFamily="34" charset="-120"/>
              </a:rPr>
              <a:t>ללא שינוי</a:t>
            </a:r>
            <a:endParaRPr lang="en-US" sz="1050" dirty="0"/>
          </a:p>
        </p:txBody>
      </p:sp>
      <p:sp>
        <p:nvSpPr>
          <p:cNvPr id="20" name="Shape 18"/>
          <p:cNvSpPr/>
          <p:nvPr/>
        </p:nvSpPr>
        <p:spPr>
          <a:xfrm>
            <a:off x="853135" y="3694176"/>
            <a:ext cx="4754880" cy="566928"/>
          </a:xfrm>
          <a:prstGeom prst="roundRect">
            <a:avLst>
              <a:gd name="adj" fmla="val 9677"/>
            </a:avLst>
          </a:prstGeom>
          <a:solidFill>
            <a:srgbClr val="00A896"/>
          </a:solidFill>
          <a:ln w="12700">
            <a:solidFill>
              <a:srgbClr val="6FE7DD"/>
            </a:solidFill>
            <a:prstDash val="solid"/>
          </a:ln>
        </p:spPr>
      </p:sp>
      <p:sp>
        <p:nvSpPr>
          <p:cNvPr id="21" name="Text 19"/>
          <p:cNvSpPr/>
          <p:nvPr/>
        </p:nvSpPr>
        <p:spPr>
          <a:xfrm>
            <a:off x="1036015" y="3694176"/>
            <a:ext cx="2926080" cy="566928"/>
          </a:xfrm>
          <a:prstGeom prst="rect">
            <a:avLst/>
          </a:prstGeom>
          <a:noFill/>
          <a:ln/>
        </p:spPr>
        <p:txBody>
          <a:bodyPr wrap="square"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notification-service</a:t>
            </a:r>
            <a:endParaRPr lang="en-US" sz="1300" dirty="0"/>
          </a:p>
        </p:txBody>
      </p:sp>
      <p:sp>
        <p:nvSpPr>
          <p:cNvPr id="22" name="Text 20"/>
          <p:cNvSpPr/>
          <p:nvPr/>
        </p:nvSpPr>
        <p:spPr>
          <a:xfrm>
            <a:off x="3962095" y="3694176"/>
            <a:ext cx="1463040" cy="566928"/>
          </a:xfrm>
          <a:prstGeom prst="rect">
            <a:avLst/>
          </a:prstGeom>
          <a:noFill/>
          <a:ln/>
        </p:spPr>
        <p:txBody>
          <a:bodyPr wrap="square" rtlCol="0" anchor="ctr"/>
          <a:lstStyle/>
          <a:p>
            <a:pPr rtl="1" algn="l" indent="0" marL="0">
              <a:buNone/>
            </a:pPr>
            <a:r>
              <a:rPr lang="en-US" sz="1050" b="1" dirty="0">
                <a:solidFill>
                  <a:srgbClr val="6FE7DD"/>
                </a:solidFill>
                <a:latin typeface="Arial" pitchFamily="34" charset="0"/>
                <a:ea typeface="Arial" pitchFamily="34" charset="-122"/>
                <a:cs typeface="Arial" pitchFamily="34" charset="-120"/>
              </a:rPr>
              <a:t>מושפע ← build</a:t>
            </a:r>
            <a:endParaRPr lang="en-US" sz="1050" dirty="0"/>
          </a:p>
        </p:txBody>
      </p:sp>
      <p:sp>
        <p:nvSpPr>
          <p:cNvPr id="23" name="Shape 21"/>
          <p:cNvSpPr/>
          <p:nvPr/>
        </p:nvSpPr>
        <p:spPr>
          <a:xfrm>
            <a:off x="853135" y="4352544"/>
            <a:ext cx="4754880" cy="566928"/>
          </a:xfrm>
          <a:prstGeom prst="roundRect">
            <a:avLst>
              <a:gd name="adj" fmla="val 9677"/>
            </a:avLst>
          </a:prstGeom>
          <a:solidFill>
            <a:srgbClr val="2C3766"/>
          </a:solidFill>
          <a:ln w="12700">
            <a:solidFill>
              <a:srgbClr val="3C4778"/>
            </a:solidFill>
            <a:prstDash val="solid"/>
          </a:ln>
        </p:spPr>
      </p:sp>
      <p:sp>
        <p:nvSpPr>
          <p:cNvPr id="24" name="Text 22"/>
          <p:cNvSpPr/>
          <p:nvPr/>
        </p:nvSpPr>
        <p:spPr>
          <a:xfrm>
            <a:off x="1036015" y="4352544"/>
            <a:ext cx="2926080" cy="566928"/>
          </a:xfrm>
          <a:prstGeom prst="rect">
            <a:avLst/>
          </a:prstGeom>
          <a:noFill/>
          <a:ln/>
        </p:spPr>
        <p:txBody>
          <a:bodyPr wrap="square" rtlCol="0" anchor="ctr"/>
          <a:lstStyle/>
          <a:p>
            <a:pPr algn="l" indent="0" marL="0">
              <a:buNone/>
            </a:pPr>
            <a:r>
              <a:rPr lang="en-US" sz="1300" dirty="0">
                <a:solidFill>
                  <a:srgbClr val="FFFFFF"/>
                </a:solidFill>
                <a:latin typeface="Arial" pitchFamily="34" charset="0"/>
                <a:ea typeface="Arial" pitchFamily="34" charset="-122"/>
                <a:cs typeface="Arial" pitchFamily="34" charset="-120"/>
              </a:rPr>
              <a:t>reporting-service</a:t>
            </a:r>
            <a:endParaRPr lang="en-US" sz="1300" dirty="0"/>
          </a:p>
        </p:txBody>
      </p:sp>
      <p:sp>
        <p:nvSpPr>
          <p:cNvPr id="25" name="Text 23"/>
          <p:cNvSpPr/>
          <p:nvPr/>
        </p:nvSpPr>
        <p:spPr>
          <a:xfrm>
            <a:off x="3962095" y="4352544"/>
            <a:ext cx="1463040" cy="566928"/>
          </a:xfrm>
          <a:prstGeom prst="rect">
            <a:avLst/>
          </a:prstGeom>
          <a:noFill/>
          <a:ln/>
        </p:spPr>
        <p:txBody>
          <a:bodyPr wrap="square" rtlCol="0" anchor="ctr"/>
          <a:lstStyle/>
          <a:p>
            <a:pPr rtl="1" algn="l" indent="0" marL="0">
              <a:buNone/>
            </a:pPr>
            <a:r>
              <a:rPr lang="en-US" sz="1050" dirty="0">
                <a:solidFill>
                  <a:srgbClr val="8892B0"/>
                </a:solidFill>
                <a:latin typeface="Arial" pitchFamily="34" charset="0"/>
                <a:ea typeface="Arial" pitchFamily="34" charset="-122"/>
                <a:cs typeface="Arial" pitchFamily="34" charset="-120"/>
              </a:rPr>
              <a:t>ללא שינוי</a:t>
            </a:r>
            <a:endParaRPr lang="en-US" sz="1050" dirty="0"/>
          </a:p>
        </p:txBody>
      </p:sp>
      <p:sp>
        <p:nvSpPr>
          <p:cNvPr id="26" name="Shape 24"/>
          <p:cNvSpPr/>
          <p:nvPr/>
        </p:nvSpPr>
        <p:spPr>
          <a:xfrm>
            <a:off x="853135" y="5010912"/>
            <a:ext cx="4754880" cy="566928"/>
          </a:xfrm>
          <a:prstGeom prst="roundRect">
            <a:avLst>
              <a:gd name="adj" fmla="val 9677"/>
            </a:avLst>
          </a:prstGeom>
          <a:solidFill>
            <a:srgbClr val="2C3766"/>
          </a:solidFill>
          <a:ln w="12700">
            <a:solidFill>
              <a:srgbClr val="3C4778"/>
            </a:solidFill>
            <a:prstDash val="solid"/>
          </a:ln>
        </p:spPr>
      </p:sp>
      <p:sp>
        <p:nvSpPr>
          <p:cNvPr id="27" name="Text 25"/>
          <p:cNvSpPr/>
          <p:nvPr/>
        </p:nvSpPr>
        <p:spPr>
          <a:xfrm>
            <a:off x="1036015" y="5010912"/>
            <a:ext cx="2926080" cy="566928"/>
          </a:xfrm>
          <a:prstGeom prst="rect">
            <a:avLst/>
          </a:prstGeom>
          <a:noFill/>
          <a:ln/>
        </p:spPr>
        <p:txBody>
          <a:bodyPr wrap="square" rtlCol="0" anchor="ctr"/>
          <a:lstStyle/>
          <a:p>
            <a:pPr algn="l" indent="0" marL="0">
              <a:buNone/>
            </a:pPr>
            <a:r>
              <a:rPr lang="en-US" sz="1300" dirty="0">
                <a:solidFill>
                  <a:srgbClr val="FFFFFF"/>
                </a:solidFill>
                <a:latin typeface="Arial" pitchFamily="34" charset="0"/>
                <a:ea typeface="Arial" pitchFamily="34" charset="-122"/>
                <a:cs typeface="Arial" pitchFamily="34" charset="-120"/>
              </a:rPr>
              <a:t>gateway-service</a:t>
            </a:r>
            <a:endParaRPr lang="en-US" sz="1300" dirty="0"/>
          </a:p>
        </p:txBody>
      </p:sp>
      <p:sp>
        <p:nvSpPr>
          <p:cNvPr id="28" name="Text 26"/>
          <p:cNvSpPr/>
          <p:nvPr/>
        </p:nvSpPr>
        <p:spPr>
          <a:xfrm>
            <a:off x="3962095" y="5010912"/>
            <a:ext cx="1463040" cy="566928"/>
          </a:xfrm>
          <a:prstGeom prst="rect">
            <a:avLst/>
          </a:prstGeom>
          <a:noFill/>
          <a:ln/>
        </p:spPr>
        <p:txBody>
          <a:bodyPr wrap="square" rtlCol="0" anchor="ctr"/>
          <a:lstStyle/>
          <a:p>
            <a:pPr rtl="1" algn="l" indent="0" marL="0">
              <a:buNone/>
            </a:pPr>
            <a:r>
              <a:rPr lang="en-US" sz="1050" dirty="0">
                <a:solidFill>
                  <a:srgbClr val="8892B0"/>
                </a:solidFill>
                <a:latin typeface="Arial" pitchFamily="34" charset="0"/>
                <a:ea typeface="Arial" pitchFamily="34" charset="-122"/>
                <a:cs typeface="Arial" pitchFamily="34" charset="-120"/>
              </a:rPr>
              <a:t>ללא שינוי</a:t>
            </a:r>
            <a:endParaRPr lang="en-US" sz="1050" dirty="0"/>
          </a:p>
        </p:txBody>
      </p:sp>
      <p:sp>
        <p:nvSpPr>
          <p:cNvPr id="29" name="Text 27"/>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30" name="Text 28"/>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שלב 3–4</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Build, Tag, ו-commit ל-Helm</a:t>
            </a:r>
            <a:endParaRPr lang="en-US" sz="3000" dirty="0"/>
          </a:p>
        </p:txBody>
      </p:sp>
      <p:sp>
        <p:nvSpPr>
          <p:cNvPr id="5" name="Text 3"/>
          <p:cNvSpPr/>
          <p:nvPr/>
        </p:nvSpPr>
        <p:spPr>
          <a:xfrm>
            <a:off x="548640" y="1417320"/>
            <a:ext cx="11064240" cy="640080"/>
          </a:xfrm>
          <a:prstGeom prst="rect">
            <a:avLst/>
          </a:prstGeom>
          <a:noFill/>
          <a:ln/>
        </p:spPr>
        <p:txBody>
          <a:bodyPr wrap="square" rtlCol="0" anchor="ctr"/>
          <a:lstStyle/>
          <a:p>
            <a:pPr rtl="1" algn="r" indent="0" marL="0">
              <a:buNone/>
            </a:pPr>
            <a:r>
              <a:rPr lang="en-US" sz="1400" dirty="0">
                <a:solidFill>
                  <a:srgbClr val="1B1F2A"/>
                </a:solidFill>
                <a:latin typeface="Arial" pitchFamily="34" charset="0"/>
                <a:ea typeface="Arial" pitchFamily="34" charset="-122"/>
                <a:cs typeface="Arial" pitchFamily="34" charset="-120"/>
              </a:rPr>
              <a:t>כל שירות מושפע מקבל build job משלו. בהצלחה, ה-job כותב את ה-tag של ה-image החדש ישירות לפרויקט ה-Helm — זה מה ש-OpenShift משקף, וממנו ה-deploy יקרא.</a:t>
            </a:r>
            <a:endParaRPr lang="en-US" sz="1400" dirty="0"/>
          </a:p>
        </p:txBody>
      </p:sp>
      <p:sp>
        <p:nvSpPr>
          <p:cNvPr id="6" name="Shape 4"/>
          <p:cNvSpPr/>
          <p:nvPr/>
        </p:nvSpPr>
        <p:spPr>
          <a:xfrm>
            <a:off x="6339535" y="2286000"/>
            <a:ext cx="5303520" cy="3383280"/>
          </a:xfrm>
          <a:prstGeom prst="roundRect">
            <a:avLst>
              <a:gd name="adj" fmla="val 2162"/>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7" name="Text 5"/>
          <p:cNvSpPr/>
          <p:nvPr/>
        </p:nvSpPr>
        <p:spPr>
          <a:xfrm>
            <a:off x="6613855" y="2487168"/>
            <a:ext cx="4754880" cy="365760"/>
          </a:xfrm>
          <a:prstGeom prst="rect">
            <a:avLst/>
          </a:prstGeom>
          <a:noFill/>
          <a:ln/>
        </p:spPr>
        <p:txBody>
          <a:bodyPr wrap="square" rtlCol="0" anchor="ctr"/>
          <a:lstStyle/>
          <a:p>
            <a:pPr rtl="1" algn="r" indent="0" marL="0">
              <a:buNone/>
            </a:pPr>
            <a:r>
              <a:rPr lang="en-US" sz="1500" b="1" dirty="0">
                <a:solidFill>
                  <a:srgbClr val="1B1F2A"/>
                </a:solidFill>
                <a:latin typeface="Arial" pitchFamily="34" charset="0"/>
                <a:ea typeface="Arial" pitchFamily="34" charset="-122"/>
                <a:cs typeface="Arial" pitchFamily="34" charset="-120"/>
              </a:rPr>
              <a:t>מבנה פרויקט ה-Helm</a:t>
            </a:r>
            <a:endParaRPr lang="en-US" sz="1500" dirty="0"/>
          </a:p>
        </p:txBody>
      </p:sp>
      <p:sp>
        <p:nvSpPr>
          <p:cNvPr id="8" name="Text 6"/>
          <p:cNvSpPr/>
          <p:nvPr/>
        </p:nvSpPr>
        <p:spPr>
          <a:xfrm>
            <a:off x="6613855" y="3017520"/>
            <a:ext cx="4572000" cy="329184"/>
          </a:xfrm>
          <a:prstGeom prst="rect">
            <a:avLst/>
          </a:prstGeom>
          <a:noFill/>
          <a:ln/>
        </p:spPr>
        <p:txBody>
          <a:bodyPr wrap="square" rtlCol="0" anchor="ctr"/>
          <a:lstStyle/>
          <a:p>
            <a:pPr algn="l" indent="0" marL="0">
              <a:buNone/>
            </a:pPr>
            <a:r>
              <a:rPr lang="en-US" sz="1400" dirty="0">
                <a:solidFill>
                  <a:srgbClr val="5B6572"/>
                </a:solidFill>
                <a:latin typeface="Consolas" pitchFamily="34" charset="0"/>
                <a:ea typeface="Consolas" pitchFamily="34" charset="-122"/>
                <a:cs typeface="Consolas" pitchFamily="34" charset="-120"/>
              </a:rPr>
              <a:t>branches/</a:t>
            </a:r>
            <a:endParaRPr lang="en-US" sz="1400" dirty="0"/>
          </a:p>
        </p:txBody>
      </p:sp>
      <p:sp>
        <p:nvSpPr>
          <p:cNvPr id="9" name="Text 7"/>
          <p:cNvSpPr/>
          <p:nvPr/>
        </p:nvSpPr>
        <p:spPr>
          <a:xfrm>
            <a:off x="6613855" y="3346704"/>
            <a:ext cx="4572000" cy="329184"/>
          </a:xfrm>
          <a:prstGeom prst="rect">
            <a:avLst/>
          </a:prstGeom>
          <a:noFill/>
          <a:ln/>
        </p:spPr>
        <p:txBody>
          <a:bodyPr wrap="square" rtlCol="0" anchor="ctr"/>
          <a:lstStyle/>
          <a:p>
            <a:pPr algn="l" indent="0" marL="0">
              <a:buNone/>
            </a:pPr>
            <a:r>
              <a:rPr lang="en-US" sz="1400" b="1" dirty="0">
                <a:solidFill>
                  <a:srgbClr val="3949AB"/>
                </a:solidFill>
                <a:latin typeface="Consolas" pitchFamily="34" charset="0"/>
                <a:ea typeface="Consolas" pitchFamily="34" charset="-122"/>
                <a:cs typeface="Consolas" pitchFamily="34" charset="-120"/>
              </a:rPr>
              <a:t>  feature-x/</a:t>
            </a:r>
            <a:endParaRPr lang="en-US" sz="1400" dirty="0"/>
          </a:p>
        </p:txBody>
      </p:sp>
      <p:sp>
        <p:nvSpPr>
          <p:cNvPr id="10" name="Text 8"/>
          <p:cNvSpPr/>
          <p:nvPr/>
        </p:nvSpPr>
        <p:spPr>
          <a:xfrm>
            <a:off x="6613855" y="3675888"/>
            <a:ext cx="4572000" cy="329184"/>
          </a:xfrm>
          <a:prstGeom prst="rect">
            <a:avLst/>
          </a:prstGeom>
          <a:noFill/>
          <a:ln/>
        </p:spPr>
        <p:txBody>
          <a:bodyPr wrap="square" rtlCol="0" anchor="ctr"/>
          <a:lstStyle/>
          <a:p>
            <a:pPr algn="l" indent="0" marL="0">
              <a:buNone/>
            </a:pPr>
            <a:r>
              <a:rPr lang="en-US" sz="1400" dirty="0">
                <a:solidFill>
                  <a:srgbClr val="00A896"/>
                </a:solidFill>
                <a:latin typeface="Consolas" pitchFamily="34" charset="0"/>
                <a:ea typeface="Consolas" pitchFamily="34" charset="-122"/>
                <a:cs typeface="Consolas" pitchFamily="34" charset="-120"/>
              </a:rPr>
              <a:t>    values.yaml</a:t>
            </a:r>
            <a:endParaRPr lang="en-US" sz="1400" dirty="0"/>
          </a:p>
        </p:txBody>
      </p:sp>
      <p:sp>
        <p:nvSpPr>
          <p:cNvPr id="11" name="Text 9"/>
          <p:cNvSpPr/>
          <p:nvPr/>
        </p:nvSpPr>
        <p:spPr>
          <a:xfrm>
            <a:off x="6613855" y="4160520"/>
            <a:ext cx="4846320" cy="1005840"/>
          </a:xfrm>
          <a:prstGeom prst="rect">
            <a:avLst/>
          </a:prstGeom>
          <a:noFill/>
          <a:ln/>
        </p:spPr>
        <p:txBody>
          <a:bodyPr wrap="square" rtlCol="0" anchor="ctr"/>
          <a:lstStyle/>
          <a:p>
            <a:pPr rtl="1" algn="r" indent="0" marL="0">
              <a:lnSpc>
                <a:spcPct val="120000"/>
              </a:lnSpc>
              <a:buNone/>
            </a:pPr>
            <a:r>
              <a:rPr lang="en-US" sz="1250" i="1" dirty="0">
                <a:solidFill>
                  <a:srgbClr val="5B6572"/>
                </a:solidFill>
                <a:latin typeface="Arial" pitchFamily="34" charset="0"/>
                <a:ea typeface="Arial" pitchFamily="34" charset="-122"/>
                <a:cs typeface="Arial" pitchFamily="34" charset="-120"/>
              </a:rPr>
              <a:t>שם ה-branch מומר (slugified) לשם תיקייה תקין (למשל feature/x ← feature-x). אותה תיקייה משותפת ל-Nx repo ולכל פוליי-repo על אותו branch.</a:t>
            </a:r>
            <a:endParaRPr lang="en-US" sz="1250" dirty="0"/>
          </a:p>
        </p:txBody>
      </p:sp>
      <p:sp>
        <p:nvSpPr>
          <p:cNvPr id="12" name="Shape 10"/>
          <p:cNvSpPr/>
          <p:nvPr/>
        </p:nvSpPr>
        <p:spPr>
          <a:xfrm>
            <a:off x="533095" y="2286000"/>
            <a:ext cx="5532120" cy="3383280"/>
          </a:xfrm>
          <a:prstGeom prst="roundRect">
            <a:avLst>
              <a:gd name="adj" fmla="val 2162"/>
            </a:avLst>
          </a:prstGeom>
          <a:solidFill>
            <a:srgbClr val="1B1F3B"/>
          </a:solidFill>
          <a:ln/>
          <a:effectLst>
            <a:outerShdw sx="100000" sy="100000" kx="0" ky="0" algn="bl" rotWithShape="0" blurRad="76200" dist="25400" dir="5400000">
              <a:srgbClr val="9AA5AF">
                <a:alpha val="25000"/>
              </a:srgbClr>
            </a:outerShdw>
          </a:effectLst>
        </p:spPr>
      </p:sp>
      <p:sp>
        <p:nvSpPr>
          <p:cNvPr id="13" name="Text 11"/>
          <p:cNvSpPr/>
          <p:nvPr/>
        </p:nvSpPr>
        <p:spPr>
          <a:xfrm>
            <a:off x="807415" y="2487168"/>
            <a:ext cx="4937760" cy="365760"/>
          </a:xfrm>
          <a:prstGeom prst="rect">
            <a:avLst/>
          </a:prstGeom>
          <a:noFill/>
          <a:ln/>
        </p:spPr>
        <p:txBody>
          <a:bodyPr wrap="square" rtlCol="0" anchor="ctr"/>
          <a:lstStyle/>
          <a:p>
            <a:pPr rtl="1" algn="r" indent="0" marL="0">
              <a:buNone/>
            </a:pPr>
            <a:r>
              <a:rPr lang="en-US" sz="1500" b="1" dirty="0">
                <a:solidFill>
                  <a:srgbClr val="6FE7DD"/>
                </a:solidFill>
                <a:latin typeface="Arial" pitchFamily="34" charset="0"/>
                <a:ea typeface="Arial" pitchFamily="34" charset="-122"/>
                <a:cs typeface="Arial" pitchFamily="34" charset="-120"/>
              </a:rPr>
              <a:t>ערכים מחוברים (committed)</a:t>
            </a:r>
            <a:endParaRPr lang="en-US" sz="1500" dirty="0"/>
          </a:p>
        </p:txBody>
      </p:sp>
      <p:sp>
        <p:nvSpPr>
          <p:cNvPr id="14" name="Text 12"/>
          <p:cNvSpPr/>
          <p:nvPr/>
        </p:nvSpPr>
        <p:spPr>
          <a:xfrm>
            <a:off x="807415" y="3063240"/>
            <a:ext cx="1828800" cy="411480"/>
          </a:xfrm>
          <a:prstGeom prst="rect">
            <a:avLst/>
          </a:prstGeom>
          <a:noFill/>
          <a:ln/>
        </p:spPr>
        <p:txBody>
          <a:bodyPr wrap="square" rtlCol="0" anchor="ctr"/>
          <a:lstStyle/>
          <a:p>
            <a:pPr algn="l" indent="0" marL="0">
              <a:buNone/>
            </a:pPr>
            <a:r>
              <a:rPr lang="en-US" sz="1400" b="1" dirty="0">
                <a:solidFill>
                  <a:srgbClr val="8FD3C4"/>
                </a:solidFill>
                <a:latin typeface="Consolas" pitchFamily="34" charset="0"/>
                <a:ea typeface="Consolas" pitchFamily="34" charset="-122"/>
                <a:cs typeface="Consolas" pitchFamily="34" charset="-120"/>
              </a:rPr>
              <a:t>serviceName:</a:t>
            </a:r>
            <a:endParaRPr lang="en-US" sz="1400" dirty="0"/>
          </a:p>
        </p:txBody>
      </p:sp>
      <p:sp>
        <p:nvSpPr>
          <p:cNvPr id="15" name="Text 13"/>
          <p:cNvSpPr/>
          <p:nvPr/>
        </p:nvSpPr>
        <p:spPr>
          <a:xfrm>
            <a:off x="2544775" y="3063240"/>
            <a:ext cx="3291840" cy="411480"/>
          </a:xfrm>
          <a:prstGeom prst="rect">
            <a:avLst/>
          </a:prstGeom>
          <a:noFill/>
          <a:ln/>
        </p:spPr>
        <p:txBody>
          <a:bodyPr wrap="square" rtlCol="0" anchor="ctr"/>
          <a:lstStyle/>
          <a:p>
            <a:pPr algn="l" indent="0" marL="0">
              <a:buNone/>
            </a:pPr>
            <a:r>
              <a:rPr lang="en-US" sz="1400" dirty="0">
                <a:solidFill>
                  <a:srgbClr val="FFFFFF"/>
                </a:solidFill>
                <a:latin typeface="Consolas" pitchFamily="34" charset="0"/>
                <a:ea typeface="Consolas" pitchFamily="34" charset="-122"/>
                <a:cs typeface="Consolas" pitchFamily="34" charset="-120"/>
              </a:rPr>
              <a:t>billing-service</a:t>
            </a:r>
            <a:endParaRPr lang="en-US" sz="1400" dirty="0"/>
          </a:p>
        </p:txBody>
      </p:sp>
      <p:sp>
        <p:nvSpPr>
          <p:cNvPr id="16" name="Text 14"/>
          <p:cNvSpPr/>
          <p:nvPr/>
        </p:nvSpPr>
        <p:spPr>
          <a:xfrm>
            <a:off x="807415" y="3611880"/>
            <a:ext cx="1828800" cy="411480"/>
          </a:xfrm>
          <a:prstGeom prst="rect">
            <a:avLst/>
          </a:prstGeom>
          <a:noFill/>
          <a:ln/>
        </p:spPr>
        <p:txBody>
          <a:bodyPr wrap="square" rtlCol="0" anchor="ctr"/>
          <a:lstStyle/>
          <a:p>
            <a:pPr algn="l" indent="0" marL="0">
              <a:buNone/>
            </a:pPr>
            <a:r>
              <a:rPr lang="en-US" sz="1400" b="1" dirty="0">
                <a:solidFill>
                  <a:srgbClr val="8FD3C4"/>
                </a:solidFill>
                <a:latin typeface="Consolas" pitchFamily="34" charset="0"/>
                <a:ea typeface="Consolas" pitchFamily="34" charset="-122"/>
                <a:cs typeface="Consolas" pitchFamily="34" charset="-120"/>
              </a:rPr>
              <a:t>image:</a:t>
            </a:r>
            <a:endParaRPr lang="en-US" sz="1400" dirty="0"/>
          </a:p>
        </p:txBody>
      </p:sp>
      <p:sp>
        <p:nvSpPr>
          <p:cNvPr id="17" name="Text 15"/>
          <p:cNvSpPr/>
          <p:nvPr/>
        </p:nvSpPr>
        <p:spPr>
          <a:xfrm>
            <a:off x="2544775" y="3611880"/>
            <a:ext cx="3291840" cy="411480"/>
          </a:xfrm>
          <a:prstGeom prst="rect">
            <a:avLst/>
          </a:prstGeom>
          <a:noFill/>
          <a:ln/>
        </p:spPr>
        <p:txBody>
          <a:bodyPr wrap="square" rtlCol="0" anchor="ctr"/>
          <a:lstStyle/>
          <a:p>
            <a:pPr algn="l" indent="0" marL="0">
              <a:buNone/>
            </a:pPr>
            <a:r>
              <a:rPr lang="en-US" sz="1400" dirty="0">
                <a:solidFill>
                  <a:srgbClr val="FFFFFF"/>
                </a:solidFill>
                <a:latin typeface="Consolas" pitchFamily="34" charset="0"/>
                <a:ea typeface="Consolas" pitchFamily="34" charset="-122"/>
                <a:cs typeface="Consolas" pitchFamily="34" charset="-120"/>
              </a:rPr>
              <a:t>registry/billing-service</a:t>
            </a:r>
            <a:endParaRPr lang="en-US" sz="1400" dirty="0"/>
          </a:p>
        </p:txBody>
      </p:sp>
      <p:sp>
        <p:nvSpPr>
          <p:cNvPr id="18" name="Text 16"/>
          <p:cNvSpPr/>
          <p:nvPr/>
        </p:nvSpPr>
        <p:spPr>
          <a:xfrm>
            <a:off x="807415" y="4160520"/>
            <a:ext cx="1828800" cy="411480"/>
          </a:xfrm>
          <a:prstGeom prst="rect">
            <a:avLst/>
          </a:prstGeom>
          <a:noFill/>
          <a:ln/>
        </p:spPr>
        <p:txBody>
          <a:bodyPr wrap="square" rtlCol="0" anchor="ctr"/>
          <a:lstStyle/>
          <a:p>
            <a:pPr algn="l" indent="0" marL="0">
              <a:buNone/>
            </a:pPr>
            <a:r>
              <a:rPr lang="en-US" sz="1400" b="1" dirty="0">
                <a:solidFill>
                  <a:srgbClr val="8FD3C4"/>
                </a:solidFill>
                <a:latin typeface="Consolas" pitchFamily="34" charset="0"/>
                <a:ea typeface="Consolas" pitchFamily="34" charset="-122"/>
                <a:cs typeface="Consolas" pitchFamily="34" charset="-120"/>
              </a:rPr>
              <a:t>tag:</a:t>
            </a:r>
            <a:endParaRPr lang="en-US" sz="1400" dirty="0"/>
          </a:p>
        </p:txBody>
      </p:sp>
      <p:sp>
        <p:nvSpPr>
          <p:cNvPr id="19" name="Text 17"/>
          <p:cNvSpPr/>
          <p:nvPr/>
        </p:nvSpPr>
        <p:spPr>
          <a:xfrm>
            <a:off x="2544775" y="4160520"/>
            <a:ext cx="3291840" cy="411480"/>
          </a:xfrm>
          <a:prstGeom prst="rect">
            <a:avLst/>
          </a:prstGeom>
          <a:noFill/>
          <a:ln/>
        </p:spPr>
        <p:txBody>
          <a:bodyPr wrap="square" rtlCol="0" anchor="ctr"/>
          <a:lstStyle/>
          <a:p>
            <a:pPr algn="l" indent="0" marL="0">
              <a:buNone/>
            </a:pPr>
            <a:r>
              <a:rPr lang="en-US" sz="1400" dirty="0">
                <a:solidFill>
                  <a:srgbClr val="FFFFFF"/>
                </a:solidFill>
                <a:latin typeface="Consolas" pitchFamily="34" charset="0"/>
                <a:ea typeface="Consolas" pitchFamily="34" charset="-122"/>
                <a:cs typeface="Consolas" pitchFamily="34" charset="-120"/>
              </a:rPr>
              <a:t>a3f9c21 (commit SHA)</a:t>
            </a:r>
            <a:endParaRPr lang="en-US" sz="1400" dirty="0"/>
          </a:p>
        </p:txBody>
      </p:sp>
      <p:sp>
        <p:nvSpPr>
          <p:cNvPr id="20" name="Text 18"/>
          <p:cNvSpPr/>
          <p:nvPr/>
        </p:nvSpPr>
        <p:spPr>
          <a:xfrm>
            <a:off x="807415" y="4937760"/>
            <a:ext cx="4937760" cy="822960"/>
          </a:xfrm>
          <a:prstGeom prst="rect">
            <a:avLst/>
          </a:prstGeom>
          <a:noFill/>
          <a:ln/>
        </p:spPr>
        <p:txBody>
          <a:bodyPr wrap="square" rtlCol="0" anchor="ctr"/>
          <a:lstStyle/>
          <a:p>
            <a:pPr rtl="1" algn="r" indent="0" marL="0">
              <a:lnSpc>
                <a:spcPct val="120000"/>
              </a:lnSpc>
              <a:buNone/>
            </a:pPr>
            <a:r>
              <a:rPr lang="en-US" sz="1250" i="1" dirty="0">
                <a:solidFill>
                  <a:srgbClr val="CADCFC"/>
                </a:solidFill>
                <a:latin typeface="Arial" pitchFamily="34" charset="0"/>
                <a:ea typeface="Arial" pitchFamily="34" charset="-122"/>
                <a:cs typeface="Arial" pitchFamily="34" charset="-120"/>
              </a:rPr>
              <a:t>build job אחד = שירות אחד = commit אחד עם ה-tag שלו. שירותים שלא נגעו בהם לעולם לא נבנים ולא מתויגים מחדש.</a:t>
            </a:r>
            <a:endParaRPr lang="en-US" sz="1250" dirty="0"/>
          </a:p>
        </p:txBody>
      </p:sp>
      <p:sp>
        <p:nvSpPr>
          <p:cNvPr id="21" name="Text 19"/>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22" name="Text 20"/>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הדרך לפרודקשן</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Build טרי, לא העתקה</a:t>
            </a:r>
            <a:endParaRPr lang="en-US" sz="3000" dirty="0"/>
          </a:p>
        </p:txBody>
      </p:sp>
      <p:sp>
        <p:nvSpPr>
          <p:cNvPr id="5" name="Text 3"/>
          <p:cNvSpPr/>
          <p:nvPr/>
        </p:nvSpPr>
        <p:spPr>
          <a:xfrm>
            <a:off x="548640" y="1417320"/>
            <a:ext cx="11064240" cy="548640"/>
          </a:xfrm>
          <a:prstGeom prst="rect">
            <a:avLst/>
          </a:prstGeom>
          <a:noFill/>
          <a:ln/>
        </p:spPr>
        <p:txBody>
          <a:bodyPr wrap="square" rtlCol="0" anchor="ctr"/>
          <a:lstStyle/>
          <a:p>
            <a:pPr rtl="1" algn="r" indent="0" marL="0">
              <a:buNone/>
            </a:pPr>
            <a:r>
              <a:rPr lang="en-US" sz="1350" dirty="0">
                <a:solidFill>
                  <a:srgbClr val="1B1F2A"/>
                </a:solidFill>
                <a:latin typeface="Arial" pitchFamily="34" charset="0"/>
                <a:ea typeface="Arial" pitchFamily="34" charset="-122"/>
                <a:cs typeface="Arial" pitchFamily="34" charset="-120"/>
              </a:rPr>
              <a:t>images של dev/test ו-images של פרודקשן חיים ב-repos נפרדים ב-Artifactory — כך שפרודקשן הוא לא עותק מקודם (promoted) של artifact מ-dev, אלא build נפרד.</a:t>
            </a:r>
            <a:endParaRPr lang="en-US" sz="1350" dirty="0"/>
          </a:p>
        </p:txBody>
      </p:sp>
      <p:sp>
        <p:nvSpPr>
          <p:cNvPr id="6" name="Shape 4"/>
          <p:cNvSpPr/>
          <p:nvPr/>
        </p:nvSpPr>
        <p:spPr>
          <a:xfrm>
            <a:off x="6339535" y="2148840"/>
            <a:ext cx="5303520" cy="3566160"/>
          </a:xfrm>
          <a:prstGeom prst="roundRect">
            <a:avLst>
              <a:gd name="adj" fmla="val 2051"/>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7" name="Text 5"/>
          <p:cNvSpPr/>
          <p:nvPr/>
        </p:nvSpPr>
        <p:spPr>
          <a:xfrm>
            <a:off x="6613855" y="2377440"/>
            <a:ext cx="4754880" cy="365760"/>
          </a:xfrm>
          <a:prstGeom prst="rect">
            <a:avLst/>
          </a:prstGeom>
          <a:noFill/>
          <a:ln/>
        </p:spPr>
        <p:txBody>
          <a:bodyPr wrap="square" rtlCol="0" anchor="ctr"/>
          <a:lstStyle/>
          <a:p>
            <a:pPr rtl="1" algn="r" indent="0" marL="0">
              <a:buNone/>
            </a:pPr>
            <a:r>
              <a:rPr lang="en-US" sz="1600" b="1" dirty="0">
                <a:solidFill>
                  <a:srgbClr val="3949AB"/>
                </a:solidFill>
                <a:latin typeface="Arial" pitchFamily="34" charset="0"/>
                <a:ea typeface="Arial" pitchFamily="34" charset="-122"/>
                <a:cs typeface="Arial" pitchFamily="34" charset="-120"/>
              </a:rPr>
              <a:t>אוטומציה / טסט</a:t>
            </a:r>
            <a:endParaRPr lang="en-US" sz="1600" dirty="0"/>
          </a:p>
        </p:txBody>
      </p:sp>
      <p:sp>
        <p:nvSpPr>
          <p:cNvPr id="8" name="Text 6"/>
          <p:cNvSpPr/>
          <p:nvPr/>
        </p:nvSpPr>
        <p:spPr>
          <a:xfrm>
            <a:off x="6613855" y="2761488"/>
            <a:ext cx="4754880" cy="32004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ענפי feature/* ו-preprod</a:t>
            </a:r>
            <a:endParaRPr lang="en-US" sz="1200" dirty="0"/>
          </a:p>
        </p:txBody>
      </p:sp>
      <p:sp>
        <p:nvSpPr>
          <p:cNvPr id="9" name="Text 7"/>
          <p:cNvSpPr/>
          <p:nvPr/>
        </p:nvSpPr>
        <p:spPr>
          <a:xfrm>
            <a:off x="6613855" y="3200400"/>
            <a:ext cx="4754880" cy="822960"/>
          </a:xfrm>
          <a:prstGeom prst="rect">
            <a:avLst/>
          </a:prstGeom>
          <a:noFill/>
          <a:ln/>
        </p:spPr>
        <p:txBody>
          <a:bodyPr wrap="square" rtlCol="0" anchor="ctr"/>
          <a:lstStyle/>
          <a:p>
            <a:pPr rtl="1" algn="r" indent="0" marL="0">
              <a:lnSpc>
                <a:spcPct val="125000"/>
              </a:lnSpc>
              <a:buNone/>
            </a:pPr>
            <a:r>
              <a:rPr lang="en-US" sz="1250" dirty="0">
                <a:solidFill>
                  <a:srgbClr val="1B1F2A"/>
                </a:solidFill>
                <a:latin typeface="Arial" pitchFamily="34" charset="0"/>
                <a:ea typeface="Arial" pitchFamily="34" charset="-122"/>
                <a:cs typeface="Arial" pitchFamily="34" charset="-120"/>
              </a:rPr>
              <a:t>ה-tag של ה-image = ה-commit SHA של אותו branch. נדחף ל-repo של dev ב-Artifactory.</a:t>
            </a:r>
            <a:endParaRPr lang="en-US" sz="1250" dirty="0"/>
          </a:p>
        </p:txBody>
      </p:sp>
      <p:sp>
        <p:nvSpPr>
          <p:cNvPr id="10" name="Shape 8"/>
          <p:cNvSpPr/>
          <p:nvPr/>
        </p:nvSpPr>
        <p:spPr>
          <a:xfrm>
            <a:off x="6613855" y="4114800"/>
            <a:ext cx="4754880" cy="0"/>
          </a:xfrm>
          <a:prstGeom prst="line">
            <a:avLst/>
          </a:prstGeom>
          <a:noFill/>
          <a:ln w="12700">
            <a:solidFill>
              <a:srgbClr val="DEE1EC"/>
            </a:solidFill>
            <a:prstDash val="solid"/>
          </a:ln>
        </p:spPr>
      </p:sp>
      <p:sp>
        <p:nvSpPr>
          <p:cNvPr id="11" name="Text 9"/>
          <p:cNvSpPr/>
          <p:nvPr/>
        </p:nvSpPr>
        <p:spPr>
          <a:xfrm>
            <a:off x="6613855" y="4297680"/>
            <a:ext cx="4754880" cy="365760"/>
          </a:xfrm>
          <a:prstGeom prst="rect">
            <a:avLst/>
          </a:prstGeom>
          <a:noFill/>
          <a:ln/>
        </p:spPr>
        <p:txBody>
          <a:bodyPr wrap="square" rtlCol="0" anchor="ctr"/>
          <a:lstStyle/>
          <a:p>
            <a:pPr rtl="1" algn="r" indent="0" marL="0">
              <a:buNone/>
            </a:pPr>
            <a:r>
              <a:rPr lang="en-US" sz="1600" b="1" dirty="0">
                <a:solidFill>
                  <a:srgbClr val="1B1F3B"/>
                </a:solidFill>
                <a:latin typeface="Arial" pitchFamily="34" charset="0"/>
                <a:ea typeface="Arial" pitchFamily="34" charset="-122"/>
                <a:cs typeface="Arial" pitchFamily="34" charset="-120"/>
              </a:rPr>
              <a:t>פרודקשן</a:t>
            </a:r>
            <a:endParaRPr lang="en-US" sz="1600" dirty="0"/>
          </a:p>
        </p:txBody>
      </p:sp>
      <p:sp>
        <p:nvSpPr>
          <p:cNvPr id="12" name="Text 10"/>
          <p:cNvSpPr/>
          <p:nvPr/>
        </p:nvSpPr>
        <p:spPr>
          <a:xfrm>
            <a:off x="6613855" y="4681728"/>
            <a:ext cx="4754880" cy="320040"/>
          </a:xfrm>
          <a:prstGeom prst="rect">
            <a:avLst/>
          </a:prstGeom>
          <a:noFill/>
          <a:ln/>
        </p:spPr>
        <p:txBody>
          <a:bodyPr wrap="square" rtlCol="0" anchor="ctr"/>
          <a:lstStyle/>
          <a:p>
            <a:pPr rtl="1" algn="r" indent="0" marL="0">
              <a:buNone/>
            </a:pPr>
            <a:r>
              <a:rPr lang="en-US" sz="1200" dirty="0">
                <a:solidFill>
                  <a:srgbClr val="5B6572"/>
                </a:solidFill>
                <a:latin typeface="Arial" pitchFamily="34" charset="0"/>
                <a:ea typeface="Arial" pitchFamily="34" charset="-122"/>
                <a:cs typeface="Arial" pitchFamily="34" charset="-120"/>
              </a:rPr>
              <a:t>branch של master</a:t>
            </a:r>
            <a:endParaRPr lang="en-US" sz="1200" dirty="0"/>
          </a:p>
        </p:txBody>
      </p:sp>
      <p:sp>
        <p:nvSpPr>
          <p:cNvPr id="13" name="Text 11"/>
          <p:cNvSpPr/>
          <p:nvPr/>
        </p:nvSpPr>
        <p:spPr>
          <a:xfrm>
            <a:off x="6613855" y="5074920"/>
            <a:ext cx="4754880" cy="868680"/>
          </a:xfrm>
          <a:prstGeom prst="rect">
            <a:avLst/>
          </a:prstGeom>
          <a:noFill/>
          <a:ln/>
        </p:spPr>
        <p:txBody>
          <a:bodyPr wrap="square" rtlCol="0" anchor="ctr"/>
          <a:lstStyle/>
          <a:p>
            <a:pPr rtl="1" algn="r" indent="0" marL="0">
              <a:lnSpc>
                <a:spcPct val="125000"/>
              </a:lnSpc>
              <a:buNone/>
            </a:pPr>
            <a:r>
              <a:rPr lang="en-US" sz="1250" dirty="0">
                <a:solidFill>
                  <a:srgbClr val="1B1F2A"/>
                </a:solidFill>
                <a:latin typeface="Arial" pitchFamily="34" charset="0"/>
                <a:ea typeface="Arial" pitchFamily="34" charset="-122"/>
                <a:cs typeface="Arial" pitchFamily="34" charset="-120"/>
              </a:rPr>
              <a:t>merge ל-master מפעיל build טרי של אותו commit — image חדש, מתויג עם ה-commit SHA של master, נדחף ל-repo של פרודקשן ב-Artifactory.</a:t>
            </a:r>
            <a:endParaRPr lang="en-US" sz="1250" dirty="0"/>
          </a:p>
        </p:txBody>
      </p:sp>
      <p:sp>
        <p:nvSpPr>
          <p:cNvPr id="14" name="Shape 12"/>
          <p:cNvSpPr/>
          <p:nvPr/>
        </p:nvSpPr>
        <p:spPr>
          <a:xfrm>
            <a:off x="533095" y="2148840"/>
            <a:ext cx="5532120" cy="3566160"/>
          </a:xfrm>
          <a:prstGeom prst="roundRect">
            <a:avLst>
              <a:gd name="adj" fmla="val 2051"/>
            </a:avLst>
          </a:prstGeom>
          <a:solidFill>
            <a:srgbClr val="1B1F3B"/>
          </a:solidFill>
          <a:ln/>
          <a:effectLst>
            <a:outerShdw sx="100000" sy="100000" kx="0" ky="0" algn="bl" rotWithShape="0" blurRad="76200" dist="25400" dir="5400000">
              <a:srgbClr val="9AA5AF">
                <a:alpha val="25000"/>
              </a:srgbClr>
            </a:outerShdw>
          </a:effectLst>
        </p:spPr>
      </p:sp>
      <p:sp>
        <p:nvSpPr>
          <p:cNvPr id="15" name="Text 13"/>
          <p:cNvSpPr/>
          <p:nvPr/>
        </p:nvSpPr>
        <p:spPr>
          <a:xfrm>
            <a:off x="807415" y="2377440"/>
            <a:ext cx="4937760" cy="365760"/>
          </a:xfrm>
          <a:prstGeom prst="rect">
            <a:avLst/>
          </a:prstGeom>
          <a:noFill/>
          <a:ln/>
        </p:spPr>
        <p:txBody>
          <a:bodyPr wrap="square" rtlCol="0" anchor="ctr"/>
          <a:lstStyle/>
          <a:p>
            <a:pPr rtl="1" algn="r" indent="0" marL="0">
              <a:buNone/>
            </a:pPr>
            <a:r>
              <a:rPr lang="en-US" sz="1600" b="1" dirty="0">
                <a:solidFill>
                  <a:srgbClr val="6FE7DD"/>
                </a:solidFill>
                <a:latin typeface="Arial" pitchFamily="34" charset="0"/>
                <a:ea typeface="Arial" pitchFamily="34" charset="-122"/>
                <a:cs typeface="Arial" pitchFamily="34" charset="-120"/>
              </a:rPr>
              <a:t>למה זה חשוב</a:t>
            </a:r>
            <a:endParaRPr lang="en-US" sz="1600" dirty="0"/>
          </a:p>
        </p:txBody>
      </p:sp>
      <p:sp>
        <p:nvSpPr>
          <p:cNvPr id="16" name="Text 14"/>
          <p:cNvSpPr/>
          <p:nvPr/>
        </p:nvSpPr>
        <p:spPr>
          <a:xfrm>
            <a:off x="807415" y="2880360"/>
            <a:ext cx="4937760" cy="2743200"/>
          </a:xfrm>
          <a:prstGeom prst="rect">
            <a:avLst/>
          </a:prstGeom>
          <a:noFill/>
          <a:ln/>
        </p:spPr>
        <p:txBody>
          <a:bodyPr wrap="square" rtlCol="0" anchor="t"/>
          <a:lstStyle/>
          <a:p>
            <a:pPr rtl="1" algn="r" marL="342900" indent="-342900">
              <a:spcAft>
                <a:spcPts val="1200"/>
              </a:spcAft>
              <a:buSzPct val="100000"/>
              <a:buChar char="•"/>
            </a:pPr>
            <a:r>
              <a:rPr lang="en-US" sz="1200" dirty="0">
                <a:solidFill>
                  <a:srgbClr val="E7F1FA"/>
                </a:solidFill>
                <a:latin typeface="Arial" pitchFamily="34" charset="0"/>
                <a:ea typeface="Arial" pitchFamily="34" charset="-122"/>
                <a:cs typeface="Arial" pitchFamily="34" charset="-120"/>
              </a:rPr>
              <a:t>פרודקשן תמיד מריץ image שנבנה במיוחד מהקוד המדויק שנמצא ב-master — לעולם לא artifact של dev שקיבל תווית מחדש</a:t>
            </a:r>
            <a:endParaRPr lang="en-US" sz="1200" dirty="0"/>
          </a:p>
          <a:p>
            <a:pPr rtl="1" algn="r" marL="342900" indent="-342900">
              <a:spcAft>
                <a:spcPts val="1200"/>
              </a:spcAft>
              <a:buSzPct val="100000"/>
              <a:buChar char="•"/>
            </a:pPr>
            <a:r>
              <a:rPr lang="en-US" sz="1200" dirty="0">
                <a:solidFill>
                  <a:srgbClr val="E7F1FA"/>
                </a:solidFill>
                <a:latin typeface="Arial" pitchFamily="34" charset="0"/>
                <a:ea typeface="Arial" pitchFamily="34" charset="-122"/>
                <a:cs typeface="Arial" pitchFamily="34" charset="-120"/>
              </a:rPr>
              <a:t>images של dev ושל פרודקשן מופרדים פיזית ב-Artifactory, כך שאין דרך לפרוס בטעות image מ-repo של dev לפרודקשן</a:t>
            </a:r>
            <a:endParaRPr lang="en-US" sz="1200" dirty="0"/>
          </a:p>
          <a:p>
            <a:pPr rtl="1" algn="r" marL="342900" indent="-342900">
              <a:spcAft>
                <a:spcPts val="1200"/>
              </a:spcAft>
              <a:buSzPct val="100000"/>
              <a:buChar char="•"/>
            </a:pPr>
            <a:r>
              <a:rPr lang="en-US" sz="1200" dirty="0">
                <a:solidFill>
                  <a:srgbClr val="E7F1FA"/>
                </a:solidFill>
                <a:latin typeface="Arial" pitchFamily="34" charset="0"/>
                <a:ea typeface="Arial" pitchFamily="34" charset="-122"/>
                <a:cs typeface="Arial" pitchFamily="34" charset="-120"/>
              </a:rPr>
              <a:t>הפשרה: זו גישת "build מחדש לפרודקשן", לא "build אחד, promotion לכל מקום" — שווה לדעת אם משווים למודלים אחרים</a:t>
            </a:r>
            <a:endParaRPr lang="en-US" sz="1200" dirty="0"/>
          </a:p>
        </p:txBody>
      </p:sp>
      <p:sp>
        <p:nvSpPr>
          <p:cNvPr id="17" name="Text 15"/>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8" name="Text 16"/>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שלב 5–6</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בוחרים לאן זה הולך</a:t>
            </a:r>
            <a:endParaRPr lang="en-US" sz="3000" dirty="0"/>
          </a:p>
        </p:txBody>
      </p:sp>
      <p:sp>
        <p:nvSpPr>
          <p:cNvPr id="5" name="Text 3"/>
          <p:cNvSpPr/>
          <p:nvPr/>
        </p:nvSpPr>
        <p:spPr>
          <a:xfrm>
            <a:off x="548640" y="1417320"/>
            <a:ext cx="11064240" cy="457200"/>
          </a:xfrm>
          <a:prstGeom prst="rect">
            <a:avLst/>
          </a:prstGeom>
          <a:noFill/>
          <a:ln/>
        </p:spPr>
        <p:txBody>
          <a:bodyPr wrap="square" rtlCol="0" anchor="ctr"/>
          <a:lstStyle/>
          <a:p>
            <a:pPr rtl="1" algn="r" indent="0" marL="0">
              <a:buNone/>
            </a:pPr>
            <a:r>
              <a:rPr lang="en-US" sz="1400" dirty="0">
                <a:solidFill>
                  <a:srgbClr val="1B1F2A"/>
                </a:solidFill>
                <a:latin typeface="Arial" pitchFamily="34" charset="0"/>
                <a:ea typeface="Arial" pitchFamily="34" charset="-122"/>
                <a:cs typeface="Arial" pitchFamily="34" charset="-120"/>
              </a:rPr>
              <a:t>אילו סביבות זמינות לבחירה תלוי ב-branch שממנו פורסים — הכול עדיין מופעל ידנית.</a:t>
            </a:r>
            <a:endParaRPr lang="en-US" sz="1400" dirty="0"/>
          </a:p>
        </p:txBody>
      </p:sp>
      <p:sp>
        <p:nvSpPr>
          <p:cNvPr id="6" name="Shape 4"/>
          <p:cNvSpPr/>
          <p:nvPr/>
        </p:nvSpPr>
        <p:spPr>
          <a:xfrm>
            <a:off x="4693615" y="2057400"/>
            <a:ext cx="6949440" cy="1051560"/>
          </a:xfrm>
          <a:prstGeom prst="roundRect">
            <a:avLst>
              <a:gd name="adj" fmla="val 6957"/>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7" name="Shape 5"/>
          <p:cNvSpPr/>
          <p:nvPr/>
        </p:nvSpPr>
        <p:spPr>
          <a:xfrm>
            <a:off x="11304727" y="2286000"/>
            <a:ext cx="109728" cy="594360"/>
          </a:xfrm>
          <a:prstGeom prst="roundRect">
            <a:avLst>
              <a:gd name="adj" fmla="val 16667"/>
            </a:avLst>
          </a:prstGeom>
          <a:solidFill>
            <a:srgbClr val="3949AB"/>
          </a:solidFill>
          <a:ln/>
        </p:spPr>
      </p:sp>
      <p:sp>
        <p:nvSpPr>
          <p:cNvPr id="8" name="Text 6"/>
          <p:cNvSpPr/>
          <p:nvPr/>
        </p:nvSpPr>
        <p:spPr>
          <a:xfrm>
            <a:off x="5013655" y="2221992"/>
            <a:ext cx="2743200" cy="365760"/>
          </a:xfrm>
          <a:prstGeom prst="rect">
            <a:avLst/>
          </a:prstGeom>
          <a:noFill/>
          <a:ln/>
        </p:spPr>
        <p:txBody>
          <a:bodyPr wrap="square" rtlCol="0" anchor="ctr"/>
          <a:lstStyle/>
          <a:p>
            <a:pPr algn="l" indent="0" marL="0">
              <a:buNone/>
            </a:pPr>
            <a:r>
              <a:rPr lang="en-US" sz="1500" b="1" dirty="0">
                <a:solidFill>
                  <a:srgbClr val="3949AB"/>
                </a:solidFill>
                <a:latin typeface="Consolas" pitchFamily="34" charset="0"/>
                <a:ea typeface="Consolas" pitchFamily="34" charset="-122"/>
                <a:cs typeface="Consolas" pitchFamily="34" charset="-120"/>
              </a:rPr>
              <a:t>feature/* branches</a:t>
            </a:r>
            <a:endParaRPr lang="en-US" sz="1500" dirty="0"/>
          </a:p>
        </p:txBody>
      </p:sp>
      <p:sp>
        <p:nvSpPr>
          <p:cNvPr id="9" name="Text 7"/>
          <p:cNvSpPr/>
          <p:nvPr/>
        </p:nvSpPr>
        <p:spPr>
          <a:xfrm>
            <a:off x="5013655" y="2606040"/>
            <a:ext cx="6126480" cy="411480"/>
          </a:xfrm>
          <a:prstGeom prst="rect">
            <a:avLst/>
          </a:prstGeom>
          <a:noFill/>
          <a:ln/>
        </p:spPr>
        <p:txBody>
          <a:bodyPr wrap="square" rtlCol="0" anchor="ctr"/>
          <a:lstStyle/>
          <a:p>
            <a:pPr rtl="1" algn="r" indent="0" marL="0">
              <a:buNone/>
            </a:pPr>
            <a:r>
              <a:rPr lang="en-US" sz="1350" dirty="0">
                <a:solidFill>
                  <a:srgbClr val="1B1F2A"/>
                </a:solidFill>
                <a:latin typeface="Arial" pitchFamily="34" charset="0"/>
                <a:ea typeface="Arial" pitchFamily="34" charset="-122"/>
                <a:cs typeface="Arial" pitchFamily="34" charset="-120"/>
              </a:rPr>
              <a:t>אוטומציה, טסט</a:t>
            </a:r>
            <a:endParaRPr lang="en-US" sz="1350" dirty="0"/>
          </a:p>
        </p:txBody>
      </p:sp>
      <p:sp>
        <p:nvSpPr>
          <p:cNvPr id="10" name="Shape 8"/>
          <p:cNvSpPr/>
          <p:nvPr/>
        </p:nvSpPr>
        <p:spPr>
          <a:xfrm>
            <a:off x="4693615" y="3310128"/>
            <a:ext cx="6949440" cy="1051560"/>
          </a:xfrm>
          <a:prstGeom prst="roundRect">
            <a:avLst>
              <a:gd name="adj" fmla="val 6957"/>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1" name="Shape 9"/>
          <p:cNvSpPr/>
          <p:nvPr/>
        </p:nvSpPr>
        <p:spPr>
          <a:xfrm>
            <a:off x="11304727" y="3538728"/>
            <a:ext cx="109728" cy="594360"/>
          </a:xfrm>
          <a:prstGeom prst="roundRect">
            <a:avLst>
              <a:gd name="adj" fmla="val 16667"/>
            </a:avLst>
          </a:prstGeom>
          <a:solidFill>
            <a:srgbClr val="00A896"/>
          </a:solidFill>
          <a:ln/>
        </p:spPr>
      </p:sp>
      <p:sp>
        <p:nvSpPr>
          <p:cNvPr id="12" name="Text 10"/>
          <p:cNvSpPr/>
          <p:nvPr/>
        </p:nvSpPr>
        <p:spPr>
          <a:xfrm>
            <a:off x="5013655" y="3474720"/>
            <a:ext cx="2743200" cy="365760"/>
          </a:xfrm>
          <a:prstGeom prst="rect">
            <a:avLst/>
          </a:prstGeom>
          <a:noFill/>
          <a:ln/>
        </p:spPr>
        <p:txBody>
          <a:bodyPr wrap="square" rtlCol="0" anchor="ctr"/>
          <a:lstStyle/>
          <a:p>
            <a:pPr algn="l" indent="0" marL="0">
              <a:buNone/>
            </a:pPr>
            <a:r>
              <a:rPr lang="en-US" sz="1500" b="1" dirty="0">
                <a:solidFill>
                  <a:srgbClr val="00A896"/>
                </a:solidFill>
                <a:latin typeface="Consolas" pitchFamily="34" charset="0"/>
                <a:ea typeface="Consolas" pitchFamily="34" charset="-122"/>
                <a:cs typeface="Consolas" pitchFamily="34" charset="-120"/>
              </a:rPr>
              <a:t>preprod branch</a:t>
            </a:r>
            <a:endParaRPr lang="en-US" sz="1500" dirty="0"/>
          </a:p>
        </p:txBody>
      </p:sp>
      <p:sp>
        <p:nvSpPr>
          <p:cNvPr id="13" name="Text 11"/>
          <p:cNvSpPr/>
          <p:nvPr/>
        </p:nvSpPr>
        <p:spPr>
          <a:xfrm>
            <a:off x="5013655" y="3858768"/>
            <a:ext cx="6126480" cy="411480"/>
          </a:xfrm>
          <a:prstGeom prst="rect">
            <a:avLst/>
          </a:prstGeom>
          <a:noFill/>
          <a:ln/>
        </p:spPr>
        <p:txBody>
          <a:bodyPr wrap="square" rtlCol="0" anchor="ctr"/>
          <a:lstStyle/>
          <a:p>
            <a:pPr rtl="1" algn="r" indent="0" marL="0">
              <a:buNone/>
            </a:pPr>
            <a:r>
              <a:rPr lang="en-US" sz="1350" dirty="0">
                <a:solidFill>
                  <a:srgbClr val="1B1F2A"/>
                </a:solidFill>
                <a:latin typeface="Arial" pitchFamily="34" charset="0"/>
                <a:ea typeface="Arial" pitchFamily="34" charset="-122"/>
                <a:cs typeface="Arial" pitchFamily="34" charset="-120"/>
              </a:rPr>
              <a:t>אוטומציה (טסטים), אינטגרציה</a:t>
            </a:r>
            <a:endParaRPr lang="en-US" sz="1350" dirty="0"/>
          </a:p>
        </p:txBody>
      </p:sp>
      <p:sp>
        <p:nvSpPr>
          <p:cNvPr id="14" name="Shape 12"/>
          <p:cNvSpPr/>
          <p:nvPr/>
        </p:nvSpPr>
        <p:spPr>
          <a:xfrm>
            <a:off x="4693615" y="4562856"/>
            <a:ext cx="6949440" cy="1051560"/>
          </a:xfrm>
          <a:prstGeom prst="roundRect">
            <a:avLst>
              <a:gd name="adj" fmla="val 6957"/>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15" name="Shape 13"/>
          <p:cNvSpPr/>
          <p:nvPr/>
        </p:nvSpPr>
        <p:spPr>
          <a:xfrm>
            <a:off x="11304727" y="4791456"/>
            <a:ext cx="109728" cy="594360"/>
          </a:xfrm>
          <a:prstGeom prst="roundRect">
            <a:avLst>
              <a:gd name="adj" fmla="val 16667"/>
            </a:avLst>
          </a:prstGeom>
          <a:solidFill>
            <a:srgbClr val="1B1F3B"/>
          </a:solidFill>
          <a:ln/>
        </p:spPr>
      </p:sp>
      <p:sp>
        <p:nvSpPr>
          <p:cNvPr id="16" name="Text 14"/>
          <p:cNvSpPr/>
          <p:nvPr/>
        </p:nvSpPr>
        <p:spPr>
          <a:xfrm>
            <a:off x="5013655" y="4727448"/>
            <a:ext cx="2743200" cy="365760"/>
          </a:xfrm>
          <a:prstGeom prst="rect">
            <a:avLst/>
          </a:prstGeom>
          <a:noFill/>
          <a:ln/>
        </p:spPr>
        <p:txBody>
          <a:bodyPr wrap="square" rtlCol="0" anchor="ctr"/>
          <a:lstStyle/>
          <a:p>
            <a:pPr algn="l" indent="0" marL="0">
              <a:buNone/>
            </a:pPr>
            <a:r>
              <a:rPr lang="en-US" sz="1500" b="1" dirty="0">
                <a:solidFill>
                  <a:srgbClr val="1B1F3B"/>
                </a:solidFill>
                <a:latin typeface="Consolas" pitchFamily="34" charset="0"/>
                <a:ea typeface="Consolas" pitchFamily="34" charset="-122"/>
                <a:cs typeface="Consolas" pitchFamily="34" charset="-120"/>
              </a:rPr>
              <a:t>master branch</a:t>
            </a:r>
            <a:endParaRPr lang="en-US" sz="1500" dirty="0"/>
          </a:p>
        </p:txBody>
      </p:sp>
      <p:sp>
        <p:nvSpPr>
          <p:cNvPr id="17" name="Text 15"/>
          <p:cNvSpPr/>
          <p:nvPr/>
        </p:nvSpPr>
        <p:spPr>
          <a:xfrm>
            <a:off x="5013655" y="5111496"/>
            <a:ext cx="6126480" cy="411480"/>
          </a:xfrm>
          <a:prstGeom prst="rect">
            <a:avLst/>
          </a:prstGeom>
          <a:noFill/>
          <a:ln/>
        </p:spPr>
        <p:txBody>
          <a:bodyPr wrap="square" rtlCol="0" anchor="ctr"/>
          <a:lstStyle/>
          <a:p>
            <a:pPr rtl="1" algn="r" indent="0" marL="0">
              <a:buNone/>
            </a:pPr>
            <a:r>
              <a:rPr lang="en-US" sz="1350" dirty="0">
                <a:solidFill>
                  <a:srgbClr val="1B1F2A"/>
                </a:solidFill>
                <a:latin typeface="Arial" pitchFamily="34" charset="0"/>
                <a:ea typeface="Arial" pitchFamily="34" charset="-122"/>
                <a:cs typeface="Arial" pitchFamily="34" charset="-120"/>
              </a:rPr>
              <a:t>פרודקשן</a:t>
            </a:r>
            <a:endParaRPr lang="en-US" sz="1350" dirty="0"/>
          </a:p>
        </p:txBody>
      </p:sp>
      <p:sp>
        <p:nvSpPr>
          <p:cNvPr id="18" name="Shape 16"/>
          <p:cNvSpPr/>
          <p:nvPr/>
        </p:nvSpPr>
        <p:spPr>
          <a:xfrm>
            <a:off x="533095" y="2057400"/>
            <a:ext cx="3886200" cy="3977640"/>
          </a:xfrm>
          <a:prstGeom prst="roundRect">
            <a:avLst>
              <a:gd name="adj" fmla="val 1882"/>
            </a:avLst>
          </a:prstGeom>
          <a:solidFill>
            <a:srgbClr val="3949AB"/>
          </a:solidFill>
          <a:ln/>
          <a:effectLst>
            <a:outerShdw sx="100000" sy="100000" kx="0" ky="0" algn="bl" rotWithShape="0" blurRad="76200" dist="25400" dir="5400000">
              <a:srgbClr val="9AA5AF">
                <a:alpha val="25000"/>
              </a:srgbClr>
            </a:outerShdw>
          </a:effectLst>
        </p:spPr>
      </p:sp>
      <p:sp>
        <p:nvSpPr>
          <p:cNvPr id="19" name="Text 17"/>
          <p:cNvSpPr/>
          <p:nvPr/>
        </p:nvSpPr>
        <p:spPr>
          <a:xfrm>
            <a:off x="807415" y="2286000"/>
            <a:ext cx="3383280" cy="36576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מה ה-job של הפריסה עושה</a:t>
            </a:r>
            <a:endParaRPr lang="en-US" sz="1500" dirty="0"/>
          </a:p>
        </p:txBody>
      </p:sp>
      <p:sp>
        <p:nvSpPr>
          <p:cNvPr id="20" name="Text 18"/>
          <p:cNvSpPr/>
          <p:nvPr/>
        </p:nvSpPr>
        <p:spPr>
          <a:xfrm>
            <a:off x="807415" y="2743200"/>
            <a:ext cx="3429000" cy="3108960"/>
          </a:xfrm>
          <a:prstGeom prst="rect">
            <a:avLst/>
          </a:prstGeom>
          <a:noFill/>
          <a:ln/>
        </p:spPr>
        <p:txBody>
          <a:bodyPr wrap="square" rtlCol="0" anchor="t"/>
          <a:lstStyle/>
          <a:p>
            <a:pPr rtl="1" algn="r" marL="342900" indent="-342900">
              <a:spcAft>
                <a:spcPts val="900"/>
              </a:spcAft>
              <a:buSzPct val="100000"/>
              <a:buChar char="•"/>
            </a:pPr>
            <a:r>
              <a:rPr lang="en-US" sz="1200" dirty="0">
                <a:solidFill>
                  <a:srgbClr val="E7F1FA"/>
                </a:solidFill>
                <a:latin typeface="Arial" pitchFamily="34" charset="0"/>
                <a:ea typeface="Arial" pitchFamily="34" charset="-122"/>
                <a:cs typeface="Arial" pitchFamily="34" charset="-120"/>
              </a:rPr>
              <a:t>המפתח לוחץ ידנית על הסביבה הרצויה, מתוך האפשרויות הזמינות ל-branch הזה</a:t>
            </a:r>
            <a:endParaRPr lang="en-US" sz="1200" dirty="0"/>
          </a:p>
          <a:p>
            <a:pPr rtl="1" algn="r" marL="342900" indent="-342900">
              <a:spcAft>
                <a:spcPts val="900"/>
              </a:spcAft>
              <a:buSzPct val="100000"/>
              <a:buChar char="•"/>
            </a:pPr>
            <a:r>
              <a:rPr lang="en-US" sz="1200" dirty="0">
                <a:solidFill>
                  <a:srgbClr val="E7F1FA"/>
                </a:solidFill>
                <a:latin typeface="Arial" pitchFamily="34" charset="0"/>
                <a:ea typeface="Arial" pitchFamily="34" charset="-122"/>
                <a:cs typeface="Arial" pitchFamily="34" charset="-120"/>
              </a:rPr>
              <a:t>job הפריסה מפעיל את ה-job המתאים בפרויקט ה-Helm</a:t>
            </a:r>
            <a:endParaRPr lang="en-US" sz="1200" dirty="0"/>
          </a:p>
          <a:p>
            <a:pPr rtl="1" algn="r" marL="342900" indent="-342900">
              <a:spcAft>
                <a:spcPts val="900"/>
              </a:spcAft>
              <a:buSzPct val="100000"/>
              <a:buChar char="•"/>
            </a:pPr>
            <a:r>
              <a:rPr lang="en-US" sz="1200" dirty="0">
                <a:solidFill>
                  <a:srgbClr val="E7F1FA"/>
                </a:solidFill>
                <a:latin typeface="Arial" pitchFamily="34" charset="0"/>
                <a:ea typeface="Arial" pitchFamily="34" charset="-122"/>
                <a:cs typeface="Arial" pitchFamily="34" charset="-120"/>
              </a:rPr>
              <a:t>מריץ helm upgrade עם התגיות שחוברו (committed) ל-branch הזה</a:t>
            </a:r>
            <a:endParaRPr lang="en-US" sz="1200" dirty="0"/>
          </a:p>
          <a:p>
            <a:pPr rtl="1" algn="r" marL="342900" indent="-342900">
              <a:spcAft>
                <a:spcPts val="900"/>
              </a:spcAft>
              <a:buSzPct val="100000"/>
              <a:buChar char="•"/>
            </a:pPr>
            <a:r>
              <a:rPr lang="en-US" sz="1200" dirty="0">
                <a:solidFill>
                  <a:srgbClr val="E7F1FA"/>
                </a:solidFill>
                <a:latin typeface="Arial" pitchFamily="34" charset="0"/>
                <a:ea typeface="Arial" pitchFamily="34" charset="-122"/>
                <a:cs typeface="Arial" pitchFamily="34" charset="-120"/>
              </a:rPr>
              <a:t>נוגע רק בשירותים שבאמת נבנו</a:t>
            </a:r>
            <a:endParaRPr lang="en-US" sz="1200" dirty="0"/>
          </a:p>
        </p:txBody>
      </p:sp>
      <p:sp>
        <p:nvSpPr>
          <p:cNvPr id="21" name="Text 19"/>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22" name="Text 20"/>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שלב 7</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טסטים אוטומטיים</a:t>
            </a:r>
            <a:endParaRPr lang="en-US" sz="3000" dirty="0"/>
          </a:p>
        </p:txBody>
      </p:sp>
      <p:sp>
        <p:nvSpPr>
          <p:cNvPr id="5" name="Shape 3"/>
          <p:cNvSpPr/>
          <p:nvPr/>
        </p:nvSpPr>
        <p:spPr>
          <a:xfrm>
            <a:off x="548640" y="1645920"/>
            <a:ext cx="11064240" cy="1965960"/>
          </a:xfrm>
          <a:prstGeom prst="roundRect">
            <a:avLst>
              <a:gd name="adj" fmla="val 3721"/>
            </a:avLst>
          </a:prstGeom>
          <a:solidFill>
            <a:srgbClr val="EAF2FA"/>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Shape 4"/>
          <p:cNvSpPr/>
          <p:nvPr/>
        </p:nvSpPr>
        <p:spPr>
          <a:xfrm>
            <a:off x="10607040" y="1965960"/>
            <a:ext cx="640080" cy="640080"/>
          </a:xfrm>
          <a:prstGeom prst="roundRect">
            <a:avLst>
              <a:gd name="adj" fmla="val 17143"/>
            </a:avLst>
          </a:prstGeom>
          <a:solidFill>
            <a:srgbClr val="3949AB"/>
          </a:solidFill>
          <a:ln/>
        </p:spPr>
      </p:sp>
      <p:sp>
        <p:nvSpPr>
          <p:cNvPr id="7" name="Text 5"/>
          <p:cNvSpPr/>
          <p:nvPr/>
        </p:nvSpPr>
        <p:spPr>
          <a:xfrm>
            <a:off x="10607040" y="1965960"/>
            <a:ext cx="640080" cy="640080"/>
          </a:xfrm>
          <a:prstGeom prst="rect">
            <a:avLst/>
          </a:prstGeom>
          <a:noFill/>
          <a:ln/>
        </p:spPr>
        <p:txBody>
          <a:bodyPr wrap="square"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8" name="Text 6"/>
          <p:cNvSpPr/>
          <p:nvPr/>
        </p:nvSpPr>
        <p:spPr>
          <a:xfrm>
            <a:off x="868680" y="2011680"/>
            <a:ext cx="9509760" cy="594360"/>
          </a:xfrm>
          <a:prstGeom prst="rect">
            <a:avLst/>
          </a:prstGeom>
          <a:noFill/>
          <a:ln/>
        </p:spPr>
        <p:txBody>
          <a:bodyPr wrap="square" rtlCol="0" anchor="ctr"/>
          <a:lstStyle/>
          <a:p>
            <a:pPr rtl="1" algn="r" indent="0" marL="0">
              <a:buNone/>
            </a:pPr>
            <a:r>
              <a:rPr lang="en-US" sz="1650" b="1" dirty="0">
                <a:solidFill>
                  <a:srgbClr val="1B1F2A"/>
                </a:solidFill>
                <a:latin typeface="Arial" pitchFamily="34" charset="0"/>
                <a:ea typeface="Arial" pitchFamily="34" charset="-122"/>
                <a:cs typeface="Arial" pitchFamily="34" charset="-120"/>
              </a:rPr>
              <a:t>פריסה לסביבת אוטומציה/QA מריצה אוטומטית את 3 קטגוריות הטסט ברירת המחדל שלנו.</a:t>
            </a:r>
            <a:endParaRPr lang="en-US" sz="1650" dirty="0"/>
          </a:p>
        </p:txBody>
      </p:sp>
      <p:sp>
        <p:nvSpPr>
          <p:cNvPr id="9" name="Text 7"/>
          <p:cNvSpPr/>
          <p:nvPr/>
        </p:nvSpPr>
        <p:spPr>
          <a:xfrm>
            <a:off x="868680" y="2606040"/>
            <a:ext cx="9326880" cy="822960"/>
          </a:xfrm>
          <a:prstGeom prst="rect">
            <a:avLst/>
          </a:prstGeom>
          <a:noFill/>
          <a:ln/>
        </p:spPr>
        <p:txBody>
          <a:bodyPr wrap="square" rtlCol="0" anchor="ctr"/>
          <a:lstStyle/>
          <a:p>
            <a:pPr rtl="1" algn="r" indent="0" marL="0">
              <a:lnSpc>
                <a:spcPct val="125000"/>
              </a:lnSpc>
              <a:buNone/>
            </a:pPr>
            <a:r>
              <a:rPr lang="en-US" sz="1350" dirty="0">
                <a:solidFill>
                  <a:srgbClr val="5B6572"/>
                </a:solidFill>
                <a:latin typeface="Arial" pitchFamily="34" charset="0"/>
                <a:ea typeface="Arial" pitchFamily="34" charset="-122"/>
                <a:cs typeface="Arial" pitchFamily="34" charset="-120"/>
              </a:rPr>
              <a:t>פריסה לטסט או לפרודקשן לא מפעילה בעצמה את חבילת האוטומציה — אותה נקודת הפעלה כמו בתהליך הישן של chaos-ci.</a:t>
            </a:r>
            <a:endParaRPr lang="en-US" sz="1350" dirty="0"/>
          </a:p>
        </p:txBody>
      </p:sp>
      <p:sp>
        <p:nvSpPr>
          <p:cNvPr id="10" name="Shape 8"/>
          <p:cNvSpPr/>
          <p:nvPr/>
        </p:nvSpPr>
        <p:spPr>
          <a:xfrm>
            <a:off x="548640" y="3794760"/>
            <a:ext cx="11064240" cy="2331720"/>
          </a:xfrm>
          <a:prstGeom prst="roundRect">
            <a:avLst>
              <a:gd name="adj" fmla="val 3137"/>
            </a:avLst>
          </a:prstGeom>
          <a:solidFill>
            <a:srgbClr val="1B1F3B"/>
          </a:solidFill>
          <a:ln/>
          <a:effectLst>
            <a:outerShdw sx="100000" sy="100000" kx="0" ky="0" algn="bl" rotWithShape="0" blurRad="76200" dist="25400" dir="5400000">
              <a:srgbClr val="9AA5AF">
                <a:alpha val="25000"/>
              </a:srgbClr>
            </a:outerShdw>
          </a:effectLst>
        </p:spPr>
      </p:sp>
      <p:sp>
        <p:nvSpPr>
          <p:cNvPr id="11" name="Text 9"/>
          <p:cNvSpPr/>
          <p:nvPr/>
        </p:nvSpPr>
        <p:spPr>
          <a:xfrm>
            <a:off x="868680" y="4023360"/>
            <a:ext cx="9144000" cy="365760"/>
          </a:xfrm>
          <a:prstGeom prst="rect">
            <a:avLst/>
          </a:prstGeom>
          <a:noFill/>
          <a:ln/>
        </p:spPr>
        <p:txBody>
          <a:bodyPr wrap="square" rtlCol="0" anchor="ctr"/>
          <a:lstStyle/>
          <a:p>
            <a:pPr rtl="1" algn="r" indent="0" marL="0">
              <a:buNone/>
            </a:pPr>
            <a:r>
              <a:rPr lang="en-US" sz="1600" b="1" dirty="0">
                <a:solidFill>
                  <a:srgbClr val="6FE7DD"/>
                </a:solidFill>
                <a:latin typeface="Arial" pitchFamily="34" charset="0"/>
                <a:ea typeface="Arial" pitchFamily="34" charset="-122"/>
                <a:cs typeface="Arial" pitchFamily="34" charset="-120"/>
              </a:rPr>
              <a:t>צריכים כיסוי מלא או קטגוריות מותאמות אישית?</a:t>
            </a:r>
            <a:endParaRPr lang="en-US" sz="1600" dirty="0"/>
          </a:p>
        </p:txBody>
      </p:sp>
      <p:sp>
        <p:nvSpPr>
          <p:cNvPr id="12" name="Text 10"/>
          <p:cNvSpPr/>
          <p:nvPr/>
        </p:nvSpPr>
        <p:spPr>
          <a:xfrm>
            <a:off x="868680" y="4434840"/>
            <a:ext cx="9144000" cy="365760"/>
          </a:xfrm>
          <a:prstGeom prst="rect">
            <a:avLst/>
          </a:prstGeom>
          <a:noFill/>
          <a:ln/>
        </p:spPr>
        <p:txBody>
          <a:bodyPr wrap="square"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chaos-ci עדיין קיים בשביל זה. יש להיכנס ל-chaos-ci ו:</a:t>
            </a:r>
            <a:endParaRPr lang="en-US" sz="1350" dirty="0"/>
          </a:p>
        </p:txBody>
      </p:sp>
      <p:sp>
        <p:nvSpPr>
          <p:cNvPr id="13" name="Text 11"/>
          <p:cNvSpPr/>
          <p:nvPr/>
        </p:nvSpPr>
        <p:spPr>
          <a:xfrm>
            <a:off x="868680" y="4846320"/>
            <a:ext cx="10332720" cy="1188720"/>
          </a:xfrm>
          <a:prstGeom prst="rect">
            <a:avLst/>
          </a:prstGeom>
          <a:noFill/>
          <a:ln/>
        </p:spPr>
        <p:txBody>
          <a:bodyPr wrap="square" rtlCol="0" anchor="ctr"/>
          <a:lstStyle/>
          <a:p>
            <a:pPr rtl="1" algn="r" indent="0" marL="0">
              <a:spcAft>
                <a:spcPts val="800"/>
              </a:spcAft>
              <a:buNone/>
            </a:pPr>
            <a:r>
              <a:rPr lang="en-US" sz="1350" dirty="0">
                <a:solidFill>
                  <a:srgbClr val="CADCFC"/>
                </a:solidFill>
                <a:latin typeface="Arial" pitchFamily="34" charset="0"/>
                <a:ea typeface="Arial" pitchFamily="34" charset="-122"/>
                <a:cs typeface="Arial" pitchFamily="34" charset="-120"/>
              </a:rPr>
              <a:t>להזין את שם ה-branch שרוצים לפרוס  .1</a:t>
            </a:r>
            <a:endParaRPr lang="en-US" sz="1350" dirty="0"/>
          </a:p>
          <a:p>
            <a:pPr rtl="1" algn="r" indent="0" marL="0">
              <a:spcAft>
                <a:spcPts val="800"/>
              </a:spcAft>
              <a:buNone/>
            </a:pPr>
            <a:r>
              <a:rPr lang="en-US" sz="1350" dirty="0">
                <a:solidFill>
                  <a:srgbClr val="CADCFC"/>
                </a:solidFill>
                <a:latin typeface="Arial" pitchFamily="34" charset="0"/>
                <a:ea typeface="Arial" pitchFamily="34" charset="-122"/>
                <a:cs typeface="Arial" pitchFamily="34" charset="-120"/>
              </a:rPr>
              <a:t>להזין את שם ה-branch של האוטומציה שמולו רוצים לבדוק  .2</a:t>
            </a:r>
            <a:endParaRPr lang="en-US" sz="1350" dirty="0"/>
          </a:p>
          <a:p>
            <a:pPr rtl="1" algn="r" indent="0" marL="0">
              <a:spcAft>
                <a:spcPts val="800"/>
              </a:spcAft>
              <a:buNone/>
            </a:pPr>
            <a:r>
              <a:rPr lang="en-US" sz="1350" dirty="0">
                <a:solidFill>
                  <a:srgbClr val="CADCFC"/>
                </a:solidFill>
                <a:latin typeface="Arial" pitchFamily="34" charset="0"/>
                <a:ea typeface="Arial" pitchFamily="34" charset="-122"/>
                <a:cs typeface="Arial" pitchFamily="34" charset="-120"/>
              </a:rPr>
              <a:t>לבחור אילו קטגוריות להריץ — כולל את כולן, לא רק את 3 ברירות המחדל  .3</a:t>
            </a:r>
            <a:endParaRPr lang="en-US" sz="1350" dirty="0"/>
          </a:p>
        </p:txBody>
      </p:sp>
      <p:sp>
        <p:nvSpPr>
          <p:cNvPr id="14" name="Text 12"/>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5" name="Text 13"/>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F3B"/>
        </a:solidFill>
      </p:bgPr>
    </p:bg>
    <p:spTree>
      <p:nvGrpSpPr>
        <p:cNvPr id="1" name=""/>
        <p:cNvGrpSpPr/>
        <p:nvPr/>
      </p:nvGrpSpPr>
      <p:grpSpPr>
        <a:xfrm>
          <a:off x="0" y="0"/>
          <a:ext cx="0" cy="0"/>
          <a:chOff x="0" y="0"/>
          <a:chExt cx="0" cy="0"/>
        </a:xfrm>
      </p:grpSpPr>
      <p:sp>
        <p:nvSpPr>
          <p:cNvPr id="2" name="Shape 0"/>
          <p:cNvSpPr/>
          <p:nvPr/>
        </p:nvSpPr>
        <p:spPr>
          <a:xfrm>
            <a:off x="9692640" y="4480560"/>
            <a:ext cx="4937760" cy="4937760"/>
          </a:xfrm>
          <a:prstGeom prst="ellipse">
            <a:avLst/>
          </a:prstGeom>
          <a:solidFill>
            <a:srgbClr val="00A896">
              <a:alpha val="32000"/>
            </a:srgbClr>
          </a:solidFill>
          <a:ln/>
        </p:spPr>
      </p:sp>
      <p:sp>
        <p:nvSpPr>
          <p:cNvPr id="3" name="Shape 1"/>
          <p:cNvSpPr/>
          <p:nvPr/>
        </p:nvSpPr>
        <p:spPr>
          <a:xfrm>
            <a:off x="-2377440" y="-2194560"/>
            <a:ext cx="4023360" cy="4023360"/>
          </a:xfrm>
          <a:prstGeom prst="ellipse">
            <a:avLst/>
          </a:prstGeom>
          <a:solidFill>
            <a:srgbClr val="FFB100">
              <a:alpha val="25000"/>
            </a:srgbClr>
          </a:solidFill>
          <a:ln/>
        </p:spPr>
      </p:sp>
      <p:sp>
        <p:nvSpPr>
          <p:cNvPr id="4" name="Shape 2"/>
          <p:cNvSpPr/>
          <p:nvPr/>
        </p:nvSpPr>
        <p:spPr>
          <a:xfrm>
            <a:off x="11265408" y="219456"/>
            <a:ext cx="118872" cy="118872"/>
          </a:xfrm>
          <a:prstGeom prst="ellipse">
            <a:avLst/>
          </a:prstGeom>
          <a:solidFill>
            <a:srgbClr val="FFB100"/>
          </a:solidFill>
          <a:ln/>
        </p:spPr>
      </p:sp>
      <p:sp>
        <p:nvSpPr>
          <p:cNvPr id="5" name="Text 3"/>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6FE7DD"/>
                </a:solidFill>
                <a:latin typeface="Arial" pitchFamily="34" charset="0"/>
                <a:ea typeface="Arial" pitchFamily="34" charset="-122"/>
                <a:cs typeface="Arial" pitchFamily="34" charset="-120"/>
              </a:rPr>
              <a:t>עוד על chaos-ci</a:t>
            </a:r>
            <a:endParaRPr lang="en-US" sz="1200" dirty="0"/>
          </a:p>
        </p:txBody>
      </p:sp>
      <p:sp>
        <p:nvSpPr>
          <p:cNvPr id="6" name="Text 4"/>
          <p:cNvSpPr/>
          <p:nvPr/>
        </p:nvSpPr>
        <p:spPr>
          <a:xfrm>
            <a:off x="576072" y="411480"/>
            <a:ext cx="11064240" cy="731520"/>
          </a:xfrm>
          <a:prstGeom prst="rect">
            <a:avLst/>
          </a:prstGeom>
          <a:noFill/>
          <a:ln/>
        </p:spPr>
        <p:txBody>
          <a:bodyPr wrap="square" rtlCol="0" anchor="ctr"/>
          <a:lstStyle/>
          <a:p>
            <a:pPr rtl="1" algn="r" indent="0" marL="0">
              <a:buNone/>
            </a:pPr>
            <a:r>
              <a:rPr lang="en-US" sz="2800" b="1" dirty="0">
                <a:solidFill>
                  <a:srgbClr val="FFFFFF"/>
                </a:solidFill>
                <a:latin typeface="Arial" pitchFamily="34" charset="0"/>
                <a:ea typeface="Arial" pitchFamily="34" charset="-122"/>
                <a:cs typeface="Arial" pitchFamily="34" charset="-120"/>
              </a:rPr>
              <a:t>מתי עוד משתמשים ב-chaos-ci</a:t>
            </a:r>
            <a:endParaRPr lang="en-US" sz="2800" dirty="0"/>
          </a:p>
        </p:txBody>
      </p:sp>
      <p:sp>
        <p:nvSpPr>
          <p:cNvPr id="7" name="Shape 5"/>
          <p:cNvSpPr/>
          <p:nvPr/>
        </p:nvSpPr>
        <p:spPr>
          <a:xfrm>
            <a:off x="8138160" y="1691640"/>
            <a:ext cx="3520440" cy="4160520"/>
          </a:xfrm>
          <a:prstGeom prst="roundRect">
            <a:avLst>
              <a:gd name="adj" fmla="val 2078"/>
            </a:avLst>
          </a:prstGeom>
          <a:solidFill>
            <a:srgbClr val="262B52"/>
          </a:solidFill>
          <a:ln w="12700">
            <a:solidFill>
              <a:srgbClr val="394079"/>
            </a:solidFill>
            <a:prstDash val="solid"/>
          </a:ln>
        </p:spPr>
      </p:sp>
      <p:sp>
        <p:nvSpPr>
          <p:cNvPr id="8" name="Shape 6"/>
          <p:cNvSpPr/>
          <p:nvPr/>
        </p:nvSpPr>
        <p:spPr>
          <a:xfrm>
            <a:off x="10789920" y="1965960"/>
            <a:ext cx="594360" cy="594360"/>
          </a:xfrm>
          <a:prstGeom prst="ellipse">
            <a:avLst/>
          </a:prstGeom>
          <a:solidFill>
            <a:srgbClr val="00A896"/>
          </a:solidFill>
          <a:ln/>
        </p:spPr>
      </p:sp>
      <p:sp>
        <p:nvSpPr>
          <p:cNvPr id="9" name="Text 7"/>
          <p:cNvSpPr/>
          <p:nvPr/>
        </p:nvSpPr>
        <p:spPr>
          <a:xfrm>
            <a:off x="10789920" y="1947672"/>
            <a:ext cx="594360" cy="5943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a:t>
            </a:r>
            <a:endParaRPr lang="en-US" sz="1800" dirty="0"/>
          </a:p>
        </p:txBody>
      </p:sp>
      <p:sp>
        <p:nvSpPr>
          <p:cNvPr id="10" name="Text 8"/>
          <p:cNvSpPr/>
          <p:nvPr/>
        </p:nvSpPr>
        <p:spPr>
          <a:xfrm>
            <a:off x="8412480" y="2743200"/>
            <a:ext cx="2971800" cy="594360"/>
          </a:xfrm>
          <a:prstGeom prst="rect">
            <a:avLst/>
          </a:prstGeom>
          <a:noFill/>
          <a:ln/>
        </p:spPr>
        <p:txBody>
          <a:bodyPr wrap="square" rtlCol="0" anchor="ctr"/>
          <a:lstStyle/>
          <a:p>
            <a:pPr rtl="1" algn="r" indent="0" marL="0">
              <a:lnSpc>
                <a:spcPct val="110000"/>
              </a:lnSpc>
              <a:buNone/>
            </a:pPr>
            <a:r>
              <a:rPr lang="en-US" sz="1550" b="1" dirty="0">
                <a:solidFill>
                  <a:srgbClr val="FFFFFF"/>
                </a:solidFill>
                <a:latin typeface="Arial" pitchFamily="34" charset="0"/>
                <a:ea typeface="Arial" pitchFamily="34" charset="-122"/>
                <a:cs typeface="Arial" pitchFamily="34" charset="-120"/>
              </a:rPr>
              <a:t>פריסה מקבילה של splash</a:t>
            </a:r>
            <a:endParaRPr lang="en-US" sz="1550" dirty="0"/>
          </a:p>
        </p:txBody>
      </p:sp>
      <p:sp>
        <p:nvSpPr>
          <p:cNvPr id="11" name="Text 9"/>
          <p:cNvSpPr/>
          <p:nvPr/>
        </p:nvSpPr>
        <p:spPr>
          <a:xfrm>
            <a:off x="8412480" y="3383280"/>
            <a:ext cx="2971800" cy="2286000"/>
          </a:xfrm>
          <a:prstGeom prst="rect">
            <a:avLst/>
          </a:prstGeom>
          <a:noFill/>
          <a:ln/>
        </p:spPr>
        <p:txBody>
          <a:bodyPr wrap="square" rtlCol="0" anchor="ctr"/>
          <a:lstStyle/>
          <a:p>
            <a:pPr rtl="1" algn="r" indent="0" marL="0">
              <a:lnSpc>
                <a:spcPct val="128000"/>
              </a:lnSpc>
              <a:buNone/>
            </a:pPr>
            <a:r>
              <a:rPr lang="en-US" sz="1200" dirty="0">
                <a:solidFill>
                  <a:srgbClr val="CBD3EE"/>
                </a:solidFill>
                <a:latin typeface="Arial" pitchFamily="34" charset="0"/>
                <a:ea typeface="Arial" pitchFamily="34" charset="-122"/>
                <a:cs typeface="Arial" pitchFamily="34" charset="-120"/>
              </a:rPr>
              <a:t>כשצריך לעקוף את ה-pipeline הרגיל ולפרוס גם את הרכיבים של splash (מערכת של צוות אחר, שלפעמים יש איתה ממשק) — מריצים את chaos-ci ידנית ונותנים לו את שם ה-feature branch שעליו עובדים.</a:t>
            </a:r>
            <a:endParaRPr lang="en-US" sz="1200" dirty="0"/>
          </a:p>
        </p:txBody>
      </p:sp>
      <p:sp>
        <p:nvSpPr>
          <p:cNvPr id="12" name="Shape 10"/>
          <p:cNvSpPr/>
          <p:nvPr/>
        </p:nvSpPr>
        <p:spPr>
          <a:xfrm>
            <a:off x="4343400" y="1691640"/>
            <a:ext cx="3520440" cy="4160520"/>
          </a:xfrm>
          <a:prstGeom prst="roundRect">
            <a:avLst>
              <a:gd name="adj" fmla="val 2078"/>
            </a:avLst>
          </a:prstGeom>
          <a:solidFill>
            <a:srgbClr val="262B52"/>
          </a:solidFill>
          <a:ln w="12700">
            <a:solidFill>
              <a:srgbClr val="394079"/>
            </a:solidFill>
            <a:prstDash val="solid"/>
          </a:ln>
        </p:spPr>
      </p:sp>
      <p:sp>
        <p:nvSpPr>
          <p:cNvPr id="13" name="Shape 11"/>
          <p:cNvSpPr/>
          <p:nvPr/>
        </p:nvSpPr>
        <p:spPr>
          <a:xfrm>
            <a:off x="6995160" y="1965960"/>
            <a:ext cx="594360" cy="594360"/>
          </a:xfrm>
          <a:prstGeom prst="ellipse">
            <a:avLst/>
          </a:prstGeom>
          <a:solidFill>
            <a:srgbClr val="3949AB"/>
          </a:solidFill>
          <a:ln/>
        </p:spPr>
      </p:sp>
      <p:sp>
        <p:nvSpPr>
          <p:cNvPr id="14" name="Text 12"/>
          <p:cNvSpPr/>
          <p:nvPr/>
        </p:nvSpPr>
        <p:spPr>
          <a:xfrm>
            <a:off x="6995160" y="1947672"/>
            <a:ext cx="594360" cy="5943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a:t>
            </a:r>
            <a:endParaRPr lang="en-US" sz="1800" dirty="0"/>
          </a:p>
        </p:txBody>
      </p:sp>
      <p:sp>
        <p:nvSpPr>
          <p:cNvPr id="15" name="Text 13"/>
          <p:cNvSpPr/>
          <p:nvPr/>
        </p:nvSpPr>
        <p:spPr>
          <a:xfrm>
            <a:off x="4617720" y="2743200"/>
            <a:ext cx="2971800" cy="594360"/>
          </a:xfrm>
          <a:prstGeom prst="rect">
            <a:avLst/>
          </a:prstGeom>
          <a:noFill/>
          <a:ln/>
        </p:spPr>
        <p:txBody>
          <a:bodyPr wrap="square" rtlCol="0" anchor="ctr"/>
          <a:lstStyle/>
          <a:p>
            <a:pPr rtl="1" algn="r" indent="0" marL="0">
              <a:lnSpc>
                <a:spcPct val="110000"/>
              </a:lnSpc>
              <a:buNone/>
            </a:pPr>
            <a:r>
              <a:rPr lang="en-US" sz="1550" b="1" dirty="0">
                <a:solidFill>
                  <a:srgbClr val="FFFFFF"/>
                </a:solidFill>
                <a:latin typeface="Arial" pitchFamily="34" charset="0"/>
                <a:ea typeface="Arial" pitchFamily="34" charset="-122"/>
                <a:cs typeface="Arial" pitchFamily="34" charset="-120"/>
              </a:rPr>
              <a:t>הוספת טסט לאוטומציה</a:t>
            </a:r>
            <a:endParaRPr lang="en-US" sz="1550" dirty="0"/>
          </a:p>
        </p:txBody>
      </p:sp>
      <p:sp>
        <p:nvSpPr>
          <p:cNvPr id="16" name="Text 14"/>
          <p:cNvSpPr/>
          <p:nvPr/>
        </p:nvSpPr>
        <p:spPr>
          <a:xfrm>
            <a:off x="4617720" y="3383280"/>
            <a:ext cx="2971800" cy="2286000"/>
          </a:xfrm>
          <a:prstGeom prst="rect">
            <a:avLst/>
          </a:prstGeom>
          <a:noFill/>
          <a:ln/>
        </p:spPr>
        <p:txBody>
          <a:bodyPr wrap="square" rtlCol="0" anchor="ctr"/>
          <a:lstStyle/>
          <a:p>
            <a:pPr rtl="1" algn="r" indent="0" marL="0">
              <a:lnSpc>
                <a:spcPct val="128000"/>
              </a:lnSpc>
              <a:buNone/>
            </a:pPr>
            <a:r>
              <a:rPr lang="en-US" sz="1200" dirty="0">
                <a:solidFill>
                  <a:srgbClr val="CBD3EE"/>
                </a:solidFill>
                <a:latin typeface="Arial" pitchFamily="34" charset="0"/>
                <a:ea typeface="Arial" pitchFamily="34" charset="-122"/>
                <a:cs typeface="Arial" pitchFamily="34" charset="-120"/>
              </a:rPr>
              <a:t>כשמוסיפים טסט חדש לאוטומציה עצמה, אפשר להריץ מ-chaos-ci את כל קטגוריות האוטומציה על ה-feature branch — כדי לוודא שהטסט החדש עובד לפני שהוא מצטרף לריצה הרגילה.</a:t>
            </a:r>
            <a:endParaRPr lang="en-US" sz="1200" dirty="0"/>
          </a:p>
        </p:txBody>
      </p:sp>
      <p:sp>
        <p:nvSpPr>
          <p:cNvPr id="17" name="Shape 15"/>
          <p:cNvSpPr/>
          <p:nvPr/>
        </p:nvSpPr>
        <p:spPr>
          <a:xfrm>
            <a:off x="548640" y="1691640"/>
            <a:ext cx="3520440" cy="4160520"/>
          </a:xfrm>
          <a:prstGeom prst="roundRect">
            <a:avLst>
              <a:gd name="adj" fmla="val 2078"/>
            </a:avLst>
          </a:prstGeom>
          <a:solidFill>
            <a:srgbClr val="262B52"/>
          </a:solidFill>
          <a:ln w="12700">
            <a:solidFill>
              <a:srgbClr val="394079"/>
            </a:solidFill>
            <a:prstDash val="solid"/>
          </a:ln>
        </p:spPr>
      </p:sp>
      <p:sp>
        <p:nvSpPr>
          <p:cNvPr id="18" name="Shape 16"/>
          <p:cNvSpPr/>
          <p:nvPr/>
        </p:nvSpPr>
        <p:spPr>
          <a:xfrm>
            <a:off x="3200400" y="1965960"/>
            <a:ext cx="594360" cy="594360"/>
          </a:xfrm>
          <a:prstGeom prst="ellipse">
            <a:avLst/>
          </a:prstGeom>
          <a:solidFill>
            <a:srgbClr val="FFB100"/>
          </a:solidFill>
          <a:ln/>
        </p:spPr>
      </p:sp>
      <p:sp>
        <p:nvSpPr>
          <p:cNvPr id="19" name="Text 17"/>
          <p:cNvSpPr/>
          <p:nvPr/>
        </p:nvSpPr>
        <p:spPr>
          <a:xfrm>
            <a:off x="3200400" y="1947672"/>
            <a:ext cx="594360" cy="594360"/>
          </a:xfrm>
          <a:prstGeom prst="rect">
            <a:avLst/>
          </a:prstGeom>
          <a:noFill/>
          <a:ln/>
        </p:spPr>
        <p:txBody>
          <a:bodyPr wrap="square" rtlCol="0" anchor="ctr"/>
          <a:lstStyle/>
          <a:p>
            <a:pPr algn="ctr" indent="0" marL="0">
              <a:buNone/>
            </a:pPr>
            <a:r>
              <a:rPr lang="en-US" sz="1800" b="1" dirty="0">
                <a:solidFill>
                  <a:srgbClr val="1B1F3B"/>
                </a:solidFill>
                <a:latin typeface="Arial" pitchFamily="34" charset="0"/>
                <a:ea typeface="Arial" pitchFamily="34" charset="-122"/>
                <a:cs typeface="Arial" pitchFamily="34" charset="-120"/>
              </a:rPr>
              <a:t>☾</a:t>
            </a:r>
            <a:endParaRPr lang="en-US" sz="1800" dirty="0"/>
          </a:p>
        </p:txBody>
      </p:sp>
      <p:sp>
        <p:nvSpPr>
          <p:cNvPr id="20" name="Text 18"/>
          <p:cNvSpPr/>
          <p:nvPr/>
        </p:nvSpPr>
        <p:spPr>
          <a:xfrm>
            <a:off x="822960" y="2743200"/>
            <a:ext cx="2971800" cy="594360"/>
          </a:xfrm>
          <a:prstGeom prst="rect">
            <a:avLst/>
          </a:prstGeom>
          <a:noFill/>
          <a:ln/>
        </p:spPr>
        <p:txBody>
          <a:bodyPr wrap="square" rtlCol="0" anchor="ctr"/>
          <a:lstStyle/>
          <a:p>
            <a:pPr rtl="1" algn="r" indent="0" marL="0">
              <a:lnSpc>
                <a:spcPct val="110000"/>
              </a:lnSpc>
              <a:buNone/>
            </a:pPr>
            <a:r>
              <a:rPr lang="en-US" sz="1550" b="1" dirty="0">
                <a:solidFill>
                  <a:srgbClr val="FFFFFF"/>
                </a:solidFill>
                <a:latin typeface="Arial" pitchFamily="34" charset="0"/>
                <a:ea typeface="Arial" pitchFamily="34" charset="-122"/>
                <a:cs typeface="Arial" pitchFamily="34" charset="-120"/>
              </a:rPr>
              <a:t>הרצת הלילה (nightly)</a:t>
            </a:r>
            <a:endParaRPr lang="en-US" sz="1550" dirty="0"/>
          </a:p>
        </p:txBody>
      </p:sp>
      <p:sp>
        <p:nvSpPr>
          <p:cNvPr id="21" name="Text 19"/>
          <p:cNvSpPr/>
          <p:nvPr/>
        </p:nvSpPr>
        <p:spPr>
          <a:xfrm>
            <a:off x="822960" y="3383280"/>
            <a:ext cx="2971800" cy="2286000"/>
          </a:xfrm>
          <a:prstGeom prst="rect">
            <a:avLst/>
          </a:prstGeom>
          <a:noFill/>
          <a:ln/>
        </p:spPr>
        <p:txBody>
          <a:bodyPr wrap="square" rtlCol="0" anchor="ctr"/>
          <a:lstStyle/>
          <a:p>
            <a:pPr rtl="1" algn="r" indent="0" marL="0">
              <a:lnSpc>
                <a:spcPct val="128000"/>
              </a:lnSpc>
              <a:buNone/>
            </a:pPr>
            <a:r>
              <a:rPr lang="en-US" sz="1200" dirty="0">
                <a:solidFill>
                  <a:srgbClr val="CBD3EE"/>
                </a:solidFill>
                <a:latin typeface="Arial" pitchFamily="34" charset="0"/>
                <a:ea typeface="Arial" pitchFamily="34" charset="-122"/>
                <a:cs typeface="Arial" pitchFamily="34" charset="-120"/>
              </a:rPr>
              <a:t>הריצה הקבועה שלנו כל לילה מתבצעת דרך chaos-ci — זה אותו כלי שמריץ גם את הבדיקות היזומות וגם את הריצה האוטומטית התקופתית.</a:t>
            </a:r>
            <a:endParaRPr lang="en-US" sz="1200" dirty="0"/>
          </a:p>
        </p:txBody>
      </p:sp>
      <p:sp>
        <p:nvSpPr>
          <p:cNvPr id="22" name="Text 20"/>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23" name="Text 21"/>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תפעול</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ביצוע rollback</a:t>
            </a:r>
            <a:endParaRPr lang="en-US" sz="3000" dirty="0"/>
          </a:p>
        </p:txBody>
      </p:sp>
      <p:sp>
        <p:nvSpPr>
          <p:cNvPr id="5" name="Text 3"/>
          <p:cNvSpPr/>
          <p:nvPr/>
        </p:nvSpPr>
        <p:spPr>
          <a:xfrm>
            <a:off x="548640" y="1417320"/>
            <a:ext cx="11064240" cy="548640"/>
          </a:xfrm>
          <a:prstGeom prst="rect">
            <a:avLst/>
          </a:prstGeom>
          <a:noFill/>
          <a:ln/>
        </p:spPr>
        <p:txBody>
          <a:bodyPr wrap="square" rtlCol="0" anchor="ctr"/>
          <a:lstStyle/>
          <a:p>
            <a:pPr rtl="1" algn="r" indent="0" marL="0">
              <a:buNone/>
            </a:pPr>
            <a:r>
              <a:rPr lang="en-US" sz="1400" dirty="0">
                <a:solidFill>
                  <a:srgbClr val="1B1F2A"/>
                </a:solidFill>
                <a:latin typeface="Arial" pitchFamily="34" charset="0"/>
                <a:ea typeface="Arial" pitchFamily="34" charset="-122"/>
                <a:cs typeface="Arial" pitchFamily="34" charset="-120"/>
              </a:rPr>
              <a:t>אין כלי ייעודי ל-rollback — revert הוא פשוט commit נוסף, וה-pipeline מתייחס אליו בדיוק כמו לכל שינוי אחר.</a:t>
            </a:r>
            <a:endParaRPr lang="en-US" sz="1400" dirty="0"/>
          </a:p>
        </p:txBody>
      </p:sp>
      <p:sp>
        <p:nvSpPr>
          <p:cNvPr id="6" name="Shape 4"/>
          <p:cNvSpPr/>
          <p:nvPr/>
        </p:nvSpPr>
        <p:spPr>
          <a:xfrm>
            <a:off x="11204143" y="2148840"/>
            <a:ext cx="438912" cy="438912"/>
          </a:xfrm>
          <a:prstGeom prst="ellipse">
            <a:avLst/>
          </a:prstGeom>
          <a:solidFill>
            <a:srgbClr val="00A896"/>
          </a:solidFill>
          <a:ln/>
        </p:spPr>
      </p:sp>
      <p:sp>
        <p:nvSpPr>
          <p:cNvPr id="7" name="Text 5"/>
          <p:cNvSpPr/>
          <p:nvPr/>
        </p:nvSpPr>
        <p:spPr>
          <a:xfrm>
            <a:off x="11204143" y="2148840"/>
            <a:ext cx="438912" cy="43891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p:nvPr/>
        </p:nvSpPr>
        <p:spPr>
          <a:xfrm>
            <a:off x="5882335" y="2130552"/>
            <a:ext cx="5257800" cy="457200"/>
          </a:xfrm>
          <a:prstGeom prst="rect">
            <a:avLst/>
          </a:prstGeom>
          <a:noFill/>
          <a:ln/>
        </p:spPr>
        <p:txBody>
          <a:bodyPr wrap="square" rtlCol="0" anchor="ctr"/>
          <a:lstStyle/>
          <a:p>
            <a:pPr rtl="1" algn="r" indent="0" marL="0">
              <a:buNone/>
            </a:pPr>
            <a:r>
              <a:rPr lang="en-US" sz="1300" b="1" dirty="0">
                <a:solidFill>
                  <a:srgbClr val="1B1F2A"/>
                </a:solidFill>
                <a:latin typeface="Arial" pitchFamily="34" charset="0"/>
                <a:ea typeface="Arial" pitchFamily="34" charset="-122"/>
                <a:cs typeface="Arial" pitchFamily="34" charset="-120"/>
              </a:rPr>
              <a:t>מבצעים revert לקומיט ב-master</a:t>
            </a:r>
            <a:endParaRPr lang="en-US" sz="1300" dirty="0"/>
          </a:p>
        </p:txBody>
      </p:sp>
      <p:sp>
        <p:nvSpPr>
          <p:cNvPr id="9" name="Text 7"/>
          <p:cNvSpPr/>
          <p:nvPr/>
        </p:nvSpPr>
        <p:spPr>
          <a:xfrm>
            <a:off x="548640" y="2130552"/>
            <a:ext cx="5760720" cy="457200"/>
          </a:xfrm>
          <a:prstGeom prst="rect">
            <a:avLst/>
          </a:prstGeom>
          <a:noFill/>
          <a:ln/>
        </p:spPr>
        <p:txBody>
          <a:bodyPr wrap="square" rtlCol="0" anchor="ctr"/>
          <a:lstStyle/>
          <a:p>
            <a:pPr rtl="1" algn="r" indent="0" marL="0">
              <a:buNone/>
            </a:pPr>
            <a:r>
              <a:rPr lang="en-US" sz="1100" dirty="0">
                <a:solidFill>
                  <a:srgbClr val="5B6572"/>
                </a:solidFill>
                <a:latin typeface="Arial" pitchFamily="34" charset="0"/>
                <a:ea typeface="Arial" pitchFamily="34" charset="-122"/>
                <a:cs typeface="Arial" pitchFamily="34" charset="-120"/>
              </a:rPr>
              <a:t>git revert רגיל, בדיוק כמו כל שינוי אחר</a:t>
            </a:r>
            <a:endParaRPr lang="en-US" sz="1100" dirty="0"/>
          </a:p>
        </p:txBody>
      </p:sp>
      <p:sp>
        <p:nvSpPr>
          <p:cNvPr id="10" name="Shape 8"/>
          <p:cNvSpPr/>
          <p:nvPr/>
        </p:nvSpPr>
        <p:spPr>
          <a:xfrm>
            <a:off x="11204143" y="2788920"/>
            <a:ext cx="438912" cy="438912"/>
          </a:xfrm>
          <a:prstGeom prst="ellipse">
            <a:avLst/>
          </a:prstGeom>
          <a:solidFill>
            <a:srgbClr val="00A896"/>
          </a:solidFill>
          <a:ln/>
        </p:spPr>
      </p:sp>
      <p:sp>
        <p:nvSpPr>
          <p:cNvPr id="11" name="Text 9"/>
          <p:cNvSpPr/>
          <p:nvPr/>
        </p:nvSpPr>
        <p:spPr>
          <a:xfrm>
            <a:off x="11204143" y="2788920"/>
            <a:ext cx="438912" cy="43891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p:nvPr/>
        </p:nvSpPr>
        <p:spPr>
          <a:xfrm>
            <a:off x="5882335" y="2770632"/>
            <a:ext cx="5257800" cy="457200"/>
          </a:xfrm>
          <a:prstGeom prst="rect">
            <a:avLst/>
          </a:prstGeom>
          <a:noFill/>
          <a:ln/>
        </p:spPr>
        <p:txBody>
          <a:bodyPr wrap="square" rtlCol="0" anchor="ctr"/>
          <a:lstStyle/>
          <a:p>
            <a:pPr rtl="1" algn="r" indent="0" marL="0">
              <a:buNone/>
            </a:pPr>
            <a:r>
              <a:rPr lang="en-US" sz="1300" b="1" dirty="0">
                <a:solidFill>
                  <a:srgbClr val="1B1F2A"/>
                </a:solidFill>
                <a:latin typeface="Arial" pitchFamily="34" charset="0"/>
                <a:ea typeface="Arial" pitchFamily="34" charset="-122"/>
                <a:cs typeface="Arial" pitchFamily="34" charset="-120"/>
              </a:rPr>
              <a:t>ה-push מפעיל את ה-pipeline הרגיל</a:t>
            </a:r>
            <a:endParaRPr lang="en-US" sz="1300" dirty="0"/>
          </a:p>
        </p:txBody>
      </p:sp>
      <p:sp>
        <p:nvSpPr>
          <p:cNvPr id="13" name="Text 11"/>
          <p:cNvSpPr/>
          <p:nvPr/>
        </p:nvSpPr>
        <p:spPr>
          <a:xfrm>
            <a:off x="548640" y="2770632"/>
            <a:ext cx="5760720" cy="457200"/>
          </a:xfrm>
          <a:prstGeom prst="rect">
            <a:avLst/>
          </a:prstGeom>
          <a:noFill/>
          <a:ln/>
        </p:spPr>
        <p:txBody>
          <a:bodyPr wrap="square" rtlCol="0" anchor="ctr"/>
          <a:lstStyle/>
          <a:p>
            <a:pPr rtl="1" algn="r" indent="0" marL="0">
              <a:buNone/>
            </a:pPr>
            <a:r>
              <a:rPr lang="en-US" sz="1100" dirty="0">
                <a:solidFill>
                  <a:srgbClr val="5B6572"/>
                </a:solidFill>
                <a:latin typeface="Arial" pitchFamily="34" charset="0"/>
                <a:ea typeface="Arial" pitchFamily="34" charset="-122"/>
                <a:cs typeface="Arial" pitchFamily="34" charset="-120"/>
              </a:rPr>
              <a:t>על master, בדיוק כמו כל push אחר</a:t>
            </a:r>
            <a:endParaRPr lang="en-US" sz="1100" dirty="0"/>
          </a:p>
        </p:txBody>
      </p:sp>
      <p:sp>
        <p:nvSpPr>
          <p:cNvPr id="14" name="Shape 12"/>
          <p:cNvSpPr/>
          <p:nvPr/>
        </p:nvSpPr>
        <p:spPr>
          <a:xfrm>
            <a:off x="11204143" y="3429000"/>
            <a:ext cx="438912" cy="438912"/>
          </a:xfrm>
          <a:prstGeom prst="ellipse">
            <a:avLst/>
          </a:prstGeom>
          <a:solidFill>
            <a:srgbClr val="00A896"/>
          </a:solidFill>
          <a:ln/>
        </p:spPr>
      </p:sp>
      <p:sp>
        <p:nvSpPr>
          <p:cNvPr id="15" name="Text 13"/>
          <p:cNvSpPr/>
          <p:nvPr/>
        </p:nvSpPr>
        <p:spPr>
          <a:xfrm>
            <a:off x="11204143" y="3429000"/>
            <a:ext cx="438912" cy="43891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6" name="Text 14"/>
          <p:cNvSpPr/>
          <p:nvPr/>
        </p:nvSpPr>
        <p:spPr>
          <a:xfrm>
            <a:off x="5882335" y="3410712"/>
            <a:ext cx="5257800" cy="457200"/>
          </a:xfrm>
          <a:prstGeom prst="rect">
            <a:avLst/>
          </a:prstGeom>
          <a:noFill/>
          <a:ln/>
        </p:spPr>
        <p:txBody>
          <a:bodyPr wrap="square" rtlCol="0" anchor="ctr"/>
          <a:lstStyle/>
          <a:p>
            <a:pPr rtl="1" algn="r" indent="0" marL="0">
              <a:buNone/>
            </a:pPr>
            <a:r>
              <a:rPr lang="en-US" sz="1300" b="1" dirty="0">
                <a:solidFill>
                  <a:srgbClr val="1B1F2A"/>
                </a:solidFill>
                <a:latin typeface="Arial" pitchFamily="34" charset="0"/>
                <a:ea typeface="Arial" pitchFamily="34" charset="-122"/>
                <a:cs typeface="Arial" pitchFamily="34" charset="-120"/>
              </a:rPr>
              <a:t>nx affected מזהה את השירותים המושפעים</a:t>
            </a:r>
            <a:endParaRPr lang="en-US" sz="1300" dirty="0"/>
          </a:p>
        </p:txBody>
      </p:sp>
      <p:sp>
        <p:nvSpPr>
          <p:cNvPr id="17" name="Text 15"/>
          <p:cNvSpPr/>
          <p:nvPr/>
        </p:nvSpPr>
        <p:spPr>
          <a:xfrm>
            <a:off x="548640" y="3410712"/>
            <a:ext cx="5760720" cy="457200"/>
          </a:xfrm>
          <a:prstGeom prst="rect">
            <a:avLst/>
          </a:prstGeom>
          <a:noFill/>
          <a:ln/>
        </p:spPr>
        <p:txBody>
          <a:bodyPr wrap="square" rtlCol="0" anchor="ctr"/>
          <a:lstStyle/>
          <a:p>
            <a:pPr rtl="1" algn="r" indent="0" marL="0">
              <a:buNone/>
            </a:pPr>
            <a:r>
              <a:rPr lang="en-US" sz="1100" dirty="0">
                <a:solidFill>
                  <a:srgbClr val="5B6572"/>
                </a:solidFill>
                <a:latin typeface="Arial" pitchFamily="34" charset="0"/>
                <a:ea typeface="Arial" pitchFamily="34" charset="-122"/>
                <a:cs typeface="Arial" pitchFamily="34" charset="-120"/>
              </a:rPr>
              <a:t>בהתאם למה שה-revert בפועל נוגע בו</a:t>
            </a:r>
            <a:endParaRPr lang="en-US" sz="1100" dirty="0"/>
          </a:p>
        </p:txBody>
      </p:sp>
      <p:sp>
        <p:nvSpPr>
          <p:cNvPr id="18" name="Shape 16"/>
          <p:cNvSpPr/>
          <p:nvPr/>
        </p:nvSpPr>
        <p:spPr>
          <a:xfrm>
            <a:off x="11204143" y="4069080"/>
            <a:ext cx="438912" cy="438912"/>
          </a:xfrm>
          <a:prstGeom prst="ellipse">
            <a:avLst/>
          </a:prstGeom>
          <a:solidFill>
            <a:srgbClr val="00A896"/>
          </a:solidFill>
          <a:ln/>
        </p:spPr>
      </p:sp>
      <p:sp>
        <p:nvSpPr>
          <p:cNvPr id="19" name="Text 17"/>
          <p:cNvSpPr/>
          <p:nvPr/>
        </p:nvSpPr>
        <p:spPr>
          <a:xfrm>
            <a:off x="11204143" y="4069080"/>
            <a:ext cx="438912" cy="43891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0" name="Text 18"/>
          <p:cNvSpPr/>
          <p:nvPr/>
        </p:nvSpPr>
        <p:spPr>
          <a:xfrm>
            <a:off x="5882335" y="4050792"/>
            <a:ext cx="5257800" cy="457200"/>
          </a:xfrm>
          <a:prstGeom prst="rect">
            <a:avLst/>
          </a:prstGeom>
          <a:noFill/>
          <a:ln/>
        </p:spPr>
        <p:txBody>
          <a:bodyPr wrap="square" rtlCol="0" anchor="ctr"/>
          <a:lstStyle/>
          <a:p>
            <a:pPr rtl="1" algn="r" indent="0" marL="0">
              <a:buNone/>
            </a:pPr>
            <a:r>
              <a:rPr lang="en-US" sz="1300" b="1" dirty="0">
                <a:solidFill>
                  <a:srgbClr val="1B1F2A"/>
                </a:solidFill>
                <a:latin typeface="Arial" pitchFamily="34" charset="0"/>
                <a:ea typeface="Arial" pitchFamily="34" charset="-122"/>
                <a:cs typeface="Arial" pitchFamily="34" charset="-120"/>
              </a:rPr>
              <a:t>רץ build טרי</a:t>
            </a:r>
            <a:endParaRPr lang="en-US" sz="1300" dirty="0"/>
          </a:p>
        </p:txBody>
      </p:sp>
      <p:sp>
        <p:nvSpPr>
          <p:cNvPr id="21" name="Text 19"/>
          <p:cNvSpPr/>
          <p:nvPr/>
        </p:nvSpPr>
        <p:spPr>
          <a:xfrm>
            <a:off x="548640" y="4050792"/>
            <a:ext cx="5760720" cy="457200"/>
          </a:xfrm>
          <a:prstGeom prst="rect">
            <a:avLst/>
          </a:prstGeom>
          <a:noFill/>
          <a:ln/>
        </p:spPr>
        <p:txBody>
          <a:bodyPr wrap="square" rtlCol="0" anchor="ctr"/>
          <a:lstStyle/>
          <a:p>
            <a:pPr rtl="1" algn="r" indent="0" marL="0">
              <a:buNone/>
            </a:pPr>
            <a:r>
              <a:rPr lang="en-US" sz="1100" dirty="0">
                <a:solidFill>
                  <a:srgbClr val="5B6572"/>
                </a:solidFill>
                <a:latin typeface="Arial" pitchFamily="34" charset="0"/>
                <a:ea typeface="Arial" pitchFamily="34" charset="-122"/>
                <a:cs typeface="Arial" pitchFamily="34" charset="-120"/>
              </a:rPr>
              <a:t>שמייצרת image חדש עם tag שהוא ה-SHA של קומיט ה-revert</a:t>
            </a:r>
            <a:endParaRPr lang="en-US" sz="1100" dirty="0"/>
          </a:p>
        </p:txBody>
      </p:sp>
      <p:sp>
        <p:nvSpPr>
          <p:cNvPr id="22" name="Shape 20"/>
          <p:cNvSpPr/>
          <p:nvPr/>
        </p:nvSpPr>
        <p:spPr>
          <a:xfrm>
            <a:off x="11204143" y="4709160"/>
            <a:ext cx="438912" cy="438912"/>
          </a:xfrm>
          <a:prstGeom prst="ellipse">
            <a:avLst/>
          </a:prstGeom>
          <a:solidFill>
            <a:srgbClr val="00A896"/>
          </a:solidFill>
          <a:ln/>
        </p:spPr>
      </p:sp>
      <p:sp>
        <p:nvSpPr>
          <p:cNvPr id="23" name="Text 21"/>
          <p:cNvSpPr/>
          <p:nvPr/>
        </p:nvSpPr>
        <p:spPr>
          <a:xfrm>
            <a:off x="11204143" y="4709160"/>
            <a:ext cx="438912" cy="43891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4" name="Text 22"/>
          <p:cNvSpPr/>
          <p:nvPr/>
        </p:nvSpPr>
        <p:spPr>
          <a:xfrm>
            <a:off x="5882335" y="4690872"/>
            <a:ext cx="5257800" cy="457200"/>
          </a:xfrm>
          <a:prstGeom prst="rect">
            <a:avLst/>
          </a:prstGeom>
          <a:noFill/>
          <a:ln/>
        </p:spPr>
        <p:txBody>
          <a:bodyPr wrap="square" rtlCol="0" anchor="ctr"/>
          <a:lstStyle/>
          <a:p>
            <a:pPr rtl="1" algn="r" indent="0" marL="0">
              <a:buNone/>
            </a:pPr>
            <a:r>
              <a:rPr lang="en-US" sz="1300" b="1" dirty="0">
                <a:solidFill>
                  <a:srgbClr val="1B1F2A"/>
                </a:solidFill>
                <a:latin typeface="Arial" pitchFamily="34" charset="0"/>
                <a:ea typeface="Arial" pitchFamily="34" charset="-122"/>
                <a:cs typeface="Arial" pitchFamily="34" charset="-120"/>
              </a:rPr>
              <a:t>ה-tag מחובר (committed) לפרויקט ה-Helm</a:t>
            </a:r>
            <a:endParaRPr lang="en-US" sz="1300" dirty="0"/>
          </a:p>
        </p:txBody>
      </p:sp>
      <p:sp>
        <p:nvSpPr>
          <p:cNvPr id="25" name="Text 23"/>
          <p:cNvSpPr/>
          <p:nvPr/>
        </p:nvSpPr>
        <p:spPr>
          <a:xfrm>
            <a:off x="548640" y="4690872"/>
            <a:ext cx="5760720" cy="457200"/>
          </a:xfrm>
          <a:prstGeom prst="rect">
            <a:avLst/>
          </a:prstGeom>
          <a:noFill/>
          <a:ln/>
        </p:spPr>
        <p:txBody>
          <a:bodyPr wrap="square" rtlCol="0" anchor="ctr"/>
          <a:lstStyle/>
          <a:p>
            <a:pPr rtl="1" algn="r" indent="0" marL="0">
              <a:buNone/>
            </a:pPr>
            <a:r>
              <a:rPr lang="en-US" sz="1100" dirty="0">
                <a:solidFill>
                  <a:srgbClr val="5B6572"/>
                </a:solidFill>
                <a:latin typeface="Arial" pitchFamily="34" charset="0"/>
                <a:ea typeface="Arial" pitchFamily="34" charset="-122"/>
                <a:cs typeface="Arial" pitchFamily="34" charset="-120"/>
              </a:rPr>
              <a:t>אותו מנגנון branches/&lt;branch&gt;/ כרגיל</a:t>
            </a:r>
            <a:endParaRPr lang="en-US" sz="1100" dirty="0"/>
          </a:p>
        </p:txBody>
      </p:sp>
      <p:sp>
        <p:nvSpPr>
          <p:cNvPr id="26" name="Shape 24"/>
          <p:cNvSpPr/>
          <p:nvPr/>
        </p:nvSpPr>
        <p:spPr>
          <a:xfrm>
            <a:off x="11204143" y="5349240"/>
            <a:ext cx="438912" cy="438912"/>
          </a:xfrm>
          <a:prstGeom prst="ellipse">
            <a:avLst/>
          </a:prstGeom>
          <a:solidFill>
            <a:srgbClr val="00A896"/>
          </a:solidFill>
          <a:ln/>
        </p:spPr>
      </p:sp>
      <p:sp>
        <p:nvSpPr>
          <p:cNvPr id="27" name="Text 25"/>
          <p:cNvSpPr/>
          <p:nvPr/>
        </p:nvSpPr>
        <p:spPr>
          <a:xfrm>
            <a:off x="11204143" y="5349240"/>
            <a:ext cx="438912" cy="438912"/>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8" name="Text 26"/>
          <p:cNvSpPr/>
          <p:nvPr/>
        </p:nvSpPr>
        <p:spPr>
          <a:xfrm>
            <a:off x="5882335" y="5330952"/>
            <a:ext cx="5257800" cy="457200"/>
          </a:xfrm>
          <a:prstGeom prst="rect">
            <a:avLst/>
          </a:prstGeom>
          <a:noFill/>
          <a:ln/>
        </p:spPr>
        <p:txBody>
          <a:bodyPr wrap="square" rtlCol="0" anchor="ctr"/>
          <a:lstStyle/>
          <a:p>
            <a:pPr rtl="1" algn="r" indent="0" marL="0">
              <a:buNone/>
            </a:pPr>
            <a:r>
              <a:rPr lang="en-US" sz="1300" b="1" dirty="0">
                <a:solidFill>
                  <a:srgbClr val="1B1F2A"/>
                </a:solidFill>
                <a:latin typeface="Arial" pitchFamily="34" charset="0"/>
                <a:ea typeface="Arial" pitchFamily="34" charset="-122"/>
                <a:cs typeface="Arial" pitchFamily="34" charset="-120"/>
              </a:rPr>
              <a:t>הפריסה לפרודקשן ידנית</a:t>
            </a:r>
            <a:endParaRPr lang="en-US" sz="1300" dirty="0"/>
          </a:p>
        </p:txBody>
      </p:sp>
      <p:sp>
        <p:nvSpPr>
          <p:cNvPr id="29" name="Text 27"/>
          <p:cNvSpPr/>
          <p:nvPr/>
        </p:nvSpPr>
        <p:spPr>
          <a:xfrm>
            <a:off x="548640" y="5330952"/>
            <a:ext cx="5760720" cy="457200"/>
          </a:xfrm>
          <a:prstGeom prst="rect">
            <a:avLst/>
          </a:prstGeom>
          <a:noFill/>
          <a:ln/>
        </p:spPr>
        <p:txBody>
          <a:bodyPr wrap="square" rtlCol="0" anchor="ctr"/>
          <a:lstStyle/>
          <a:p>
            <a:pPr rtl="1" algn="r" indent="0" marL="0">
              <a:buNone/>
            </a:pPr>
            <a:r>
              <a:rPr lang="en-US" sz="1100" dirty="0">
                <a:solidFill>
                  <a:srgbClr val="5B6572"/>
                </a:solidFill>
                <a:latin typeface="Arial" pitchFamily="34" charset="0"/>
                <a:ea typeface="Arial" pitchFamily="34" charset="-122"/>
                <a:cs typeface="Arial" pitchFamily="34" charset="-120"/>
              </a:rPr>
              <a:t>בדיוק כמו כל release אחר — בוחרים production ומריצים helm upgrade</a:t>
            </a:r>
            <a:endParaRPr lang="en-US" sz="1100" dirty="0"/>
          </a:p>
        </p:txBody>
      </p:sp>
      <p:sp>
        <p:nvSpPr>
          <p:cNvPr id="30" name="Shape 28"/>
          <p:cNvSpPr/>
          <p:nvPr/>
        </p:nvSpPr>
        <p:spPr>
          <a:xfrm>
            <a:off x="548640" y="6080760"/>
            <a:ext cx="11064240" cy="548640"/>
          </a:xfrm>
          <a:prstGeom prst="roundRect">
            <a:avLst>
              <a:gd name="adj" fmla="val 13333"/>
            </a:avLst>
          </a:prstGeom>
          <a:solidFill>
            <a:srgbClr val="EAF2FA"/>
          </a:solidFill>
          <a:ln/>
          <a:effectLst>
            <a:outerShdw sx="100000" sy="100000" kx="0" ky="0" algn="bl" rotWithShape="0" blurRad="76200" dist="25400" dir="5400000">
              <a:srgbClr val="9AA5AF">
                <a:alpha val="25000"/>
              </a:srgbClr>
            </a:outerShdw>
          </a:effectLst>
        </p:spPr>
      </p:sp>
      <p:sp>
        <p:nvSpPr>
          <p:cNvPr id="31" name="Text 29"/>
          <p:cNvSpPr/>
          <p:nvPr/>
        </p:nvSpPr>
        <p:spPr>
          <a:xfrm>
            <a:off x="822960" y="6080760"/>
            <a:ext cx="10515600" cy="548640"/>
          </a:xfrm>
          <a:prstGeom prst="rect">
            <a:avLst/>
          </a:prstGeom>
          <a:noFill/>
          <a:ln/>
        </p:spPr>
        <p:txBody>
          <a:bodyPr wrap="square" rtlCol="0" anchor="ctr"/>
          <a:lstStyle/>
          <a:p>
            <a:pPr rtl="1" algn="r" indent="0" marL="0">
              <a:buNone/>
            </a:pPr>
            <a:r>
              <a:rPr lang="en-US" sz="1200" i="1" dirty="0">
                <a:solidFill>
                  <a:srgbClr val="3949AB"/>
                </a:solidFill>
                <a:latin typeface="Arial" pitchFamily="34" charset="0"/>
                <a:ea typeface="Arial" pitchFamily="34" charset="-122"/>
                <a:cs typeface="Arial" pitchFamily="34" charset="-120"/>
              </a:rPr>
              <a:t>המסר המרכזי: rollback הוא לא מערכת נפרדת ללמוד — זה אותו pipeline, מופעל על ידי אותו סוג commit.</a:t>
            </a:r>
            <a:endParaRPr lang="en-US" sz="1200" dirty="0"/>
          </a:p>
        </p:txBody>
      </p:sp>
      <p:sp>
        <p:nvSpPr>
          <p:cNvPr id="32" name="Text 30"/>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33" name="Text 31"/>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A"/>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סיכום</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לפני מול אחרי</a:t>
            </a:r>
            <a:endParaRPr lang="en-US" sz="3000" dirty="0"/>
          </a:p>
        </p:txBody>
      </p:sp>
      <p:sp>
        <p:nvSpPr>
          <p:cNvPr id="5" name="Shape 3"/>
          <p:cNvSpPr/>
          <p:nvPr/>
        </p:nvSpPr>
        <p:spPr>
          <a:xfrm>
            <a:off x="5029200" y="1280160"/>
            <a:ext cx="4343400" cy="411480"/>
          </a:xfrm>
          <a:prstGeom prst="roundRect">
            <a:avLst>
              <a:gd name="adj" fmla="val 11111"/>
            </a:avLst>
          </a:prstGeom>
          <a:solidFill>
            <a:srgbClr val="E7EAF0"/>
          </a:solidFill>
          <a:ln/>
        </p:spPr>
      </p:sp>
      <p:sp>
        <p:nvSpPr>
          <p:cNvPr id="6" name="Text 4"/>
          <p:cNvSpPr/>
          <p:nvPr/>
        </p:nvSpPr>
        <p:spPr>
          <a:xfrm>
            <a:off x="5029200" y="1280160"/>
            <a:ext cx="4343400" cy="411480"/>
          </a:xfrm>
          <a:prstGeom prst="rect">
            <a:avLst/>
          </a:prstGeom>
          <a:noFill/>
          <a:ln/>
        </p:spPr>
        <p:txBody>
          <a:bodyPr wrap="square" rtlCol="0" anchor="ctr"/>
          <a:lstStyle/>
          <a:p>
            <a:pPr algn="ctr" indent="0" marL="0">
              <a:buNone/>
            </a:pPr>
            <a:r>
              <a:rPr lang="en-US" sz="1300" b="1" dirty="0">
                <a:solidFill>
                  <a:srgbClr val="5B6572"/>
                </a:solidFill>
                <a:latin typeface="Arial" pitchFamily="34" charset="0"/>
                <a:ea typeface="Arial" pitchFamily="34" charset="-122"/>
                <a:cs typeface="Arial" pitchFamily="34" charset="-120"/>
              </a:rPr>
              <a:t>לפני</a:t>
            </a:r>
            <a:endParaRPr lang="en-US" sz="1300" dirty="0"/>
          </a:p>
        </p:txBody>
      </p:sp>
      <p:sp>
        <p:nvSpPr>
          <p:cNvPr id="7" name="Shape 5"/>
          <p:cNvSpPr/>
          <p:nvPr/>
        </p:nvSpPr>
        <p:spPr>
          <a:xfrm>
            <a:off x="548640" y="1280160"/>
            <a:ext cx="4480560" cy="411480"/>
          </a:xfrm>
          <a:prstGeom prst="roundRect">
            <a:avLst>
              <a:gd name="adj" fmla="val 11111"/>
            </a:avLst>
          </a:prstGeom>
          <a:solidFill>
            <a:srgbClr val="00A896"/>
          </a:solidFill>
          <a:ln/>
        </p:spPr>
      </p:sp>
      <p:sp>
        <p:nvSpPr>
          <p:cNvPr id="8" name="Text 6"/>
          <p:cNvSpPr/>
          <p:nvPr/>
        </p:nvSpPr>
        <p:spPr>
          <a:xfrm>
            <a:off x="548640" y="1280160"/>
            <a:ext cx="4480560" cy="41148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אחרי</a:t>
            </a:r>
            <a:endParaRPr lang="en-US" sz="1300" dirty="0"/>
          </a:p>
        </p:txBody>
      </p:sp>
      <p:sp>
        <p:nvSpPr>
          <p:cNvPr id="9" name="Shape 7"/>
          <p:cNvSpPr/>
          <p:nvPr/>
        </p:nvSpPr>
        <p:spPr>
          <a:xfrm>
            <a:off x="548640" y="1783080"/>
            <a:ext cx="10972800" cy="658368"/>
          </a:xfrm>
          <a:prstGeom prst="rect">
            <a:avLst/>
          </a:prstGeom>
          <a:solidFill>
            <a:srgbClr val="FFFFFF"/>
          </a:solidFill>
          <a:ln/>
        </p:spPr>
      </p:sp>
      <p:sp>
        <p:nvSpPr>
          <p:cNvPr id="10" name="Text 8"/>
          <p:cNvSpPr/>
          <p:nvPr/>
        </p:nvSpPr>
        <p:spPr>
          <a:xfrm>
            <a:off x="9372600" y="1783080"/>
            <a:ext cx="2039112" cy="658368"/>
          </a:xfrm>
          <a:prstGeom prst="rect">
            <a:avLst/>
          </a:prstGeom>
          <a:noFill/>
          <a:ln/>
        </p:spPr>
        <p:txBody>
          <a:bodyPr wrap="square" rtlCol="0" anchor="ctr"/>
          <a:lstStyle/>
          <a:p>
            <a:pPr rtl="1" algn="r" indent="0" marL="0">
              <a:buNone/>
            </a:pPr>
            <a:r>
              <a:rPr lang="en-US" sz="1100" b="1" dirty="0">
                <a:solidFill>
                  <a:srgbClr val="1B1F2A"/>
                </a:solidFill>
                <a:latin typeface="Arial" pitchFamily="34" charset="0"/>
                <a:ea typeface="Arial" pitchFamily="34" charset="-122"/>
                <a:cs typeface="Arial" pitchFamily="34" charset="-120"/>
              </a:rPr>
              <a:t>הגדרות / הפעלה</a:t>
            </a:r>
            <a:endParaRPr lang="en-US" sz="1100" dirty="0"/>
          </a:p>
        </p:txBody>
      </p:sp>
      <p:sp>
        <p:nvSpPr>
          <p:cNvPr id="11" name="Text 9"/>
          <p:cNvSpPr/>
          <p:nvPr/>
        </p:nvSpPr>
        <p:spPr>
          <a:xfrm>
            <a:off x="5120640" y="1783080"/>
            <a:ext cx="4160520" cy="658368"/>
          </a:xfrm>
          <a:prstGeom prst="rect">
            <a:avLst/>
          </a:prstGeom>
          <a:noFill/>
          <a:ln/>
        </p:spPr>
        <p:txBody>
          <a:bodyPr wrap="square" rtlCol="0" anchor="ctr"/>
          <a:lstStyle/>
          <a:p>
            <a:pPr rtl="1" algn="r" indent="0" marL="0">
              <a:buNone/>
            </a:pPr>
            <a:r>
              <a:rPr lang="en-US" sz="950" dirty="0">
                <a:solidFill>
                  <a:srgbClr val="5B6572"/>
                </a:solidFill>
                <a:latin typeface="Arial" pitchFamily="34" charset="0"/>
                <a:ea typeface="Arial" pitchFamily="34" charset="-122"/>
                <a:cs typeface="Arial" pitchFamily="34" charset="-120"/>
              </a:rPr>
              <a:t>משתנים שהוזנו ידנית ב-UI של GitLab</a:t>
            </a:r>
            <a:endParaRPr lang="en-US" sz="950" dirty="0"/>
          </a:p>
        </p:txBody>
      </p:sp>
      <p:sp>
        <p:nvSpPr>
          <p:cNvPr id="12" name="Text 10"/>
          <p:cNvSpPr/>
          <p:nvPr/>
        </p:nvSpPr>
        <p:spPr>
          <a:xfrm>
            <a:off x="640080" y="1783080"/>
            <a:ext cx="4297680" cy="658368"/>
          </a:xfrm>
          <a:prstGeom prst="rect">
            <a:avLst/>
          </a:prstGeom>
          <a:noFill/>
          <a:ln/>
        </p:spPr>
        <p:txBody>
          <a:bodyPr wrap="square" rtlCol="0" anchor="ctr"/>
          <a:lstStyle/>
          <a:p>
            <a:pPr rtl="1" algn="r" indent="0" marL="0">
              <a:buNone/>
            </a:pPr>
            <a:r>
              <a:rPr lang="en-US" sz="950" b="1" dirty="0">
                <a:solidFill>
                  <a:srgbClr val="1B1F3B"/>
                </a:solidFill>
                <a:latin typeface="Arial" pitchFamily="34" charset="0"/>
                <a:ea typeface="Arial" pitchFamily="34" charset="-122"/>
                <a:cs typeface="Arial" pitchFamily="34" charset="-120"/>
              </a:rPr>
              <a:t>includes משותפים של catdevops + nx affected</a:t>
            </a:r>
            <a:endParaRPr lang="en-US" sz="950" dirty="0"/>
          </a:p>
        </p:txBody>
      </p:sp>
      <p:sp>
        <p:nvSpPr>
          <p:cNvPr id="13" name="Text 11"/>
          <p:cNvSpPr/>
          <p:nvPr/>
        </p:nvSpPr>
        <p:spPr>
          <a:xfrm>
            <a:off x="9372600" y="2441448"/>
            <a:ext cx="2039112" cy="658368"/>
          </a:xfrm>
          <a:prstGeom prst="rect">
            <a:avLst/>
          </a:prstGeom>
          <a:noFill/>
          <a:ln/>
        </p:spPr>
        <p:txBody>
          <a:bodyPr wrap="square" rtlCol="0" anchor="ctr"/>
          <a:lstStyle/>
          <a:p>
            <a:pPr rtl="1" algn="r" indent="0" marL="0">
              <a:buNone/>
            </a:pPr>
            <a:r>
              <a:rPr lang="en-US" sz="1100" b="1" dirty="0">
                <a:solidFill>
                  <a:srgbClr val="1B1F2A"/>
                </a:solidFill>
                <a:latin typeface="Arial" pitchFamily="34" charset="0"/>
                <a:ea typeface="Arial" pitchFamily="34" charset="-122"/>
                <a:cs typeface="Arial" pitchFamily="34" charset="-120"/>
              </a:rPr>
              <a:t>היקף ה-build</a:t>
            </a:r>
            <a:endParaRPr lang="en-US" sz="1100" dirty="0"/>
          </a:p>
        </p:txBody>
      </p:sp>
      <p:sp>
        <p:nvSpPr>
          <p:cNvPr id="14" name="Text 12"/>
          <p:cNvSpPr/>
          <p:nvPr/>
        </p:nvSpPr>
        <p:spPr>
          <a:xfrm>
            <a:off x="5120640" y="2441448"/>
            <a:ext cx="4160520" cy="658368"/>
          </a:xfrm>
          <a:prstGeom prst="rect">
            <a:avLst/>
          </a:prstGeom>
          <a:noFill/>
          <a:ln/>
        </p:spPr>
        <p:txBody>
          <a:bodyPr wrap="square" rtlCol="0" anchor="ctr"/>
          <a:lstStyle/>
          <a:p>
            <a:pPr rtl="1" algn="r" indent="0" marL="0">
              <a:buNone/>
            </a:pPr>
            <a:r>
              <a:rPr lang="en-US" sz="950" dirty="0">
                <a:solidFill>
                  <a:srgbClr val="5B6572"/>
                </a:solidFill>
                <a:latin typeface="Arial" pitchFamily="34" charset="0"/>
                <a:ea typeface="Arial" pitchFamily="34" charset="-122"/>
                <a:cs typeface="Arial" pitchFamily="34" charset="-120"/>
              </a:rPr>
              <a:t>כל push בונה מחדש הכול</a:t>
            </a:r>
            <a:endParaRPr lang="en-US" sz="950" dirty="0"/>
          </a:p>
        </p:txBody>
      </p:sp>
      <p:sp>
        <p:nvSpPr>
          <p:cNvPr id="15" name="Text 13"/>
          <p:cNvSpPr/>
          <p:nvPr/>
        </p:nvSpPr>
        <p:spPr>
          <a:xfrm>
            <a:off x="640080" y="2441448"/>
            <a:ext cx="4297680" cy="658368"/>
          </a:xfrm>
          <a:prstGeom prst="rect">
            <a:avLst/>
          </a:prstGeom>
          <a:noFill/>
          <a:ln/>
        </p:spPr>
        <p:txBody>
          <a:bodyPr wrap="square" rtlCol="0" anchor="ctr"/>
          <a:lstStyle/>
          <a:p>
            <a:pPr rtl="1" algn="r" indent="0" marL="0">
              <a:buNone/>
            </a:pPr>
            <a:r>
              <a:rPr lang="en-US" sz="950" b="1" dirty="0">
                <a:solidFill>
                  <a:srgbClr val="1B1F3B"/>
                </a:solidFill>
                <a:latin typeface="Arial" pitchFamily="34" charset="0"/>
                <a:ea typeface="Arial" pitchFamily="34" charset="-122"/>
                <a:cs typeface="Arial" pitchFamily="34" charset="-120"/>
              </a:rPr>
              <a:t>רק שירותים מושפעים נבנים</a:t>
            </a:r>
            <a:endParaRPr lang="en-US" sz="950" dirty="0"/>
          </a:p>
        </p:txBody>
      </p:sp>
      <p:sp>
        <p:nvSpPr>
          <p:cNvPr id="16" name="Shape 14"/>
          <p:cNvSpPr/>
          <p:nvPr/>
        </p:nvSpPr>
        <p:spPr>
          <a:xfrm>
            <a:off x="548640" y="3099816"/>
            <a:ext cx="10972800" cy="658368"/>
          </a:xfrm>
          <a:prstGeom prst="rect">
            <a:avLst/>
          </a:prstGeom>
          <a:solidFill>
            <a:srgbClr val="FFFFFF"/>
          </a:solidFill>
          <a:ln/>
        </p:spPr>
      </p:sp>
      <p:sp>
        <p:nvSpPr>
          <p:cNvPr id="17" name="Text 15"/>
          <p:cNvSpPr/>
          <p:nvPr/>
        </p:nvSpPr>
        <p:spPr>
          <a:xfrm>
            <a:off x="9372600" y="3099816"/>
            <a:ext cx="2039112" cy="658368"/>
          </a:xfrm>
          <a:prstGeom prst="rect">
            <a:avLst/>
          </a:prstGeom>
          <a:noFill/>
          <a:ln/>
        </p:spPr>
        <p:txBody>
          <a:bodyPr wrap="square" rtlCol="0" anchor="ctr"/>
          <a:lstStyle/>
          <a:p>
            <a:pPr rtl="1" algn="r" indent="0" marL="0">
              <a:buNone/>
            </a:pPr>
            <a:r>
              <a:rPr lang="en-US" sz="1100" b="1" dirty="0">
                <a:solidFill>
                  <a:srgbClr val="1B1F2A"/>
                </a:solidFill>
                <a:latin typeface="Arial" pitchFamily="34" charset="0"/>
                <a:ea typeface="Arial" pitchFamily="34" charset="-122"/>
                <a:cs typeface="Arial" pitchFamily="34" charset="-120"/>
              </a:rPr>
              <a:t>מנגנון האספקה</a:t>
            </a:r>
            <a:endParaRPr lang="en-US" sz="1100" dirty="0"/>
          </a:p>
        </p:txBody>
      </p:sp>
      <p:sp>
        <p:nvSpPr>
          <p:cNvPr id="18" name="Text 16"/>
          <p:cNvSpPr/>
          <p:nvPr/>
        </p:nvSpPr>
        <p:spPr>
          <a:xfrm>
            <a:off x="5120640" y="3099816"/>
            <a:ext cx="4160520" cy="658368"/>
          </a:xfrm>
          <a:prstGeom prst="rect">
            <a:avLst/>
          </a:prstGeom>
          <a:noFill/>
          <a:ln/>
        </p:spPr>
        <p:txBody>
          <a:bodyPr wrap="square" rtlCol="0" anchor="ctr"/>
          <a:lstStyle/>
          <a:p>
            <a:pPr rtl="1" algn="r" indent="0" marL="0">
              <a:buNone/>
            </a:pPr>
            <a:r>
              <a:rPr lang="en-US" sz="950" dirty="0">
                <a:solidFill>
                  <a:srgbClr val="5B6572"/>
                </a:solidFill>
                <a:latin typeface="Arial" pitchFamily="34" charset="0"/>
                <a:ea typeface="Arial" pitchFamily="34" charset="-122"/>
                <a:cs typeface="Arial" pitchFamily="34" charset="-120"/>
              </a:rPr>
              <a:t>3 פרויקטי CD נפרדים שפועלים ישירות על OpenShift</a:t>
            </a:r>
            <a:endParaRPr lang="en-US" sz="950" dirty="0"/>
          </a:p>
        </p:txBody>
      </p:sp>
      <p:sp>
        <p:nvSpPr>
          <p:cNvPr id="19" name="Text 17"/>
          <p:cNvSpPr/>
          <p:nvPr/>
        </p:nvSpPr>
        <p:spPr>
          <a:xfrm>
            <a:off x="640080" y="3099816"/>
            <a:ext cx="4297680" cy="658368"/>
          </a:xfrm>
          <a:prstGeom prst="rect">
            <a:avLst/>
          </a:prstGeom>
          <a:noFill/>
          <a:ln/>
        </p:spPr>
        <p:txBody>
          <a:bodyPr wrap="square" rtlCol="0" anchor="ctr"/>
          <a:lstStyle/>
          <a:p>
            <a:pPr rtl="1" algn="r" indent="0" marL="0">
              <a:buNone/>
            </a:pPr>
            <a:r>
              <a:rPr lang="en-US" sz="950" b="1" dirty="0">
                <a:solidFill>
                  <a:srgbClr val="1B1F3B"/>
                </a:solidFill>
                <a:latin typeface="Arial" pitchFamily="34" charset="0"/>
                <a:ea typeface="Arial" pitchFamily="34" charset="-122"/>
                <a:cs typeface="Arial" pitchFamily="34" charset="-120"/>
              </a:rPr>
              <a:t>פרויקט Helm אחד; OpenShift משקף כל commit (GitOps)</a:t>
            </a:r>
            <a:endParaRPr lang="en-US" sz="950" dirty="0"/>
          </a:p>
        </p:txBody>
      </p:sp>
      <p:sp>
        <p:nvSpPr>
          <p:cNvPr id="20" name="Text 18"/>
          <p:cNvSpPr/>
          <p:nvPr/>
        </p:nvSpPr>
        <p:spPr>
          <a:xfrm>
            <a:off x="9372600" y="3758184"/>
            <a:ext cx="2039112" cy="658368"/>
          </a:xfrm>
          <a:prstGeom prst="rect">
            <a:avLst/>
          </a:prstGeom>
          <a:noFill/>
          <a:ln/>
        </p:spPr>
        <p:txBody>
          <a:bodyPr wrap="square" rtlCol="0" anchor="ctr"/>
          <a:lstStyle/>
          <a:p>
            <a:pPr rtl="1" algn="r" indent="0" marL="0">
              <a:buNone/>
            </a:pPr>
            <a:r>
              <a:rPr lang="en-US" sz="1100" b="1" dirty="0">
                <a:solidFill>
                  <a:srgbClr val="1B1F2A"/>
                </a:solidFill>
                <a:latin typeface="Arial" pitchFamily="34" charset="0"/>
                <a:ea typeface="Arial" pitchFamily="34" charset="-122"/>
                <a:cs typeface="Arial" pitchFamily="34" charset="-120"/>
              </a:rPr>
              <a:t>היקף ה-repos</a:t>
            </a:r>
            <a:endParaRPr lang="en-US" sz="1100" dirty="0"/>
          </a:p>
        </p:txBody>
      </p:sp>
      <p:sp>
        <p:nvSpPr>
          <p:cNvPr id="21" name="Text 19"/>
          <p:cNvSpPr/>
          <p:nvPr/>
        </p:nvSpPr>
        <p:spPr>
          <a:xfrm>
            <a:off x="5120640" y="3758184"/>
            <a:ext cx="4160520" cy="658368"/>
          </a:xfrm>
          <a:prstGeom prst="rect">
            <a:avLst/>
          </a:prstGeom>
          <a:noFill/>
          <a:ln/>
        </p:spPr>
        <p:txBody>
          <a:bodyPr wrap="square" rtlCol="0" anchor="ctr"/>
          <a:lstStyle/>
          <a:p>
            <a:pPr rtl="1" algn="r" indent="0" marL="0">
              <a:buNone/>
            </a:pPr>
            <a:r>
              <a:rPr lang="en-US" sz="950" dirty="0">
                <a:solidFill>
                  <a:srgbClr val="5B6572"/>
                </a:solidFill>
                <a:latin typeface="Arial" pitchFamily="34" charset="0"/>
                <a:ea typeface="Arial" pitchFamily="34" charset="-122"/>
                <a:cs typeface="Arial" pitchFamily="34" charset="-120"/>
              </a:rPr>
              <a:t>רק מונו-repo של Nx</a:t>
            </a:r>
            <a:endParaRPr lang="en-US" sz="950" dirty="0"/>
          </a:p>
        </p:txBody>
      </p:sp>
      <p:sp>
        <p:nvSpPr>
          <p:cNvPr id="22" name="Text 20"/>
          <p:cNvSpPr/>
          <p:nvPr/>
        </p:nvSpPr>
        <p:spPr>
          <a:xfrm>
            <a:off x="640080" y="3758184"/>
            <a:ext cx="4297680" cy="658368"/>
          </a:xfrm>
          <a:prstGeom prst="rect">
            <a:avLst/>
          </a:prstGeom>
          <a:noFill/>
          <a:ln/>
        </p:spPr>
        <p:txBody>
          <a:bodyPr wrap="square" rtlCol="0" anchor="ctr"/>
          <a:lstStyle/>
          <a:p>
            <a:pPr rtl="1" algn="r" indent="0" marL="0">
              <a:buNone/>
            </a:pPr>
            <a:r>
              <a:rPr lang="en-US" sz="950" b="1" dirty="0">
                <a:solidFill>
                  <a:srgbClr val="1B1F3B"/>
                </a:solidFill>
                <a:latin typeface="Arial" pitchFamily="34" charset="0"/>
                <a:ea typeface="Arial" pitchFamily="34" charset="-122"/>
                <a:cs typeface="Arial" pitchFamily="34" charset="-120"/>
              </a:rPr>
              <a:t>גם Nx repo וגם פוליי-repos, אותו מנגנון</a:t>
            </a:r>
            <a:endParaRPr lang="en-US" sz="950" dirty="0"/>
          </a:p>
        </p:txBody>
      </p:sp>
      <p:sp>
        <p:nvSpPr>
          <p:cNvPr id="23" name="Shape 21"/>
          <p:cNvSpPr/>
          <p:nvPr/>
        </p:nvSpPr>
        <p:spPr>
          <a:xfrm>
            <a:off x="548640" y="4416552"/>
            <a:ext cx="10972800" cy="658368"/>
          </a:xfrm>
          <a:prstGeom prst="rect">
            <a:avLst/>
          </a:prstGeom>
          <a:solidFill>
            <a:srgbClr val="FFFFFF"/>
          </a:solidFill>
          <a:ln/>
        </p:spPr>
      </p:sp>
      <p:sp>
        <p:nvSpPr>
          <p:cNvPr id="24" name="Text 22"/>
          <p:cNvSpPr/>
          <p:nvPr/>
        </p:nvSpPr>
        <p:spPr>
          <a:xfrm>
            <a:off x="9372600" y="4416552"/>
            <a:ext cx="2039112" cy="658368"/>
          </a:xfrm>
          <a:prstGeom prst="rect">
            <a:avLst/>
          </a:prstGeom>
          <a:noFill/>
          <a:ln/>
        </p:spPr>
        <p:txBody>
          <a:bodyPr wrap="square" rtlCol="0" anchor="ctr"/>
          <a:lstStyle/>
          <a:p>
            <a:pPr rtl="1" algn="r" indent="0" marL="0">
              <a:buNone/>
            </a:pPr>
            <a:r>
              <a:rPr lang="en-US" sz="1100" b="1" dirty="0">
                <a:solidFill>
                  <a:srgbClr val="1B1F2A"/>
                </a:solidFill>
                <a:latin typeface="Arial" pitchFamily="34" charset="0"/>
                <a:ea typeface="Arial" pitchFamily="34" charset="-122"/>
                <a:cs typeface="Arial" pitchFamily="34" charset="-120"/>
              </a:rPr>
              <a:t>בחירת סביבה</a:t>
            </a:r>
            <a:endParaRPr lang="en-US" sz="1100" dirty="0"/>
          </a:p>
        </p:txBody>
      </p:sp>
      <p:sp>
        <p:nvSpPr>
          <p:cNvPr id="25" name="Text 23"/>
          <p:cNvSpPr/>
          <p:nvPr/>
        </p:nvSpPr>
        <p:spPr>
          <a:xfrm>
            <a:off x="5120640" y="4416552"/>
            <a:ext cx="4160520" cy="658368"/>
          </a:xfrm>
          <a:prstGeom prst="rect">
            <a:avLst/>
          </a:prstGeom>
          <a:noFill/>
          <a:ln/>
        </p:spPr>
        <p:txBody>
          <a:bodyPr wrap="square" rtlCol="0" anchor="ctr"/>
          <a:lstStyle/>
          <a:p>
            <a:pPr rtl="1" algn="r" indent="0" marL="0">
              <a:buNone/>
            </a:pPr>
            <a:r>
              <a:rPr lang="en-US" sz="950" dirty="0">
                <a:solidFill>
                  <a:srgbClr val="5B6572"/>
                </a:solidFill>
                <a:latin typeface="Arial" pitchFamily="34" charset="0"/>
                <a:ea typeface="Arial" pitchFamily="34" charset="-122"/>
                <a:cs typeface="Arial" pitchFamily="34" charset="-120"/>
              </a:rPr>
              <a:t>נקבע לפי איזה פרויקט CD רץ</a:t>
            </a:r>
            <a:endParaRPr lang="en-US" sz="950" dirty="0"/>
          </a:p>
        </p:txBody>
      </p:sp>
      <p:sp>
        <p:nvSpPr>
          <p:cNvPr id="26" name="Text 24"/>
          <p:cNvSpPr/>
          <p:nvPr/>
        </p:nvSpPr>
        <p:spPr>
          <a:xfrm>
            <a:off x="640080" y="4416552"/>
            <a:ext cx="4297680" cy="658368"/>
          </a:xfrm>
          <a:prstGeom prst="rect">
            <a:avLst/>
          </a:prstGeom>
          <a:noFill/>
          <a:ln/>
        </p:spPr>
        <p:txBody>
          <a:bodyPr wrap="square" rtlCol="0" anchor="ctr"/>
          <a:lstStyle/>
          <a:p>
            <a:pPr rtl="1" algn="r" indent="0" marL="0">
              <a:buNone/>
            </a:pPr>
            <a:r>
              <a:rPr lang="en-US" sz="950" b="1" dirty="0">
                <a:solidFill>
                  <a:srgbClr val="1B1F3B"/>
                </a:solidFill>
                <a:latin typeface="Arial" pitchFamily="34" charset="0"/>
                <a:ea typeface="Arial" pitchFamily="34" charset="-122"/>
                <a:cs typeface="Arial" pitchFamily="34" charset="-120"/>
              </a:rPr>
              <a:t>בחירה ידנית של סביבה, אותו pipeline</a:t>
            </a:r>
            <a:endParaRPr lang="en-US" sz="950" dirty="0"/>
          </a:p>
        </p:txBody>
      </p:sp>
      <p:sp>
        <p:nvSpPr>
          <p:cNvPr id="27" name="Text 25"/>
          <p:cNvSpPr/>
          <p:nvPr/>
        </p:nvSpPr>
        <p:spPr>
          <a:xfrm>
            <a:off x="9372600" y="5074920"/>
            <a:ext cx="2039112" cy="658368"/>
          </a:xfrm>
          <a:prstGeom prst="rect">
            <a:avLst/>
          </a:prstGeom>
          <a:noFill/>
          <a:ln/>
        </p:spPr>
        <p:txBody>
          <a:bodyPr wrap="square" rtlCol="0" anchor="ctr"/>
          <a:lstStyle/>
          <a:p>
            <a:pPr rtl="1" algn="r" indent="0" marL="0">
              <a:buNone/>
            </a:pPr>
            <a:r>
              <a:rPr lang="en-US" sz="1100" b="1" dirty="0">
                <a:solidFill>
                  <a:srgbClr val="1B1F2A"/>
                </a:solidFill>
                <a:latin typeface="Arial" pitchFamily="34" charset="0"/>
                <a:ea typeface="Arial" pitchFamily="34" charset="-122"/>
                <a:cs typeface="Arial" pitchFamily="34" charset="-120"/>
              </a:rPr>
              <a:t>Rollback</a:t>
            </a:r>
            <a:endParaRPr lang="en-US" sz="1100" dirty="0"/>
          </a:p>
        </p:txBody>
      </p:sp>
      <p:sp>
        <p:nvSpPr>
          <p:cNvPr id="28" name="Text 26"/>
          <p:cNvSpPr/>
          <p:nvPr/>
        </p:nvSpPr>
        <p:spPr>
          <a:xfrm>
            <a:off x="5120640" y="5074920"/>
            <a:ext cx="4160520" cy="658368"/>
          </a:xfrm>
          <a:prstGeom prst="rect">
            <a:avLst/>
          </a:prstGeom>
          <a:noFill/>
          <a:ln/>
        </p:spPr>
        <p:txBody>
          <a:bodyPr wrap="square" rtlCol="0" anchor="ctr"/>
          <a:lstStyle/>
          <a:p>
            <a:pPr rtl="1" algn="r" indent="0" marL="0">
              <a:buNone/>
            </a:pPr>
            <a:r>
              <a:rPr lang="en-US" sz="950" dirty="0">
                <a:solidFill>
                  <a:srgbClr val="5B6572"/>
                </a:solidFill>
                <a:latin typeface="Arial" pitchFamily="34" charset="0"/>
                <a:ea typeface="Arial" pitchFamily="34" charset="-122"/>
                <a:cs typeface="Arial" pitchFamily="34" charset="-120"/>
              </a:rPr>
              <a:t>revert ידני + הרצה ידנית מחדש של פרויקט ה-CD המתאים</a:t>
            </a:r>
            <a:endParaRPr lang="en-US" sz="950" dirty="0"/>
          </a:p>
        </p:txBody>
      </p:sp>
      <p:sp>
        <p:nvSpPr>
          <p:cNvPr id="29" name="Text 27"/>
          <p:cNvSpPr/>
          <p:nvPr/>
        </p:nvSpPr>
        <p:spPr>
          <a:xfrm>
            <a:off x="640080" y="5074920"/>
            <a:ext cx="4297680" cy="658368"/>
          </a:xfrm>
          <a:prstGeom prst="rect">
            <a:avLst/>
          </a:prstGeom>
          <a:noFill/>
          <a:ln/>
        </p:spPr>
        <p:txBody>
          <a:bodyPr wrap="square" rtlCol="0" anchor="ctr"/>
          <a:lstStyle/>
          <a:p>
            <a:pPr rtl="1" algn="r" indent="0" marL="0">
              <a:buNone/>
            </a:pPr>
            <a:r>
              <a:rPr lang="en-US" sz="950" b="1" dirty="0">
                <a:solidFill>
                  <a:srgbClr val="1B1F3B"/>
                </a:solidFill>
                <a:latin typeface="Arial" pitchFamily="34" charset="0"/>
                <a:ea typeface="Arial" pitchFamily="34" charset="-122"/>
                <a:cs typeface="Arial" pitchFamily="34" charset="-120"/>
              </a:rPr>
              <a:t>revert ב-master ← אותו pipeline אוטומטי ומנגנון ה-commit ל-Helm; פריסה ידנית כמו כל release</a:t>
            </a:r>
            <a:endParaRPr lang="en-US" sz="950" dirty="0"/>
          </a:p>
        </p:txBody>
      </p:sp>
      <p:sp>
        <p:nvSpPr>
          <p:cNvPr id="30" name="Shape 28"/>
          <p:cNvSpPr/>
          <p:nvPr/>
        </p:nvSpPr>
        <p:spPr>
          <a:xfrm>
            <a:off x="548640" y="5733288"/>
            <a:ext cx="10972800" cy="658368"/>
          </a:xfrm>
          <a:prstGeom prst="rect">
            <a:avLst/>
          </a:prstGeom>
          <a:solidFill>
            <a:srgbClr val="FFFFFF"/>
          </a:solidFill>
          <a:ln/>
        </p:spPr>
      </p:sp>
      <p:sp>
        <p:nvSpPr>
          <p:cNvPr id="31" name="Text 29"/>
          <p:cNvSpPr/>
          <p:nvPr/>
        </p:nvSpPr>
        <p:spPr>
          <a:xfrm>
            <a:off x="9372600" y="5733288"/>
            <a:ext cx="2039112" cy="658368"/>
          </a:xfrm>
          <a:prstGeom prst="rect">
            <a:avLst/>
          </a:prstGeom>
          <a:noFill/>
          <a:ln/>
        </p:spPr>
        <p:txBody>
          <a:bodyPr wrap="square" rtlCol="0" anchor="ctr"/>
          <a:lstStyle/>
          <a:p>
            <a:pPr rtl="1" algn="r" indent="0" marL="0">
              <a:buNone/>
            </a:pPr>
            <a:r>
              <a:rPr lang="en-US" sz="1100" b="1" dirty="0">
                <a:solidFill>
                  <a:srgbClr val="1B1F2A"/>
                </a:solidFill>
                <a:latin typeface="Arial" pitchFamily="34" charset="0"/>
                <a:ea typeface="Arial" pitchFamily="34" charset="-122"/>
                <a:cs typeface="Arial" pitchFamily="34" charset="-120"/>
              </a:rPr>
              <a:t>טסטים אוטומטיים</a:t>
            </a:r>
            <a:endParaRPr lang="en-US" sz="1100" dirty="0"/>
          </a:p>
        </p:txBody>
      </p:sp>
      <p:sp>
        <p:nvSpPr>
          <p:cNvPr id="32" name="Text 30"/>
          <p:cNvSpPr/>
          <p:nvPr/>
        </p:nvSpPr>
        <p:spPr>
          <a:xfrm>
            <a:off x="5120640" y="5733288"/>
            <a:ext cx="4160520" cy="658368"/>
          </a:xfrm>
          <a:prstGeom prst="rect">
            <a:avLst/>
          </a:prstGeom>
          <a:noFill/>
          <a:ln/>
        </p:spPr>
        <p:txBody>
          <a:bodyPr wrap="square" rtlCol="0" anchor="ctr"/>
          <a:lstStyle/>
          <a:p>
            <a:pPr rtl="1" algn="r" indent="0" marL="0">
              <a:buNone/>
            </a:pPr>
            <a:r>
              <a:rPr lang="en-US" sz="950" dirty="0">
                <a:solidFill>
                  <a:srgbClr val="5B6572"/>
                </a:solidFill>
                <a:latin typeface="Arial" pitchFamily="34" charset="0"/>
                <a:ea typeface="Arial" pitchFamily="34" charset="-122"/>
                <a:cs typeface="Arial" pitchFamily="34" charset="-120"/>
              </a:rPr>
              <a:t>רץ אחרי פריסת chaos-ci</a:t>
            </a:r>
            <a:endParaRPr lang="en-US" sz="950" dirty="0"/>
          </a:p>
        </p:txBody>
      </p:sp>
      <p:sp>
        <p:nvSpPr>
          <p:cNvPr id="33" name="Text 31"/>
          <p:cNvSpPr/>
          <p:nvPr/>
        </p:nvSpPr>
        <p:spPr>
          <a:xfrm>
            <a:off x="640080" y="5733288"/>
            <a:ext cx="4297680" cy="658368"/>
          </a:xfrm>
          <a:prstGeom prst="rect">
            <a:avLst/>
          </a:prstGeom>
          <a:noFill/>
          <a:ln/>
        </p:spPr>
        <p:txBody>
          <a:bodyPr wrap="square" rtlCol="0" anchor="ctr"/>
          <a:lstStyle/>
          <a:p>
            <a:pPr rtl="1" algn="r" indent="0" marL="0">
              <a:buNone/>
            </a:pPr>
            <a:r>
              <a:rPr lang="en-US" sz="950" b="1" dirty="0">
                <a:solidFill>
                  <a:srgbClr val="1B1F3B"/>
                </a:solidFill>
                <a:latin typeface="Arial" pitchFamily="34" charset="0"/>
                <a:ea typeface="Arial" pitchFamily="34" charset="-122"/>
                <a:cs typeface="Arial" pitchFamily="34" charset="-120"/>
              </a:rPr>
              <a:t>3 קטגוריות ברירת מחדל רצות אוטומטית אחרי פריסת אוטומציה/QA; chaos-ci עדיין זמין להרצות מלאות/מותאמות</a:t>
            </a:r>
            <a:endParaRPr lang="en-US" sz="950" dirty="0"/>
          </a:p>
        </p:txBody>
      </p:sp>
      <p:sp>
        <p:nvSpPr>
          <p:cNvPr id="34" name="Text 32"/>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35" name="Text 33"/>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1F3B"/>
        </a:solidFill>
      </p:bgPr>
    </p:bg>
    <p:spTree>
      <p:nvGrpSpPr>
        <p:cNvPr id="1" name=""/>
        <p:cNvGrpSpPr/>
        <p:nvPr/>
      </p:nvGrpSpPr>
      <p:grpSpPr>
        <a:xfrm>
          <a:off x="0" y="0"/>
          <a:ext cx="0" cy="0"/>
          <a:chOff x="0" y="0"/>
          <a:chExt cx="0" cy="0"/>
        </a:xfrm>
      </p:grpSpPr>
      <p:sp>
        <p:nvSpPr>
          <p:cNvPr id="2" name="Shape 0"/>
          <p:cNvSpPr/>
          <p:nvPr/>
        </p:nvSpPr>
        <p:spPr>
          <a:xfrm>
            <a:off x="-3108960" y="4206240"/>
            <a:ext cx="5486400" cy="5486400"/>
          </a:xfrm>
          <a:prstGeom prst="ellipse">
            <a:avLst/>
          </a:prstGeom>
          <a:solidFill>
            <a:srgbClr val="3949AB">
              <a:alpha val="42000"/>
            </a:srgbClr>
          </a:solidFill>
          <a:ln/>
        </p:spPr>
      </p:sp>
      <p:sp>
        <p:nvSpPr>
          <p:cNvPr id="3" name="Shape 1"/>
          <p:cNvSpPr/>
          <p:nvPr/>
        </p:nvSpPr>
        <p:spPr>
          <a:xfrm>
            <a:off x="11265408" y="219456"/>
            <a:ext cx="118872" cy="118872"/>
          </a:xfrm>
          <a:prstGeom prst="ellipse">
            <a:avLst/>
          </a:prstGeom>
          <a:solidFill>
            <a:srgbClr val="FFB100"/>
          </a:solidFill>
          <a:ln/>
        </p:spPr>
      </p:sp>
      <p:sp>
        <p:nvSpPr>
          <p:cNvPr id="4" name="Text 2"/>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6FE7DD"/>
                </a:solidFill>
                <a:latin typeface="Arial" pitchFamily="34" charset="0"/>
                <a:ea typeface="Arial" pitchFamily="34" charset="-122"/>
                <a:cs typeface="Arial" pitchFamily="34" charset="-120"/>
              </a:rPr>
              <a:t>מפת דרכים</a:t>
            </a:r>
            <a:endParaRPr lang="en-US" sz="1200" dirty="0"/>
          </a:p>
        </p:txBody>
      </p:sp>
      <p:sp>
        <p:nvSpPr>
          <p:cNvPr id="5" name="Text 3"/>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FFFFFF"/>
                </a:solidFill>
                <a:latin typeface="Arial" pitchFamily="34" charset="0"/>
                <a:ea typeface="Arial" pitchFamily="34" charset="-122"/>
                <a:cs typeface="Arial" pitchFamily="34" charset="-120"/>
              </a:rPr>
              <a:t>מבט קדימה</a:t>
            </a:r>
            <a:endParaRPr lang="en-US" sz="3000" dirty="0"/>
          </a:p>
        </p:txBody>
      </p:sp>
      <p:sp>
        <p:nvSpPr>
          <p:cNvPr id="6" name="Shape 4"/>
          <p:cNvSpPr/>
          <p:nvPr/>
        </p:nvSpPr>
        <p:spPr>
          <a:xfrm>
            <a:off x="548640" y="1737360"/>
            <a:ext cx="11064240" cy="1417320"/>
          </a:xfrm>
          <a:prstGeom prst="roundRect">
            <a:avLst>
              <a:gd name="adj" fmla="val 5161"/>
            </a:avLst>
          </a:prstGeom>
          <a:solidFill>
            <a:srgbClr val="2C3766"/>
          </a:solidFill>
          <a:ln/>
          <a:effectLst>
            <a:outerShdw sx="100000" sy="100000" kx="0" ky="0" algn="bl" rotWithShape="0" blurRad="76200" dist="25400" dir="5400000">
              <a:srgbClr val="9AA5AF">
                <a:alpha val="25000"/>
              </a:srgbClr>
            </a:outerShdw>
          </a:effectLst>
        </p:spPr>
      </p:sp>
      <p:sp>
        <p:nvSpPr>
          <p:cNvPr id="7" name="Shape 5"/>
          <p:cNvSpPr/>
          <p:nvPr/>
        </p:nvSpPr>
        <p:spPr>
          <a:xfrm>
            <a:off x="10652760" y="1993392"/>
            <a:ext cx="502920" cy="502920"/>
          </a:xfrm>
          <a:prstGeom prst="roundRect">
            <a:avLst>
              <a:gd name="adj" fmla="val 18182"/>
            </a:avLst>
          </a:prstGeom>
          <a:solidFill>
            <a:srgbClr val="00A896"/>
          </a:solidFill>
          <a:ln/>
        </p:spPr>
      </p:sp>
      <p:sp>
        <p:nvSpPr>
          <p:cNvPr id="8" name="Text 6"/>
          <p:cNvSpPr/>
          <p:nvPr/>
        </p:nvSpPr>
        <p:spPr>
          <a:xfrm>
            <a:off x="10652760" y="1993392"/>
            <a:ext cx="502920" cy="5029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822960" y="1920240"/>
            <a:ext cx="9646920" cy="45720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ArgoCD</a:t>
            </a:r>
            <a:endParaRPr lang="en-US" sz="1700" dirty="0"/>
          </a:p>
        </p:txBody>
      </p:sp>
      <p:sp>
        <p:nvSpPr>
          <p:cNvPr id="10" name="Text 8"/>
          <p:cNvSpPr/>
          <p:nvPr/>
        </p:nvSpPr>
        <p:spPr>
          <a:xfrm>
            <a:off x="822960" y="2395728"/>
            <a:ext cx="9646920" cy="685800"/>
          </a:xfrm>
          <a:prstGeom prst="rect">
            <a:avLst/>
          </a:prstGeom>
          <a:noFill/>
          <a:ln/>
        </p:spPr>
        <p:txBody>
          <a:bodyPr wrap="square" rtlCol="0" anchor="ctr"/>
          <a:lstStyle/>
          <a:p>
            <a:pPr rtl="1" algn="r" indent="0" marL="0">
              <a:lnSpc>
                <a:spcPct val="125000"/>
              </a:lnSpc>
              <a:buNone/>
            </a:pPr>
            <a:r>
              <a:rPr lang="en-US" sz="1200" dirty="0">
                <a:solidFill>
                  <a:srgbClr val="CADCFC"/>
                </a:solidFill>
                <a:latin typeface="Arial" pitchFamily="34" charset="0"/>
                <a:ea typeface="Arial" pitchFamily="34" charset="-122"/>
                <a:cs typeface="Arial" pitchFamily="34" charset="-120"/>
              </a:rPr>
              <a:t>מעבר מאספקה מבוססת push לגישת GitOps אמיתית מבוססת pull: operator לסנכרון (reconciliation) שעוקב ברציפות אחרי פרויקט ה-Helm ומתקן סטיות אוטומטית — גם כאלה שנוצרו משינוי חיצוני ל-pipeline.</a:t>
            </a:r>
            <a:endParaRPr lang="en-US" sz="1200" dirty="0"/>
          </a:p>
        </p:txBody>
      </p:sp>
      <p:sp>
        <p:nvSpPr>
          <p:cNvPr id="11" name="Shape 9"/>
          <p:cNvSpPr/>
          <p:nvPr/>
        </p:nvSpPr>
        <p:spPr>
          <a:xfrm>
            <a:off x="548640" y="3337560"/>
            <a:ext cx="11064240" cy="1417320"/>
          </a:xfrm>
          <a:prstGeom prst="roundRect">
            <a:avLst>
              <a:gd name="adj" fmla="val 5161"/>
            </a:avLst>
          </a:prstGeom>
          <a:solidFill>
            <a:srgbClr val="2C3766"/>
          </a:solidFill>
          <a:ln/>
          <a:effectLst>
            <a:outerShdw sx="100000" sy="100000" kx="0" ky="0" algn="bl" rotWithShape="0" blurRad="76200" dist="25400" dir="5400000">
              <a:srgbClr val="9AA5AF">
                <a:alpha val="25000"/>
              </a:srgbClr>
            </a:outerShdw>
          </a:effectLst>
        </p:spPr>
      </p:sp>
      <p:sp>
        <p:nvSpPr>
          <p:cNvPr id="12" name="Shape 10"/>
          <p:cNvSpPr/>
          <p:nvPr/>
        </p:nvSpPr>
        <p:spPr>
          <a:xfrm>
            <a:off x="10652760" y="3593592"/>
            <a:ext cx="502920" cy="502920"/>
          </a:xfrm>
          <a:prstGeom prst="roundRect">
            <a:avLst>
              <a:gd name="adj" fmla="val 18182"/>
            </a:avLst>
          </a:prstGeom>
          <a:solidFill>
            <a:srgbClr val="6FE7DD"/>
          </a:solidFill>
          <a:ln/>
        </p:spPr>
      </p:sp>
      <p:sp>
        <p:nvSpPr>
          <p:cNvPr id="13" name="Text 11"/>
          <p:cNvSpPr/>
          <p:nvPr/>
        </p:nvSpPr>
        <p:spPr>
          <a:xfrm>
            <a:off x="10652760" y="3593592"/>
            <a:ext cx="502920" cy="502920"/>
          </a:xfrm>
          <a:prstGeom prst="rect">
            <a:avLst/>
          </a:prstGeom>
          <a:noFill/>
          <a:ln/>
        </p:spPr>
        <p:txBody>
          <a:bodyPr wrap="square" rtlCol="0" anchor="ctr"/>
          <a:lstStyle/>
          <a:p>
            <a:pPr algn="ctr" indent="0" marL="0">
              <a:buNone/>
            </a:pPr>
            <a:r>
              <a:rPr lang="en-US" sz="1800" b="1" dirty="0">
                <a:solidFill>
                  <a:srgbClr val="1B1F3B"/>
                </a:solidFill>
                <a:latin typeface="Arial" pitchFamily="34" charset="0"/>
                <a:ea typeface="Arial" pitchFamily="34" charset="-122"/>
                <a:cs typeface="Arial" pitchFamily="34" charset="-120"/>
              </a:rPr>
              <a:t>2</a:t>
            </a:r>
            <a:endParaRPr lang="en-US" sz="1800" dirty="0"/>
          </a:p>
        </p:txBody>
      </p:sp>
      <p:sp>
        <p:nvSpPr>
          <p:cNvPr id="14" name="Text 12"/>
          <p:cNvSpPr/>
          <p:nvPr/>
        </p:nvSpPr>
        <p:spPr>
          <a:xfrm>
            <a:off x="822960" y="3520440"/>
            <a:ext cx="9646920" cy="45720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סביבות דינמיות</a:t>
            </a:r>
            <a:endParaRPr lang="en-US" sz="1700" dirty="0"/>
          </a:p>
        </p:txBody>
      </p:sp>
      <p:sp>
        <p:nvSpPr>
          <p:cNvPr id="15" name="Text 13"/>
          <p:cNvSpPr/>
          <p:nvPr/>
        </p:nvSpPr>
        <p:spPr>
          <a:xfrm>
            <a:off x="822960" y="3995928"/>
            <a:ext cx="9646920" cy="685800"/>
          </a:xfrm>
          <a:prstGeom prst="rect">
            <a:avLst/>
          </a:prstGeom>
          <a:noFill/>
          <a:ln/>
        </p:spPr>
        <p:txBody>
          <a:bodyPr wrap="square" rtlCol="0" anchor="ctr"/>
          <a:lstStyle/>
          <a:p>
            <a:pPr rtl="1" algn="r" indent="0" marL="0">
              <a:lnSpc>
                <a:spcPct val="125000"/>
              </a:lnSpc>
              <a:buNone/>
            </a:pPr>
            <a:r>
              <a:rPr lang="en-US" sz="1200" dirty="0">
                <a:solidFill>
                  <a:srgbClr val="CADCFC"/>
                </a:solidFill>
                <a:latin typeface="Arial" pitchFamily="34" charset="0"/>
                <a:ea typeface="Arial" pitchFamily="34" charset="-122"/>
                <a:cs typeface="Arial" pitchFamily="34" charset="-120"/>
              </a:rPr>
              <a:t>הקמת סביבות אוטומציה וטסט על פי דרישה, לכל branch או MR — במקום לשתף קבוצה קבועה של סביבות. פחות תחרות על משאבים, בידוד טסטים נקי יותר.</a:t>
            </a:r>
            <a:endParaRPr lang="en-US" sz="1200" dirty="0"/>
          </a:p>
        </p:txBody>
      </p:sp>
      <p:sp>
        <p:nvSpPr>
          <p:cNvPr id="16" name="Text 14"/>
          <p:cNvSpPr/>
          <p:nvPr/>
        </p:nvSpPr>
        <p:spPr>
          <a:xfrm>
            <a:off x="548640" y="5074920"/>
            <a:ext cx="11064240" cy="457200"/>
          </a:xfrm>
          <a:prstGeom prst="rect">
            <a:avLst/>
          </a:prstGeom>
          <a:noFill/>
          <a:ln/>
        </p:spPr>
        <p:txBody>
          <a:bodyPr wrap="square" rtlCol="0" anchor="ctr"/>
          <a:lstStyle/>
          <a:p>
            <a:pPr rtl="1" algn="r" indent="0" marL="0">
              <a:buNone/>
            </a:pPr>
            <a:r>
              <a:rPr lang="en-US" sz="1250" i="1" dirty="0">
                <a:solidFill>
                  <a:srgbClr val="9FB3D9"/>
                </a:solidFill>
                <a:latin typeface="Arial" pitchFamily="34" charset="0"/>
                <a:ea typeface="Arial" pitchFamily="34" charset="-122"/>
                <a:cs typeface="Arial" pitchFamily="34" charset="-120"/>
              </a:rPr>
              <a:t>עוד ערך GitOps בהמשך הדרך — תוספות ושיפורים למפת הדרכים הזו יתקבלו בברכה.</a:t>
            </a:r>
            <a:endParaRPr lang="en-US" sz="1250" dirty="0"/>
          </a:p>
        </p:txBody>
      </p:sp>
      <p:sp>
        <p:nvSpPr>
          <p:cNvPr id="17" name="Text 15"/>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8" name="Text 16"/>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משאבים</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ספריית catdevops</a:t>
            </a:r>
            <a:endParaRPr lang="en-US" sz="3000" dirty="0"/>
          </a:p>
        </p:txBody>
      </p:sp>
      <p:sp>
        <p:nvSpPr>
          <p:cNvPr id="5" name="Shape 3"/>
          <p:cNvSpPr/>
          <p:nvPr/>
        </p:nvSpPr>
        <p:spPr>
          <a:xfrm>
            <a:off x="548640" y="1737360"/>
            <a:ext cx="11064240" cy="4206240"/>
          </a:xfrm>
          <a:prstGeom prst="roundRect">
            <a:avLst>
              <a:gd name="adj" fmla="val 1739"/>
            </a:avLst>
          </a:prstGeom>
          <a:solidFill>
            <a:srgbClr val="FFFFFF"/>
          </a:solidFill>
          <a:ln w="12700">
            <a:solidFill>
              <a:srgbClr val="DEE1EC"/>
            </a:solidFill>
            <a:prstDash val="solid"/>
          </a:ln>
          <a:effectLst>
            <a:outerShdw sx="100000" sy="100000" kx="0" ky="0" algn="bl" rotWithShape="0" blurRad="76200" dist="25400" dir="5400000">
              <a:srgbClr val="9AA5AF">
                <a:alpha val="25000"/>
              </a:srgbClr>
            </a:outerShdw>
          </a:effectLst>
        </p:spPr>
      </p:sp>
      <p:sp>
        <p:nvSpPr>
          <p:cNvPr id="6" name="Shape 4"/>
          <p:cNvSpPr/>
          <p:nvPr/>
        </p:nvSpPr>
        <p:spPr>
          <a:xfrm>
            <a:off x="10771632" y="2011680"/>
            <a:ext cx="548640" cy="548640"/>
          </a:xfrm>
          <a:prstGeom prst="roundRect">
            <a:avLst>
              <a:gd name="adj" fmla="val 16667"/>
            </a:avLst>
          </a:prstGeom>
          <a:solidFill>
            <a:srgbClr val="3949AB"/>
          </a:solidFill>
          <a:ln/>
        </p:spPr>
      </p:sp>
      <p:sp>
        <p:nvSpPr>
          <p:cNvPr id="7" name="Text 5"/>
          <p:cNvSpPr/>
          <p:nvPr/>
        </p:nvSpPr>
        <p:spPr>
          <a:xfrm>
            <a:off x="10771632" y="2011680"/>
            <a:ext cx="548640" cy="54864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 }</a:t>
            </a:r>
            <a:endParaRPr lang="en-US" sz="2000" dirty="0"/>
          </a:p>
        </p:txBody>
      </p:sp>
      <p:sp>
        <p:nvSpPr>
          <p:cNvPr id="8" name="Text 6"/>
          <p:cNvSpPr/>
          <p:nvPr/>
        </p:nvSpPr>
        <p:spPr>
          <a:xfrm>
            <a:off x="5989320" y="2029968"/>
            <a:ext cx="4572000" cy="512064"/>
          </a:xfrm>
          <a:prstGeom prst="rect">
            <a:avLst/>
          </a:prstGeom>
          <a:noFill/>
          <a:ln/>
        </p:spPr>
        <p:txBody>
          <a:bodyPr wrap="square" rtlCol="0" anchor="ctr"/>
          <a:lstStyle/>
          <a:p>
            <a:pPr rtl="1" algn="r" indent="0" marL="0">
              <a:buNone/>
            </a:pPr>
            <a:r>
              <a:rPr lang="en-US" sz="2000" b="1" dirty="0">
                <a:solidFill>
                  <a:srgbClr val="1B1F2A"/>
                </a:solidFill>
                <a:latin typeface="Arial" pitchFamily="34" charset="0"/>
                <a:ea typeface="Arial" pitchFamily="34" charset="-122"/>
                <a:cs typeface="Arial" pitchFamily="34" charset="-120"/>
              </a:rPr>
              <a:t>catdevops</a:t>
            </a:r>
            <a:endParaRPr lang="en-US" sz="2000" dirty="0"/>
          </a:p>
        </p:txBody>
      </p:sp>
      <p:sp>
        <p:nvSpPr>
          <p:cNvPr id="9" name="Text 7"/>
          <p:cNvSpPr/>
          <p:nvPr/>
        </p:nvSpPr>
        <p:spPr>
          <a:xfrm>
            <a:off x="868680" y="2834640"/>
            <a:ext cx="10424160" cy="777240"/>
          </a:xfrm>
          <a:prstGeom prst="rect">
            <a:avLst/>
          </a:prstGeom>
          <a:noFill/>
          <a:ln/>
        </p:spPr>
        <p:txBody>
          <a:bodyPr wrap="square" rtlCol="0" anchor="ctr"/>
          <a:lstStyle/>
          <a:p>
            <a:pPr rtl="1" algn="r" indent="0" marL="0">
              <a:lnSpc>
                <a:spcPct val="125000"/>
              </a:lnSpc>
              <a:buNone/>
            </a:pPr>
            <a:r>
              <a:rPr lang="en-US" sz="1300" dirty="0">
                <a:solidFill>
                  <a:srgbClr val="5B6572"/>
                </a:solidFill>
                <a:latin typeface="Arial" pitchFamily="34" charset="0"/>
                <a:ea typeface="Arial" pitchFamily="34" charset="-122"/>
                <a:cs typeface="Arial" pitchFamily="34" charset="-120"/>
              </a:rPr>
              <a:t>ספריית CI/CD משותפת בבעלות צוות ה-DevOps שלנו — נכללת (include) בראש כל .gitlab-ci.yml, גם ב-Nx repo וגם בכל פוליי-repo, כדי לשמור על לוגיקת ה-pipeline במקום אחד.</a:t>
            </a:r>
            <a:endParaRPr lang="en-US" sz="1300" dirty="0"/>
          </a:p>
        </p:txBody>
      </p:sp>
      <p:sp>
        <p:nvSpPr>
          <p:cNvPr id="10" name="Shape 8"/>
          <p:cNvSpPr/>
          <p:nvPr/>
        </p:nvSpPr>
        <p:spPr>
          <a:xfrm>
            <a:off x="868680" y="3794760"/>
            <a:ext cx="10424160" cy="1554480"/>
          </a:xfrm>
          <a:prstGeom prst="roundRect">
            <a:avLst>
              <a:gd name="adj" fmla="val 4706"/>
            </a:avLst>
          </a:prstGeom>
          <a:solidFill>
            <a:srgbClr val="F5F6FA"/>
          </a:solidFill>
          <a:ln w="15240">
            <a:solidFill>
              <a:srgbClr val="DEE1EC"/>
            </a:solidFill>
            <a:prstDash val="solid"/>
          </a:ln>
        </p:spPr>
      </p:sp>
      <p:sp>
        <p:nvSpPr>
          <p:cNvPr id="11" name="Text 9"/>
          <p:cNvSpPr/>
          <p:nvPr/>
        </p:nvSpPr>
        <p:spPr>
          <a:xfrm>
            <a:off x="1143000" y="3977640"/>
            <a:ext cx="4572000" cy="365760"/>
          </a:xfrm>
          <a:prstGeom prst="rect">
            <a:avLst/>
          </a:prstGeom>
          <a:noFill/>
          <a:ln/>
        </p:spPr>
        <p:txBody>
          <a:bodyPr wrap="square" rtlCol="0" anchor="ctr"/>
          <a:lstStyle/>
          <a:p>
            <a:pPr rtl="1" algn="r" indent="0" marL="0">
              <a:buNone/>
            </a:pPr>
            <a:r>
              <a:rPr lang="en-US" sz="1400" b="1" dirty="0">
                <a:solidFill>
                  <a:srgbClr val="3949AB"/>
                </a:solidFill>
                <a:latin typeface="Arial" pitchFamily="34" charset="0"/>
                <a:ea typeface="Arial" pitchFamily="34" charset="-122"/>
                <a:cs typeface="Arial" pitchFamily="34" charset="-120"/>
              </a:rPr>
              <a:t>תיעוד</a:t>
            </a:r>
            <a:endParaRPr lang="en-US" sz="1400" dirty="0"/>
          </a:p>
        </p:txBody>
      </p:sp>
      <p:sp>
        <p:nvSpPr>
          <p:cNvPr id="12" name="Text 10"/>
          <p:cNvSpPr/>
          <p:nvPr/>
        </p:nvSpPr>
        <p:spPr>
          <a:xfrm>
            <a:off x="1143000" y="4389120"/>
            <a:ext cx="9875520" cy="457200"/>
          </a:xfrm>
          <a:prstGeom prst="rect">
            <a:avLst/>
          </a:prstGeom>
          <a:noFill/>
          <a:ln/>
        </p:spPr>
        <p:txBody>
          <a:bodyPr wrap="square" rtlCol="0" anchor="ctr"/>
          <a:lstStyle/>
          <a:p>
            <a:pPr rtl="1" algn="r" indent="0" marL="0">
              <a:buNone/>
            </a:pPr>
            <a:r>
              <a:rPr lang="en-US" sz="1500" i="1" dirty="0">
                <a:solidFill>
                  <a:srgbClr val="5B6572"/>
                </a:solidFill>
                <a:latin typeface="Consolas" pitchFamily="34" charset="0"/>
                <a:ea typeface="Consolas" pitchFamily="34" charset="-122"/>
                <a:cs typeface="Consolas" pitchFamily="34" charset="-120"/>
              </a:rPr>
              <a:t>[ להוסיף כאן קישור לתיעוד ]</a:t>
            </a:r>
            <a:endParaRPr lang="en-US" sz="1500" dirty="0"/>
          </a:p>
        </p:txBody>
      </p:sp>
      <p:sp>
        <p:nvSpPr>
          <p:cNvPr id="13" name="Text 11"/>
          <p:cNvSpPr/>
          <p:nvPr/>
        </p:nvSpPr>
        <p:spPr>
          <a:xfrm>
            <a:off x="868680" y="5532120"/>
            <a:ext cx="10424160" cy="365760"/>
          </a:xfrm>
          <a:prstGeom prst="rect">
            <a:avLst/>
          </a:prstGeom>
          <a:noFill/>
          <a:ln/>
        </p:spPr>
        <p:txBody>
          <a:bodyPr wrap="square" rtlCol="0" anchor="ctr"/>
          <a:lstStyle/>
          <a:p>
            <a:pPr rtl="1" algn="r" indent="0" marL="0">
              <a:buNone/>
            </a:pPr>
            <a:r>
              <a:rPr lang="en-US" sz="1150" dirty="0">
                <a:solidFill>
                  <a:srgbClr val="5B6572"/>
                </a:solidFill>
                <a:latin typeface="Arial" pitchFamily="34" charset="0"/>
                <a:ea typeface="Arial" pitchFamily="34" charset="-122"/>
                <a:cs typeface="Arial" pitchFamily="34" charset="-120"/>
              </a:rPr>
              <a:t>צוות בעלים: DevOps  •  נכלל דרך: include בראש קובץ ה-.gitlab-ci.yml</a:t>
            </a:r>
            <a:endParaRPr lang="en-US" sz="1150" dirty="0"/>
          </a:p>
        </p:txBody>
      </p:sp>
      <p:sp>
        <p:nvSpPr>
          <p:cNvPr id="14" name="Text 12"/>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15" name="Text 13"/>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65408" y="219456"/>
            <a:ext cx="118872" cy="118872"/>
          </a:xfrm>
          <a:prstGeom prst="ellipse">
            <a:avLst/>
          </a:prstGeom>
          <a:solidFill>
            <a:srgbClr val="FFB100"/>
          </a:solidFill>
          <a:ln/>
        </p:spPr>
      </p:sp>
      <p:sp>
        <p:nvSpPr>
          <p:cNvPr id="3" name="Text 1"/>
          <p:cNvSpPr/>
          <p:nvPr/>
        </p:nvSpPr>
        <p:spPr>
          <a:xfrm>
            <a:off x="2496312" y="146304"/>
            <a:ext cx="8641080" cy="274320"/>
          </a:xfrm>
          <a:prstGeom prst="rect">
            <a:avLst/>
          </a:prstGeom>
          <a:noFill/>
          <a:ln/>
        </p:spPr>
        <p:txBody>
          <a:bodyPr wrap="square" rtlCol="0" anchor="ctr"/>
          <a:lstStyle/>
          <a:p>
            <a:pPr rtl="1" algn="r" indent="0" marL="0">
              <a:buNone/>
            </a:pPr>
            <a:r>
              <a:rPr lang="en-US" sz="1200" b="1" spc="100" kern="0" dirty="0">
                <a:solidFill>
                  <a:srgbClr val="00A896"/>
                </a:solidFill>
                <a:latin typeface="Arial" pitchFamily="34" charset="0"/>
                <a:ea typeface="Arial" pitchFamily="34" charset="-122"/>
                <a:cs typeface="Arial" pitchFamily="34" charset="-120"/>
              </a:rPr>
              <a:t>איך מריצים את זה</a:t>
            </a:r>
            <a:endParaRPr lang="en-US" sz="1200" dirty="0"/>
          </a:p>
        </p:txBody>
      </p:sp>
      <p:sp>
        <p:nvSpPr>
          <p:cNvPr id="4" name="Text 2"/>
          <p:cNvSpPr/>
          <p:nvPr/>
        </p:nvSpPr>
        <p:spPr>
          <a:xfrm>
            <a:off x="576072" y="411480"/>
            <a:ext cx="11064240" cy="731520"/>
          </a:xfrm>
          <a:prstGeom prst="rect">
            <a:avLst/>
          </a:prstGeom>
          <a:noFill/>
          <a:ln/>
        </p:spPr>
        <p:txBody>
          <a:bodyPr wrap="square" rtlCol="0" anchor="ctr"/>
          <a:lstStyle/>
          <a:p>
            <a:pPr rtl="1" algn="r" indent="0" marL="0">
              <a:buNone/>
            </a:pPr>
            <a:r>
              <a:rPr lang="en-US" sz="3000" b="1" dirty="0">
                <a:solidFill>
                  <a:srgbClr val="1B1F3B"/>
                </a:solidFill>
                <a:latin typeface="Arial" pitchFamily="34" charset="0"/>
                <a:ea typeface="Arial" pitchFamily="34" charset="-122"/>
                <a:cs typeface="Arial" pitchFamily="34" charset="-120"/>
              </a:rPr>
              <a:t>מדריך מהיר</a:t>
            </a:r>
            <a:endParaRPr lang="en-US" sz="3000" dirty="0"/>
          </a:p>
        </p:txBody>
      </p:sp>
      <p:sp>
        <p:nvSpPr>
          <p:cNvPr id="5" name="Shape 3"/>
          <p:cNvSpPr/>
          <p:nvPr/>
        </p:nvSpPr>
        <p:spPr>
          <a:xfrm>
            <a:off x="11185855" y="1600200"/>
            <a:ext cx="457200" cy="457200"/>
          </a:xfrm>
          <a:prstGeom prst="ellipse">
            <a:avLst/>
          </a:prstGeom>
          <a:solidFill>
            <a:srgbClr val="00A896"/>
          </a:solidFill>
          <a:ln/>
        </p:spPr>
      </p:sp>
      <p:sp>
        <p:nvSpPr>
          <p:cNvPr id="6" name="Text 4"/>
          <p:cNvSpPr/>
          <p:nvPr/>
        </p:nvSpPr>
        <p:spPr>
          <a:xfrm>
            <a:off x="11185855" y="1600200"/>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p:nvPr/>
        </p:nvSpPr>
        <p:spPr>
          <a:xfrm>
            <a:off x="5882335" y="1581912"/>
            <a:ext cx="5257800" cy="49377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לבצע push לקומיט או לפתוח MR</a:t>
            </a:r>
            <a:endParaRPr lang="en-US" sz="1350" dirty="0"/>
          </a:p>
        </p:txBody>
      </p:sp>
      <p:sp>
        <p:nvSpPr>
          <p:cNvPr id="8" name="Text 6"/>
          <p:cNvSpPr/>
          <p:nvPr/>
        </p:nvSpPr>
        <p:spPr>
          <a:xfrm>
            <a:off x="548640" y="1581912"/>
            <a:ext cx="5760720" cy="493776"/>
          </a:xfrm>
          <a:prstGeom prst="rect">
            <a:avLst/>
          </a:prstGeom>
          <a:noFill/>
          <a:ln/>
        </p:spPr>
        <p:txBody>
          <a:bodyPr wrap="square" rtlCol="0" anchor="ctr"/>
          <a:lstStyle/>
          <a:p>
            <a:pPr rtl="1" algn="r" indent="0" marL="0">
              <a:buNone/>
            </a:pPr>
            <a:r>
              <a:rPr lang="en-US" sz="1150" dirty="0">
                <a:solidFill>
                  <a:srgbClr val="5B6572"/>
                </a:solidFill>
                <a:latin typeface="Arial" pitchFamily="34" charset="0"/>
                <a:ea typeface="Arial" pitchFamily="34" charset="-122"/>
                <a:cs typeface="Arial" pitchFamily="34" charset="-120"/>
              </a:rPr>
              <a:t>בפרויקט ה-Nx, או בפוליי-repo — להשתמש באותו שם branch בשניהם</a:t>
            </a:r>
            <a:endParaRPr lang="en-US" sz="1150" dirty="0"/>
          </a:p>
        </p:txBody>
      </p:sp>
      <p:sp>
        <p:nvSpPr>
          <p:cNvPr id="9" name="Shape 7"/>
          <p:cNvSpPr/>
          <p:nvPr/>
        </p:nvSpPr>
        <p:spPr>
          <a:xfrm>
            <a:off x="11185855" y="2377440"/>
            <a:ext cx="457200" cy="457200"/>
          </a:xfrm>
          <a:prstGeom prst="ellipse">
            <a:avLst/>
          </a:prstGeom>
          <a:solidFill>
            <a:srgbClr val="00A896"/>
          </a:solidFill>
          <a:ln/>
        </p:spPr>
      </p:sp>
      <p:sp>
        <p:nvSpPr>
          <p:cNvPr id="10" name="Text 8"/>
          <p:cNvSpPr/>
          <p:nvPr/>
        </p:nvSpPr>
        <p:spPr>
          <a:xfrm>
            <a:off x="11185855" y="2377440"/>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p:nvPr/>
        </p:nvSpPr>
        <p:spPr>
          <a:xfrm>
            <a:off x="5882335" y="2359152"/>
            <a:ext cx="5257800" cy="49377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לעקוב אחרי ה-pipeline שנוצר</a:t>
            </a:r>
            <a:endParaRPr lang="en-US" sz="1350" dirty="0"/>
          </a:p>
        </p:txBody>
      </p:sp>
      <p:sp>
        <p:nvSpPr>
          <p:cNvPr id="12" name="Text 10"/>
          <p:cNvSpPr/>
          <p:nvPr/>
        </p:nvSpPr>
        <p:spPr>
          <a:xfrm>
            <a:off x="548640" y="2359152"/>
            <a:ext cx="5760720" cy="493776"/>
          </a:xfrm>
          <a:prstGeom prst="rect">
            <a:avLst/>
          </a:prstGeom>
          <a:noFill/>
          <a:ln/>
        </p:spPr>
        <p:txBody>
          <a:bodyPr wrap="square" rtlCol="0" anchor="ctr"/>
          <a:lstStyle/>
          <a:p>
            <a:pPr rtl="1" algn="r" indent="0" marL="0">
              <a:buNone/>
            </a:pPr>
            <a:r>
              <a:rPr lang="en-US" sz="1150" dirty="0">
                <a:solidFill>
                  <a:srgbClr val="5B6572"/>
                </a:solidFill>
                <a:latin typeface="Arial" pitchFamily="34" charset="0"/>
                <a:ea typeface="Arial" pitchFamily="34" charset="-122"/>
                <a:cs typeface="Arial" pitchFamily="34" charset="-120"/>
              </a:rPr>
              <a:t>יכיל רק jobs לשירותים שבהם נגעתם</a:t>
            </a:r>
            <a:endParaRPr lang="en-US" sz="1150" dirty="0"/>
          </a:p>
        </p:txBody>
      </p:sp>
      <p:sp>
        <p:nvSpPr>
          <p:cNvPr id="13" name="Shape 11"/>
          <p:cNvSpPr/>
          <p:nvPr/>
        </p:nvSpPr>
        <p:spPr>
          <a:xfrm>
            <a:off x="11185855" y="3154680"/>
            <a:ext cx="457200" cy="457200"/>
          </a:xfrm>
          <a:prstGeom prst="ellipse">
            <a:avLst/>
          </a:prstGeom>
          <a:solidFill>
            <a:srgbClr val="00A896"/>
          </a:solidFill>
          <a:ln/>
        </p:spPr>
      </p:sp>
      <p:sp>
        <p:nvSpPr>
          <p:cNvPr id="14" name="Text 12"/>
          <p:cNvSpPr/>
          <p:nvPr/>
        </p:nvSpPr>
        <p:spPr>
          <a:xfrm>
            <a:off x="11185855" y="3154680"/>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5" name="Text 13"/>
          <p:cNvSpPr/>
          <p:nvPr/>
        </p:nvSpPr>
        <p:spPr>
          <a:xfrm>
            <a:off x="5882335" y="3136392"/>
            <a:ext cx="5257800" cy="49377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לוודא שה-build jobs הצליחו</a:t>
            </a:r>
            <a:endParaRPr lang="en-US" sz="1350" dirty="0"/>
          </a:p>
        </p:txBody>
      </p:sp>
      <p:sp>
        <p:nvSpPr>
          <p:cNvPr id="16" name="Text 14"/>
          <p:cNvSpPr/>
          <p:nvPr/>
        </p:nvSpPr>
        <p:spPr>
          <a:xfrm>
            <a:off x="548640" y="3136392"/>
            <a:ext cx="5760720" cy="493776"/>
          </a:xfrm>
          <a:prstGeom prst="rect">
            <a:avLst/>
          </a:prstGeom>
          <a:noFill/>
          <a:ln/>
        </p:spPr>
        <p:txBody>
          <a:bodyPr wrap="square" rtlCol="0" anchor="ctr"/>
          <a:lstStyle/>
          <a:p>
            <a:pPr rtl="1" algn="r" indent="0" marL="0">
              <a:buNone/>
            </a:pPr>
            <a:r>
              <a:rPr lang="en-US" sz="1150" dirty="0">
                <a:solidFill>
                  <a:srgbClr val="5B6572"/>
                </a:solidFill>
                <a:latin typeface="Arial" pitchFamily="34" charset="0"/>
                <a:ea typeface="Arial" pitchFamily="34" charset="-122"/>
                <a:cs typeface="Arial" pitchFamily="34" charset="-120"/>
              </a:rPr>
              <a:t>ה-tag מחובר (committed) לפרויקט ה-Helm אוטומטית</a:t>
            </a:r>
            <a:endParaRPr lang="en-US" sz="1150" dirty="0"/>
          </a:p>
        </p:txBody>
      </p:sp>
      <p:sp>
        <p:nvSpPr>
          <p:cNvPr id="17" name="Shape 15"/>
          <p:cNvSpPr/>
          <p:nvPr/>
        </p:nvSpPr>
        <p:spPr>
          <a:xfrm>
            <a:off x="11185855" y="3931920"/>
            <a:ext cx="457200" cy="457200"/>
          </a:xfrm>
          <a:prstGeom prst="ellipse">
            <a:avLst/>
          </a:prstGeom>
          <a:solidFill>
            <a:srgbClr val="00A896"/>
          </a:solidFill>
          <a:ln/>
        </p:spPr>
      </p:sp>
      <p:sp>
        <p:nvSpPr>
          <p:cNvPr id="18" name="Text 16"/>
          <p:cNvSpPr/>
          <p:nvPr/>
        </p:nvSpPr>
        <p:spPr>
          <a:xfrm>
            <a:off x="11185855" y="3931920"/>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9" name="Text 17"/>
          <p:cNvSpPr/>
          <p:nvPr/>
        </p:nvSpPr>
        <p:spPr>
          <a:xfrm>
            <a:off x="5882335" y="3913632"/>
            <a:ext cx="5257800" cy="49377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ללחוץ על הסביבה הרצויה</a:t>
            </a:r>
            <a:endParaRPr lang="en-US" sz="1350" dirty="0"/>
          </a:p>
        </p:txBody>
      </p:sp>
      <p:sp>
        <p:nvSpPr>
          <p:cNvPr id="20" name="Text 18"/>
          <p:cNvSpPr/>
          <p:nvPr/>
        </p:nvSpPr>
        <p:spPr>
          <a:xfrm>
            <a:off x="548640" y="3913632"/>
            <a:ext cx="5760720" cy="493776"/>
          </a:xfrm>
          <a:prstGeom prst="rect">
            <a:avLst/>
          </a:prstGeom>
          <a:noFill/>
          <a:ln/>
        </p:spPr>
        <p:txBody>
          <a:bodyPr wrap="square" rtlCol="0" anchor="ctr"/>
          <a:lstStyle/>
          <a:p>
            <a:pPr rtl="1" algn="r" indent="0" marL="0">
              <a:buNone/>
            </a:pPr>
            <a:r>
              <a:rPr lang="en-US" sz="1150" dirty="0">
                <a:solidFill>
                  <a:srgbClr val="5B6572"/>
                </a:solidFill>
                <a:latin typeface="Arial" pitchFamily="34" charset="0"/>
                <a:ea typeface="Arial" pitchFamily="34" charset="-122"/>
                <a:cs typeface="Arial" pitchFamily="34" charset="-120"/>
              </a:rPr>
              <a:t>האפשרויות תלויות ב-branch שלכם — תמיד לחיצה ידנית</a:t>
            </a:r>
            <a:endParaRPr lang="en-US" sz="1150" dirty="0"/>
          </a:p>
        </p:txBody>
      </p:sp>
      <p:sp>
        <p:nvSpPr>
          <p:cNvPr id="21" name="Shape 19"/>
          <p:cNvSpPr/>
          <p:nvPr/>
        </p:nvSpPr>
        <p:spPr>
          <a:xfrm>
            <a:off x="11185855" y="4709160"/>
            <a:ext cx="457200" cy="457200"/>
          </a:xfrm>
          <a:prstGeom prst="ellipse">
            <a:avLst/>
          </a:prstGeom>
          <a:solidFill>
            <a:srgbClr val="00A896"/>
          </a:solidFill>
          <a:ln/>
        </p:spPr>
      </p:sp>
      <p:sp>
        <p:nvSpPr>
          <p:cNvPr id="22" name="Text 20"/>
          <p:cNvSpPr/>
          <p:nvPr/>
        </p:nvSpPr>
        <p:spPr>
          <a:xfrm>
            <a:off x="11185855" y="4709160"/>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3" name="Text 21"/>
          <p:cNvSpPr/>
          <p:nvPr/>
        </p:nvSpPr>
        <p:spPr>
          <a:xfrm>
            <a:off x="5882335" y="4690872"/>
            <a:ext cx="5257800" cy="49377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לבדוק את הלוגים של job הפריסה</a:t>
            </a:r>
            <a:endParaRPr lang="en-US" sz="1350" dirty="0"/>
          </a:p>
        </p:txBody>
      </p:sp>
      <p:sp>
        <p:nvSpPr>
          <p:cNvPr id="24" name="Text 22"/>
          <p:cNvSpPr/>
          <p:nvPr/>
        </p:nvSpPr>
        <p:spPr>
          <a:xfrm>
            <a:off x="548640" y="4690872"/>
            <a:ext cx="5760720" cy="493776"/>
          </a:xfrm>
          <a:prstGeom prst="rect">
            <a:avLst/>
          </a:prstGeom>
          <a:noFill/>
          <a:ln/>
        </p:spPr>
        <p:txBody>
          <a:bodyPr wrap="square" rtlCol="0" anchor="ctr"/>
          <a:lstStyle/>
          <a:p>
            <a:pPr rtl="1" algn="r" indent="0" marL="0">
              <a:buNone/>
            </a:pPr>
            <a:r>
              <a:rPr lang="en-US" sz="1150" dirty="0">
                <a:solidFill>
                  <a:srgbClr val="5B6572"/>
                </a:solidFill>
                <a:latin typeface="Arial" pitchFamily="34" charset="0"/>
                <a:ea typeface="Arial" pitchFamily="34" charset="-122"/>
                <a:cs typeface="Arial" pitchFamily="34" charset="-120"/>
              </a:rPr>
              <a:t>מאשר אילו שירותים עודכנו</a:t>
            </a:r>
            <a:endParaRPr lang="en-US" sz="1150" dirty="0"/>
          </a:p>
        </p:txBody>
      </p:sp>
      <p:sp>
        <p:nvSpPr>
          <p:cNvPr id="25" name="Shape 23"/>
          <p:cNvSpPr/>
          <p:nvPr/>
        </p:nvSpPr>
        <p:spPr>
          <a:xfrm>
            <a:off x="11185855" y="5486400"/>
            <a:ext cx="457200" cy="457200"/>
          </a:xfrm>
          <a:prstGeom prst="ellipse">
            <a:avLst/>
          </a:prstGeom>
          <a:solidFill>
            <a:srgbClr val="00A896"/>
          </a:solidFill>
          <a:ln/>
        </p:spPr>
      </p:sp>
      <p:sp>
        <p:nvSpPr>
          <p:cNvPr id="26" name="Text 24"/>
          <p:cNvSpPr/>
          <p:nvPr/>
        </p:nvSpPr>
        <p:spPr>
          <a:xfrm>
            <a:off x="11185855" y="5486400"/>
            <a:ext cx="457200" cy="457200"/>
          </a:xfrm>
          <a:prstGeom prst="rect">
            <a:avLst/>
          </a:prstGeom>
          <a:no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7" name="Text 25"/>
          <p:cNvSpPr/>
          <p:nvPr/>
        </p:nvSpPr>
        <p:spPr>
          <a:xfrm>
            <a:off x="5882335" y="5468112"/>
            <a:ext cx="5257800" cy="493776"/>
          </a:xfrm>
          <a:prstGeom prst="rect">
            <a:avLst/>
          </a:prstGeom>
          <a:noFill/>
          <a:ln/>
        </p:spPr>
        <p:txBody>
          <a:bodyPr wrap="square" rtlCol="0" anchor="ctr"/>
          <a:lstStyle/>
          <a:p>
            <a:pPr rtl="1" algn="r" indent="0" marL="0">
              <a:buNone/>
            </a:pPr>
            <a:r>
              <a:rPr lang="en-US" sz="1350" b="1" dirty="0">
                <a:solidFill>
                  <a:srgbClr val="1B1F2A"/>
                </a:solidFill>
                <a:latin typeface="Arial" pitchFamily="34" charset="0"/>
                <a:ea typeface="Arial" pitchFamily="34" charset="-122"/>
                <a:cs typeface="Arial" pitchFamily="34" charset="-120"/>
              </a:rPr>
              <a:t>בסביבת אוטומציה: 3 קטגוריות ברירת מחדל רצות אוטומטית</a:t>
            </a:r>
            <a:endParaRPr lang="en-US" sz="1350" dirty="0"/>
          </a:p>
        </p:txBody>
      </p:sp>
      <p:sp>
        <p:nvSpPr>
          <p:cNvPr id="28" name="Text 26"/>
          <p:cNvSpPr/>
          <p:nvPr/>
        </p:nvSpPr>
        <p:spPr>
          <a:xfrm>
            <a:off x="548640" y="5468112"/>
            <a:ext cx="5760720" cy="493776"/>
          </a:xfrm>
          <a:prstGeom prst="rect">
            <a:avLst/>
          </a:prstGeom>
          <a:noFill/>
          <a:ln/>
        </p:spPr>
        <p:txBody>
          <a:bodyPr wrap="square" rtlCol="0" anchor="ctr"/>
          <a:lstStyle/>
          <a:p>
            <a:pPr rtl="1" algn="r" indent="0" marL="0">
              <a:buNone/>
            </a:pPr>
            <a:r>
              <a:rPr lang="en-US" sz="1150" dirty="0">
                <a:solidFill>
                  <a:srgbClr val="5B6572"/>
                </a:solidFill>
                <a:latin typeface="Arial" pitchFamily="34" charset="0"/>
                <a:ea typeface="Arial" pitchFamily="34" charset="-122"/>
                <a:cs typeface="Arial" pitchFamily="34" charset="-120"/>
              </a:rPr>
              <a:t>צריכים כיסוי מלא/מותאם? יש להשתמש ב-chaos-ci עם שם ה-branch שלכם</a:t>
            </a:r>
            <a:endParaRPr lang="en-US" sz="1150" dirty="0"/>
          </a:p>
        </p:txBody>
      </p:sp>
      <p:sp>
        <p:nvSpPr>
          <p:cNvPr id="29" name="Shape 27"/>
          <p:cNvSpPr/>
          <p:nvPr/>
        </p:nvSpPr>
        <p:spPr>
          <a:xfrm>
            <a:off x="548640" y="6172200"/>
            <a:ext cx="11064240" cy="18288"/>
          </a:xfrm>
          <a:prstGeom prst="roundRect">
            <a:avLst>
              <a:gd name="adj" fmla="val 400000"/>
            </a:avLst>
          </a:prstGeom>
          <a:solidFill>
            <a:srgbClr val="DEE1EC"/>
          </a:solidFill>
          <a:ln/>
        </p:spPr>
      </p:sp>
      <p:sp>
        <p:nvSpPr>
          <p:cNvPr id="30" name="Text 28"/>
          <p:cNvSpPr/>
          <p:nvPr/>
        </p:nvSpPr>
        <p:spPr>
          <a:xfrm>
            <a:off x="548640" y="6263640"/>
            <a:ext cx="11064240" cy="320040"/>
          </a:xfrm>
          <a:prstGeom prst="rect">
            <a:avLst/>
          </a:prstGeom>
          <a:noFill/>
          <a:ln/>
        </p:spPr>
        <p:txBody>
          <a:bodyPr wrap="square" rtlCol="0" anchor="ctr"/>
          <a:lstStyle/>
          <a:p>
            <a:pPr rtl="1" algn="r" indent="0" marL="0">
              <a:buNone/>
            </a:pPr>
            <a:r>
              <a:rPr lang="en-US" sz="1200" i="1" dirty="0">
                <a:solidFill>
                  <a:srgbClr val="5B6572"/>
                </a:solidFill>
                <a:latin typeface="Arial" pitchFamily="34" charset="0"/>
                <a:ea typeface="Arial" pitchFamily="34" charset="-122"/>
                <a:cs typeface="Arial" pitchFamily="34" charset="-120"/>
              </a:rPr>
              <a:t>המדריך הכתוב המלא, שלב אחר שלב, נמצא במסמך הנלווה.</a:t>
            </a:r>
            <a:endParaRPr lang="en-US" sz="1200" dirty="0"/>
          </a:p>
        </p:txBody>
      </p:sp>
      <p:sp>
        <p:nvSpPr>
          <p:cNvPr id="31" name="Text 29"/>
          <p:cNvSpPr/>
          <p:nvPr/>
        </p:nvSpPr>
        <p:spPr>
          <a:xfrm>
            <a:off x="4416552" y="6528816"/>
            <a:ext cx="7315200" cy="274320"/>
          </a:xfrm>
          <a:prstGeom prst="rect">
            <a:avLst/>
          </a:prstGeom>
          <a:noFill/>
          <a:ln/>
        </p:spPr>
        <p:txBody>
          <a:bodyPr wrap="square" rtlCol="0" anchor="ctr"/>
          <a:lstStyle/>
          <a:p>
            <a:pPr rtl="1" algn="r" indent="0" marL="0">
              <a:buNone/>
            </a:pPr>
            <a:r>
              <a:rPr lang="en-US" sz="1000" dirty="0">
                <a:solidFill>
                  <a:srgbClr val="5B6572"/>
                </a:solidFill>
                <a:latin typeface="Arial" pitchFamily="34" charset="0"/>
                <a:ea typeface="Arial" pitchFamily="34" charset="-122"/>
                <a:cs typeface="Arial" pitchFamily="34" charset="-120"/>
              </a:rPr>
              <a:t>CI/CD Refactor</a:t>
            </a:r>
            <a:endParaRPr lang="en-US" sz="1000" dirty="0"/>
          </a:p>
        </p:txBody>
      </p:sp>
      <p:sp>
        <p:nvSpPr>
          <p:cNvPr id="32" name="Text 30"/>
          <p:cNvSpPr/>
          <p:nvPr/>
        </p:nvSpPr>
        <p:spPr>
          <a:xfrm>
            <a:off x="365760" y="6528816"/>
            <a:ext cx="365760" cy="274320"/>
          </a:xfrm>
          <a:prstGeom prst="rect">
            <a:avLst/>
          </a:prstGeom>
          <a:noFill/>
          <a:ln/>
        </p:spPr>
        <p:txBody>
          <a:bodyPr wrap="square" rtlCol="0" anchor="ctr"/>
          <a:lstStyle/>
          <a:p>
            <a:pPr algn="l" indent="0" marL="0">
              <a:buNone/>
            </a:pPr>
            <a:r>
              <a:rPr lang="en-US" sz="1000" dirty="0">
                <a:solidFill>
                  <a:srgbClr val="5B6572"/>
                </a:solidFill>
                <a:latin typeface="Arial" pitchFamily="34" charset="0"/>
                <a:ea typeface="Arial" pitchFamily="34" charset="-122"/>
                <a:cs typeface="Arial" pitchFamily="34" charset="-120"/>
              </a:rPr>
              <a:t>22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1F3B"/>
        </a:solidFill>
      </p:bgPr>
    </p:bg>
    <p:spTree>
      <p:nvGrpSpPr>
        <p:cNvPr id="1" name=""/>
        <p:cNvGrpSpPr/>
        <p:nvPr/>
      </p:nvGrpSpPr>
      <p:grpSpPr>
        <a:xfrm>
          <a:off x="0" y="0"/>
          <a:ext cx="0" cy="0"/>
          <a:chOff x="0" y="0"/>
          <a:chExt cx="0" cy="0"/>
        </a:xfrm>
      </p:grpSpPr>
      <p:sp>
        <p:nvSpPr>
          <p:cNvPr id="2" name="Shape 0"/>
          <p:cNvSpPr/>
          <p:nvPr/>
        </p:nvSpPr>
        <p:spPr>
          <a:xfrm>
            <a:off x="-2286000" y="3200400"/>
            <a:ext cx="5943600" cy="5943600"/>
          </a:xfrm>
          <a:prstGeom prst="ellipse">
            <a:avLst/>
          </a:prstGeom>
          <a:solidFill>
            <a:srgbClr val="3949AB">
              <a:alpha val="45000"/>
            </a:srgbClr>
          </a:solidFill>
          <a:ln/>
        </p:spPr>
      </p:sp>
      <p:sp>
        <p:nvSpPr>
          <p:cNvPr id="3" name="Text 1"/>
          <p:cNvSpPr/>
          <p:nvPr/>
        </p:nvSpPr>
        <p:spPr>
          <a:xfrm>
            <a:off x="731520" y="2651760"/>
            <a:ext cx="10698480" cy="914400"/>
          </a:xfrm>
          <a:prstGeom prst="rect">
            <a:avLst/>
          </a:prstGeom>
          <a:noFill/>
          <a:ln/>
        </p:spPr>
        <p:txBody>
          <a:bodyPr wrap="square" rtlCol="0" anchor="ctr"/>
          <a:lstStyle/>
          <a:p>
            <a:pPr rtl="1" algn="r" indent="0" marL="0">
              <a:buNone/>
            </a:pPr>
            <a:r>
              <a:rPr lang="en-US" sz="4000" b="1" dirty="0">
                <a:solidFill>
                  <a:srgbClr val="FFFFFF"/>
                </a:solidFill>
                <a:latin typeface="Arial" pitchFamily="34" charset="0"/>
                <a:ea typeface="Arial" pitchFamily="34" charset="-122"/>
                <a:cs typeface="Arial" pitchFamily="34" charset="-120"/>
              </a:rPr>
              <a:t>שאלות?</a:t>
            </a:r>
            <a:endParaRPr lang="en-US" sz="4000" dirty="0"/>
          </a:p>
        </p:txBody>
      </p:sp>
      <p:sp>
        <p:nvSpPr>
          <p:cNvPr id="4" name="Text 2"/>
          <p:cNvSpPr/>
          <p:nvPr/>
        </p:nvSpPr>
        <p:spPr>
          <a:xfrm>
            <a:off x="731520" y="3566160"/>
            <a:ext cx="10698480" cy="731520"/>
          </a:xfrm>
          <a:prstGeom prst="rect">
            <a:avLst/>
          </a:prstGeom>
          <a:noFill/>
          <a:ln/>
        </p:spPr>
        <p:txBody>
          <a:bodyPr wrap="square" rtlCol="0" anchor="ctr"/>
          <a:lstStyle/>
          <a:p>
            <a:pPr rtl="1" algn="r" indent="0" marL="0">
              <a:buNone/>
            </a:pPr>
            <a:r>
              <a:rPr lang="en-US" sz="1500" dirty="0">
                <a:solidFill>
                  <a:srgbClr val="CADCFC"/>
                </a:solidFill>
                <a:latin typeface="Arial" pitchFamily="34" charset="0"/>
                <a:ea typeface="Arial" pitchFamily="34" charset="-122"/>
                <a:cs typeface="Arial" pitchFamily="34" charset="-120"/>
              </a:rPr>
              <a:t>תיעוד, נתיבי תיקיות, ופתרון בעיות נמצאים במדריך הנלווה.</a:t>
            </a:r>
            <a:endParaRPr lang="en-US" sz="1500" dirty="0"/>
          </a:p>
          <a:p>
            <a:pPr rtl="1" algn="r" indent="0" marL="0">
              <a:buNone/>
            </a:pPr>
            <a:r>
              <a:rPr lang="en-US" sz="1500" dirty="0">
                <a:solidFill>
                  <a:srgbClr val="CADCFC"/>
                </a:solidFill>
                <a:latin typeface="Arial" pitchFamily="34" charset="0"/>
                <a:ea typeface="Arial" pitchFamily="34" charset="-122"/>
                <a:cs typeface="Arial" pitchFamily="34" charset="-120"/>
              </a:rPr>
              <a:t>ניתן לפנות בכל עת בערוץ #devops.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2026-07-20T10:06:14Z</dcterms:created>
  <dcterms:modified xsi:type="dcterms:W3CDTF">2026-07-20T10:06:14Z</dcterms:modified>
</cp:coreProperties>
</file>