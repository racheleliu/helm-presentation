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ברוכים הבאים. היום נעבור על רה-ארגון ה-CI/CD שלנו: למה שינינו אותו, איך צינור העבודה החדש עובד מקצה לקצה, ואיך בפועל מריצים אותו. נעבור מהמודל הישן של 3 פרויקטים למודל החדש של Nx affected ו-catdevops, נסביר למה זה בעצם מעבר ל-GitOps, ונסיים בהדגמה מעשית.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סדר יום מהיר: מאיפה התחלנו, למה אנחנו משנים את זה — המוטיבציה של GitOps — מה משתנה מבחינה מכנית, סקירה מפורטת של צינור העבודה החדש כולל פוליי-repos, לאחר מכן חלק מעשי של איך להריץ, וזמן לשאלות בסוף.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בעבר, פריסה הייתה מתחילה באחד משלושה פרויקטים נפרדים בהתאם ליעד: chaos-ci לסביבת האוטומציה והרצת הטסטים, cflow-cd לטסט, ו-deploy-cd לפרודקשן. המפתח בוחר את השירות ב-UI של אותו פרויקט, וזה מה שמפעיל את שאר השרשרת.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חשוב לדייק בכיוון: המפתח מתחיל באחד מ-chaos-ci, cflow-cd, או deploy-cd, בהתאם לסביבה הרצויה, ומזין שם את השירות. אותו פרויקט מפעיל את ה-pipeline הראשי של פרויקט ה-Nx, שקורא את המשתנים שקיבל וכולל את קובץ ה-.gitlab-ci.yml המתאים של האפליקציה — שם באמת רצים jobs הבנייה והפריסה. כלומר, ההפעלה זורמת מפרויקט ה-CD, דרך ה-Nx, ואל תוך ה-jobs ברמת האפליקציה.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חשוב להיות מפורשים לגבי הסיבה שאנחנו עושים את זה בכלל: המטרה היא לעבור למודל GitOps, שבו פרויקט ה-Helm הוא מקור האמת הדקלרטיבי, וה-pipeline שלנו מוביל את OpenShift בדיוק למה שמחובר שם. חשוב לדייק: כרגע זו גישת push — ה-pipeline הוא זה שדוחף. שכבת סנכרון מבוססת pull כמו ArgoCD, שהייתה עוקבת ומתקנת סטיות באופן רציף לבד, נמצאת במפת הדרכים שלנו.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מעבר למכניקה, הנה מה ש-GitOps באמת נותן לנו: מקור אמת יחיד למה שאמור לרוץ, היסטוריית גרסאות מלאה על כל שינוי, נראות קלה למה פרוס ואיפה, נתיב התאוששות מאסון מהיר בהרבה כי פרויקט ה-Helm לבדו יכול לשחזר את המצב הרצוי, מסלול ביקורת נקי לתאימות, והתנהגות עקבית בכל סביבה במקום סטייה ידנית ספציפית לסביבה.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שלושה מרכיבים מרכיבים את המודל החדש: catdevops כספרייה משותפת כך שלוגיקת ה-pipeline נמצאת במקום אחד בכל ה-repos, nx affected כדי שנבנה רק מה שהשתנה, ואספקה מבוססת Helm כך ש-OpenShift משקף בדיוק את מה שמחובר — זהו חלק ה-GitOps.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הנה התהליך המלא מקצה לקצה. push או MR — בפרויקט ה-Nx או בפוליי-repo — מפעיל nx affected, שיוצר pipeline דינמי עם job בנייה אחד לכל שירות שהשתנה. כל בנייה מבצעת commit לתגית החדשה שלה לפרויקט ה-Helm תחת תיקייה לפי שם ה-branch. לאחר מכן המפתח בוחר ידנית סביבה, job הפריסה מריץ helm upgrade רק לשירותים שהשתנו, וטסטים אוטומטיים רצים אוטומטית בפריסה לסביבת האוטומציה, ומכסים את 3 הקטגוריות ברירת המחדל שלנו. נעבור על כל אחד מהשלבים בפירוט.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זה לא רק למונו-repo של Nx — גם פוליי-repos מאמצים את catdevops, עם אותו תהליך בדיוק של push שמפעיל בנייה ו-commit ל-Helm, ואז בחירת סביבה. ההערה התפעולית החשובה: אם פיצ'ר משתרע גם על ה-Nx repo וגם על פוליי-repo, שני ה-branches צריכים להיות באותו שם, כי השם הוא מפתח התיקייה בפרויקט ה-Helm — כך שירותי שני ה-repos נוחתים יחד עבור אותו פיצ'ר.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בסיס ההשוואה תלוי בהקשר: כשאין MR פתוח, משווים מול הקומיט הקודם; כשיש MR פתוח, משווים מול ה-branch היעד שלו. בשני המקרים, רק השירותים המושפעים מקבלים job בנייה ב-pipeline שנוצר — בדוגמה הזו, רק billing-service ו-notification-service באמת נבנים.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ברגע ששירות נבנה בהצלחה, ה-job מבצע commit לתגית החדשה שלו לפרויקט ה-Helm, תחת תיקייה על שם ה-branch המקורי לאחר המרה (slugify). התיקייה מכילה serviceName, image, ו-tag — זה מה ש-OpenShift משקף, וזה משותף גם ל-Nx repo וגם לכל פוליי-repo שמשתמש באותו שם branch.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חשוב להיות מפורשים לגבי מודל הקידום, כי הוא לא זהה בכל מקום: עבור אוטומציה וטסט, תגית ה-image היא ה-commit SHA של ענף ה-feature או ה-preprod, נדחף ל-repo של dev ב-Artifactory. עבור פרודקשן, מיזוג ל-master מפעיל בנייה טרייה של אותו commit — image חדש עם תגית ה-SHA של master, נדחף ל-repo של פרודקשן ב-Artifactory. כך שפרודקשן תמיד מריץ משהו שנבנה במיוחד מ-master, לא image של dev שקיבל תווית מחדש — זו גישת בנייה-מחדש-לפרודקשן ולא בנייה-אחת-קידום-לכל-מקום.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אפשרויות הסביבה אינן קבוצה קבועה של שלוש עבור כל הרצה — הן תלויות ב-branch. ענפי feature מציעים אוטומציה וטסט. ענף ה-preprod מציע אוטומציה (טסטים) ואינטגרציה. master מציע פרודקשן. בכל מקרה, המפתח עדיין לוחץ ידנית על מה שהוא רוצה להפעיל — שום דבר לא קורה אוטומטית.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כברירת מחדל, פריסה לסביבת אוטומציה/QA מריצה אוטומטית את 3 קטגוריות הטסט הסטנדרטיות שלנו — פריסה לטסט או לפרודקשן לא מפעילה שום דבר בעצמה, בדיוק כמו קודם. אם מפתח צריך את כל הקטגוריות או שילוב מותאם אישית, chaos-ci עדיין זמין לכך: להזין את ה-branch לפריסה, שם ה-branch של האוטומציה, ואילו קטגוריות להריץ.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שלושה מקרים נוספים שבהם עדיין עובדים מול chaos-ci ישירות: פריסה מקבילה של splash — מערכת של צוות אחר שלפעמים יש איתה ממשק, ורוצים לפרוס את הרכיבים שלה יחד עם ה-feature branch שלנו, אז מריצים chaos-ci ידנית עם שם ה-branch; הוספת טסט חדש לאוטומציה — כדי להריץ את כל הקטגוריות על ה-feature branch ולוודא שהטסט החדש תקין; וההרצה הקבועה בכל לילה, שגם היא רצה דרך chaos-ci.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rollback משתמש בדיוק באותו מנגנון כמו כל שינוי אחר: מבצעים revert לקומיט ב-master, דוחפים אותו, וה-pipeline הרגיל רץ — nx affected מזהה מה ה-revert נוגע בו, בנייה טרייה מייצרת image חדש עם תגית ה-SHA של ה-revert עצמו, התגית מתחברת ל-Helm כרגיל, והפריסה לפרודקשן עדיין job ידני כמו כל release אחר. אין כלי rollback נפרד ללמוד.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סיכום זה מול זה: ההגדרות עוברות ממשתני UI ידניים ל-includes משותפים של catdevops בתוספת nx affected; היקף הבנייה מצטמצם לרק מה שהשתנה; האספקה מתאחדת לפרויקט Helm אחד כש-OpenShift משקף כל commit — חלק ה-GitOps; זה משתרע כעת גם על פוליי-repos, לא רק על המונו-repo של Nx; בחירת הסביבה הופכת לבחירה ידנית בתוך pipeline אחד; וטסטים אוטומטיים שומרים על נקודת ההפעלה ברירת המחדל שלהם, כש-chaos-ci הפך לכלי להרצות מלאות או מותאמות אישית.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שני דברים במפת הדרכים: ArgoCD, שיעביר אותנו מאספקה מבוססת push לגישת GitOps אמיתית מבוססת pull — operator לסנכרון שעוקב ברציפות אחרי פרויקט ה-Helm ומתקן סטיות בעצמו, גם משינוי חיצוני ל-cluster. וסביבות דינמיות — הקמת סביבות אוטומציה וטסט על פי דרישה לכל branch או MR במקום שיתוף קבוצה קבועה, מה שמפחית תחרות על משאבים ומשפר בידוד טסטים.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להתייחסות — כאן ייכנס קישור התיעוד של catdevops ברגע שיהיה לנו. הצוות הבעלים הוא DevOps, וכל פרויקט מכליל אותו באותה צורה: include בראש קובץ ה-.gitlab-ci.yml.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בפועל: לבצע push או לפתוח MR כרגיל, לשמור על שמות branch תואמים אם הפיצ'ר משתרע על פוליי-repo, לעקוב אחרי ה-pipeline שנוצר כדי לראות אילו שירותים הוא אסף, לוודא שהבנייה הצליחה, ואז ללחוץ ידנית על הסביבה הרצויה. לבדוק את לוגי הפריסה כדי לאשר מה עודכן. באוטומציה, 3 הקטגוריות ברירת המחדל רצות אוטומטית; לכיסוי מלא או מותאם, יש להשתמש ב-chaos-ci. המסמך הנלווה מפרט את זה במלואו.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זו התמונה המלאה — אשמח לענות על שאלות, והמדריך הכתוב מכסה כל שלב בפירוט רב יותר אם תרצו להתייחס אליו בהמשך.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3949AB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023360"/>
            <a:ext cx="3840480" cy="3840480"/>
          </a:xfrm>
          <a:prstGeom prst="ellipse">
            <a:avLst/>
          </a:prstGeom>
          <a:solidFill>
            <a:srgbClr val="00A896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1488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spc="100" kern="0" dirty="0">
                <a:solidFill>
                  <a:srgbClr val="6FE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רה-ארגון ה-CI/CD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10698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צינור עבודה אחד מאוחד,</a:t>
            </a:r>
            <a:endParaRPr lang="en-US" sz="3800" dirty="0"/>
          </a:p>
          <a:p>
            <a:pPr rtl="1" algn="r"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בנוי על Nx Affected ו-catdevops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44348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איך עברנו משלושה פרויקטי CI/CD נפרדים לצינור עבודה אחד,</a:t>
            </a:r>
            <a:endParaRPr lang="en-US" sz="1600" dirty="0"/>
          </a:p>
          <a:p>
            <a:pPr rtl="1" algn="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מבוסס GitOps ומודע לשירותים — וכיצד להריץ אותו.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424160" y="5623560"/>
            <a:ext cx="1005840" cy="0"/>
          </a:xfrm>
          <a:prstGeom prst="line">
            <a:avLst/>
          </a:prstGeom>
          <a:noFill/>
          <a:ln w="38100">
            <a:solidFill>
              <a:srgbClr val="6FE7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58064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9FB3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פלטפורמה ו-DevOps • מצגת צוות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65408" y="219456"/>
            <a:ext cx="118872" cy="118872"/>
          </a:xfrm>
          <a:prstGeom prst="ellipse">
            <a:avLst/>
          </a:prstGeom>
          <a:solidFill>
            <a:srgbClr val="FFB100"/>
          </a:solidFill>
          <a:ln/>
        </p:spPr>
      </p:sp>
      <p:sp>
        <p:nvSpPr>
          <p:cNvPr id="3" name="Text 1"/>
          <p:cNvSpPr/>
          <p:nvPr/>
        </p:nvSpPr>
        <p:spPr>
          <a:xfrm>
            <a:off x="2496312" y="146304"/>
            <a:ext cx="8641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spc="10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סדר היום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76072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נעבור היום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1021263" y="1417320"/>
            <a:ext cx="530352" cy="530352"/>
          </a:xfrm>
          <a:prstGeom prst="ellipse">
            <a:avLst/>
          </a:prstGeom>
          <a:solidFill>
            <a:srgbClr val="3949AB"/>
          </a:solidFill>
          <a:ln/>
        </p:spPr>
      </p:sp>
      <p:sp>
        <p:nvSpPr>
          <p:cNvPr id="6" name="Text 4"/>
          <p:cNvSpPr/>
          <p:nvPr/>
        </p:nvSpPr>
        <p:spPr>
          <a:xfrm>
            <a:off x="11021263" y="141732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516575" y="1399032"/>
            <a:ext cx="5257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מאיפה התחלנו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956255" y="1746504"/>
            <a:ext cx="7818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מודל ה-CI/CD הישן עם 3 הפרויקטים, ונקודות הכאב שלו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1021263" y="2258568"/>
            <a:ext cx="530352" cy="530352"/>
          </a:xfrm>
          <a:prstGeom prst="ellipse">
            <a:avLst/>
          </a:prstGeom>
          <a:solidFill>
            <a:srgbClr val="3949AB"/>
          </a:solidFill>
          <a:ln/>
        </p:spPr>
      </p:sp>
      <p:sp>
        <p:nvSpPr>
          <p:cNvPr id="10" name="Text 8"/>
          <p:cNvSpPr/>
          <p:nvPr/>
        </p:nvSpPr>
        <p:spPr>
          <a:xfrm>
            <a:off x="11021263" y="225856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516575" y="2240280"/>
            <a:ext cx="5257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למה אנחנו משנים את זה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956255" y="2587752"/>
            <a:ext cx="7818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המעבר ל-GitOps, והערך שהוא נותן לנו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1021263" y="3099816"/>
            <a:ext cx="530352" cy="530352"/>
          </a:xfrm>
          <a:prstGeom prst="ellipse">
            <a:avLst/>
          </a:prstGeom>
          <a:solidFill>
            <a:srgbClr val="3949AB"/>
          </a:solidFill>
          <a:ln/>
        </p:spPr>
      </p:sp>
      <p:sp>
        <p:nvSpPr>
          <p:cNvPr id="14" name="Text 12"/>
          <p:cNvSpPr/>
          <p:nvPr/>
        </p:nvSpPr>
        <p:spPr>
          <a:xfrm>
            <a:off x="11021263" y="309981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516575" y="3081528"/>
            <a:ext cx="5257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משתנה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956255" y="3429000"/>
            <a:ext cx="7818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catdevops, Nx affected, ואספקה מבוססת Helm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1021263" y="3941064"/>
            <a:ext cx="530352" cy="530352"/>
          </a:xfrm>
          <a:prstGeom prst="ellipse">
            <a:avLst/>
          </a:prstGeom>
          <a:solidFill>
            <a:srgbClr val="3949AB"/>
          </a:solidFill>
          <a:ln/>
        </p:spPr>
      </p:sp>
      <p:sp>
        <p:nvSpPr>
          <p:cNvPr id="18" name="Text 16"/>
          <p:cNvSpPr/>
          <p:nvPr/>
        </p:nvSpPr>
        <p:spPr>
          <a:xfrm>
            <a:off x="11021263" y="3941064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516575" y="3922776"/>
            <a:ext cx="5257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צינור העבודה החדש, שלב אחר שלב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2956255" y="4270248"/>
            <a:ext cx="7818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מ-push ועד production — גם ב-Nx repo וגם בפוליי-repos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1021263" y="4782312"/>
            <a:ext cx="530352" cy="530352"/>
          </a:xfrm>
          <a:prstGeom prst="ellipse">
            <a:avLst/>
          </a:prstGeom>
          <a:solidFill>
            <a:srgbClr val="3949AB"/>
          </a:solidFill>
          <a:ln/>
        </p:spPr>
      </p:sp>
      <p:sp>
        <p:nvSpPr>
          <p:cNvPr id="22" name="Text 20"/>
          <p:cNvSpPr/>
          <p:nvPr/>
        </p:nvSpPr>
        <p:spPr>
          <a:xfrm>
            <a:off x="11021263" y="478231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516575" y="4764024"/>
            <a:ext cx="5257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תפעול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2956255" y="5111496"/>
            <a:ext cx="7818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קידום לפרודקשן, rollback, ושימושים נוספים ב-chaos-ci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11021263" y="5623560"/>
            <a:ext cx="530352" cy="530352"/>
          </a:xfrm>
          <a:prstGeom prst="ellipse">
            <a:avLst/>
          </a:prstGeom>
          <a:solidFill>
            <a:srgbClr val="3949AB"/>
          </a:solidFill>
          <a:ln/>
        </p:spPr>
      </p:sp>
      <p:sp>
        <p:nvSpPr>
          <p:cNvPr id="26" name="Text 24"/>
          <p:cNvSpPr/>
          <p:nvPr/>
        </p:nvSpPr>
        <p:spPr>
          <a:xfrm>
            <a:off x="11021263" y="562356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516575" y="5605272"/>
            <a:ext cx="5257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איך מריצים את זה, ומה הלאה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2956255" y="5952744"/>
            <a:ext cx="7818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הדרכה מעשית, בתוספת מפת הדרכים שלנו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416552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רה-ארגון ה-CI/CD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65408" y="219456"/>
            <a:ext cx="118872" cy="118872"/>
          </a:xfrm>
          <a:prstGeom prst="ellipse">
            <a:avLst/>
          </a:prstGeom>
          <a:solidFill>
            <a:srgbClr val="FFB100"/>
          </a:solidFill>
          <a:ln/>
        </p:spPr>
      </p:sp>
      <p:sp>
        <p:nvSpPr>
          <p:cNvPr id="3" name="Text 1"/>
          <p:cNvSpPr/>
          <p:nvPr/>
        </p:nvSpPr>
        <p:spPr>
          <a:xfrm>
            <a:off x="2496312" y="146304"/>
            <a:ext cx="8641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spc="10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מאיפה התחלנו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76072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שלושה פרויקטי CI/CD נפרדים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46720" y="1691640"/>
            <a:ext cx="342900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EE1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F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652760" y="196596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3949AB"/>
          </a:solidFill>
          <a:ln/>
        </p:spPr>
      </p:sp>
      <p:sp>
        <p:nvSpPr>
          <p:cNvPr id="7" name="Text 5"/>
          <p:cNvSpPr/>
          <p:nvPr/>
        </p:nvSpPr>
        <p:spPr>
          <a:xfrm>
            <a:off x="8321040" y="269748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chaos-ci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321040" y="3200400"/>
            <a:ext cx="2880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פורס את סביבת האוטומציה/QA, ולאחר מכן מריץ טסטים אוטומטיים מולה.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1691640"/>
            <a:ext cx="342900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EE1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F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903720" y="196596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69748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cflow-cd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0" y="3200400"/>
            <a:ext cx="2880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פורס לסביבת הטסט.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1691640"/>
            <a:ext cx="342900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EE1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F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54680" y="196596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B1F3B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69748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deploy-cd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22960" y="3200400"/>
            <a:ext cx="2880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פורס לפרודקשן.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4892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i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המפתח מתחיל כאן: בוחר שירות ולוחץ על הרצה באחד משלושת הפרויקטים, בהתאם לסביבת היעד.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48640" y="53035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i="1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אותו פרויקט מפעיל את פרויקט ה-Nx, שמפעיל את jobs הבנייה/הפריסה של האפליקציה הרלוונטית — בשקף הבא.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416552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רה-ארגון ה-CI/CD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65408" y="219456"/>
            <a:ext cx="118872" cy="118872"/>
          </a:xfrm>
          <a:prstGeom prst="ellipse">
            <a:avLst/>
          </a:prstGeom>
          <a:solidFill>
            <a:srgbClr val="FFB100"/>
          </a:solidFill>
          <a:ln/>
        </p:spPr>
      </p:sp>
      <p:sp>
        <p:nvSpPr>
          <p:cNvPr id="3" name="Text 1"/>
          <p:cNvSpPr/>
          <p:nvPr/>
        </p:nvSpPr>
        <p:spPr>
          <a:xfrm>
            <a:off x="2496312" y="146304"/>
            <a:ext cx="8641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spc="10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מאיפה התחלנו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76072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התהליך הישן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854135" y="1691640"/>
            <a:ext cx="2880360" cy="3566160"/>
          </a:xfrm>
          <a:prstGeom prst="roundRect">
            <a:avLst>
              <a:gd name="adj" fmla="val 2540"/>
            </a:avLst>
          </a:prstGeom>
          <a:solidFill>
            <a:srgbClr val="EAF2FA"/>
          </a:solidFill>
          <a:ln w="12700">
            <a:solidFill>
              <a:srgbClr val="DEE1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F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048695" y="18745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082735" y="22402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המפתח מזין משתנים ב-UI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082735" y="2880360"/>
            <a:ext cx="24231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3949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9895" y="28803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chaos-ci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082735" y="3502152"/>
            <a:ext cx="24231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3949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9895" y="350215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cflow-cd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082735" y="4123944"/>
            <a:ext cx="24231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3949A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19895" y="4123944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deploy-cd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351215" y="3456432"/>
            <a:ext cx="502920" cy="0"/>
          </a:xfrm>
          <a:prstGeom prst="line">
            <a:avLst/>
          </a:prstGeom>
          <a:noFill/>
          <a:ln w="25400">
            <a:solidFill>
              <a:srgbClr val="5B6572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105095" y="1691640"/>
            <a:ext cx="3246120" cy="3566160"/>
          </a:xfrm>
          <a:prstGeom prst="roundRect">
            <a:avLst>
              <a:gd name="adj" fmla="val 2254"/>
            </a:avLst>
          </a:prstGeom>
          <a:solidFill>
            <a:srgbClr val="F0F4F8"/>
          </a:solidFill>
          <a:ln w="12700">
            <a:solidFill>
              <a:srgbClr val="DEE1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F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711135" y="18745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333695" y="237744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פרויקט Nx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333695" y="2761488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קובץ .gitlab-ci.yml ראשי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33695" y="3200400"/>
            <a:ext cx="278892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מופעל על ידי פרויקט ה-CD שבו המפתח השתמש. קורא את המשתנים שקיבל, ולפיהם כולל (include) את קובץ ה-.gitlab-ci.yml של האפליקציה הרלוונטית.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602175" y="3456432"/>
            <a:ext cx="502920" cy="0"/>
          </a:xfrm>
          <a:prstGeom prst="line">
            <a:avLst/>
          </a:prstGeom>
          <a:noFill/>
          <a:ln w="25400">
            <a:solidFill>
              <a:srgbClr val="5B6572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87375" y="1691640"/>
            <a:ext cx="4114800" cy="3566160"/>
          </a:xfrm>
          <a:prstGeom prst="roundRect">
            <a:avLst>
              <a:gd name="adj" fmla="val 2051"/>
            </a:avLst>
          </a:prstGeom>
          <a:solidFill>
            <a:srgbClr val="1B1F3B"/>
          </a:solidFill>
          <a:ln/>
          <a:effectLst>
            <a:outerShdw sx="100000" sy="100000" kx="0" ky="0" algn="bl" rotWithShape="0" blurRad="76200" dist="25400" dir="5400000">
              <a:srgbClr val="9AA5AF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916375" y="18745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FE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5975" y="23774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קובץ ה-.gitlab-ci.yml של פרויקט האפליקציה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15975" y="301752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נכלל בהרצת ה-pipeline של Nx. מכיל את jobs הבנייה והפריסה של האפליקציה, שעכשיו רצים בפועל.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15975" y="41605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i="1" dirty="0">
                <a:solidFill>
                  <a:srgbClr val="6FE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התוצאה: השירות הנבחר נבנה ונפרס לסביבה המשויכת לפרויקט ה-CD שבו נעשה שימוש בשלב 1.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5486400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FFF5EC"/>
          </a:solidFill>
          <a:ln w="12700">
            <a:solidFill>
              <a:srgbClr val="F0C6A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F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31520" y="5486400"/>
            <a:ext cx="10698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נקודות כאב: משתנים ידניים בכל הרצה, כל push עלול לבנות הכול מחדש ללא קשר לשינוי בפועל, ולוגיקת ה-pipeline משוכפלת בכל אפליקציה במקום להיות משותפת.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416552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רה-ארגון ה-CI/CD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26080" y="4206240"/>
            <a:ext cx="5669280" cy="5669280"/>
          </a:xfrm>
          <a:prstGeom prst="ellipse">
            <a:avLst/>
          </a:prstGeom>
          <a:solidFill>
            <a:srgbClr val="3949AB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645920"/>
            <a:ext cx="3291840" cy="3291840"/>
          </a:xfrm>
          <a:prstGeom prst="ellipse">
            <a:avLst/>
          </a:prstGeom>
          <a:solidFill>
            <a:srgbClr val="FFB100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265408" y="219456"/>
            <a:ext cx="118872" cy="118872"/>
          </a:xfrm>
          <a:prstGeom prst="ellipse">
            <a:avLst/>
          </a:prstGeom>
          <a:solidFill>
            <a:srgbClr val="FFB100"/>
          </a:solidFill>
          <a:ln/>
        </p:spPr>
      </p:sp>
      <p:sp>
        <p:nvSpPr>
          <p:cNvPr id="5" name="Text 3"/>
          <p:cNvSpPr/>
          <p:nvPr/>
        </p:nvSpPr>
        <p:spPr>
          <a:xfrm>
            <a:off x="2496312" y="146304"/>
            <a:ext cx="8641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spc="100" kern="0" dirty="0">
                <a:solidFill>
                  <a:srgbClr val="6FE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למה אנחנו משנים את זה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76072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מעבר למודל GitOps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248095" y="1691640"/>
            <a:ext cx="5394960" cy="3977640"/>
          </a:xfrm>
          <a:prstGeom prst="roundRect">
            <a:avLst>
              <a:gd name="adj" fmla="val 1839"/>
            </a:avLst>
          </a:prstGeom>
          <a:solidFill>
            <a:srgbClr val="2C3766"/>
          </a:solidFill>
          <a:ln/>
          <a:effectLst>
            <a:outerShdw sx="100000" sy="100000" kx="0" ky="0" algn="bl" rotWithShape="0" blurRad="76200" dist="25400" dir="5400000">
              <a:srgbClr val="9AA5AF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68135" y="1920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לפני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68135" y="237744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צינורות העבודה פעלו ישירות על ה-cluster. מה שבאמת רץ ב-OpenShift היה קיים רק בהיסטוריית ריצות ה-deploy — ולא היה כתוב במקום קבוע וניתן לסקירה.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33095" y="1691640"/>
            <a:ext cx="5394960" cy="3977640"/>
          </a:xfrm>
          <a:prstGeom prst="roundRect">
            <a:avLst>
              <a:gd name="adj" fmla="val 1839"/>
            </a:avLst>
          </a:prstGeom>
          <a:solidFill>
            <a:srgbClr val="00A896"/>
          </a:solidFill>
          <a:ln/>
          <a:effectLst>
            <a:outerShdw sx="100000" sy="100000" kx="0" ky="0" algn="bl" rotWithShape="0" blurRad="76200" dist="25400" dir="5400000">
              <a:srgbClr val="9AA5AF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53135" y="1920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אחרי — GitOps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53135" y="2377440"/>
            <a:ext cx="4846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פרויקט ה-Helm הוא כעת מקור האמת הדקלרטיבי. ה-pipeline שלנו מוביל את OpenShift בדיוק למה שמחובר שם — כרגע בגישת push. כל deploy הוא commit ל-Git: עם היסטוריה, ניתן לסקירה וניתן לשחזור, במקום פעולה אימפרטיבית בתוך pipeline.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57607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i="1" dirty="0">
                <a:solidFill>
                  <a:srgbClr val="9FB3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זו הסיבה האמיתית מאחורי הריפקטור — Nx affected ו-catdevops הם המנגנון שהופך את ה-commit ל-Helm על כל שינוי, למעשי. (כרגע זו גישת push דרך ה-pipeline שלנו; שכבת סנכרון מבוססת pull — ArgoCD — נמצאת במפת הדרכים. ראו "מבט קדימה".)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16552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רה-ארגון ה-CI/CD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65408" y="219456"/>
            <a:ext cx="118872" cy="118872"/>
          </a:xfrm>
          <a:prstGeom prst="ellipse">
            <a:avLst/>
          </a:prstGeom>
          <a:solidFill>
            <a:srgbClr val="FFB100"/>
          </a:solidFill>
          <a:ln/>
        </p:spPr>
      </p:sp>
      <p:sp>
        <p:nvSpPr>
          <p:cNvPr id="3" name="Text 1"/>
          <p:cNvSpPr/>
          <p:nvPr/>
        </p:nvSpPr>
        <p:spPr>
          <a:xfrm>
            <a:off x="2496312" y="146304"/>
            <a:ext cx="8641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spc="10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למה אנחנו משנים את זה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76072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הערכים ש-GitOps נותן לנו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202375" y="160020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EE1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F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957255" y="182880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3949AB"/>
          </a:solidFill>
          <a:ln/>
        </p:spPr>
      </p:sp>
      <p:sp>
        <p:nvSpPr>
          <p:cNvPr id="7" name="Text 5"/>
          <p:cNvSpPr/>
          <p:nvPr/>
        </p:nvSpPr>
        <p:spPr>
          <a:xfrm>
            <a:off x="10957255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30975" y="17830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מקור אמת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30975" y="2167128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שמחובר (committed) בפרויקט ה-Helm הוא מה שאמור לרוץ — בלי ניחושים ובלי ידע שבעל-פה.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7375" y="160020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EE1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F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242255" y="182880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3949AB"/>
          </a:solidFill>
          <a:ln/>
        </p:spPr>
      </p:sp>
      <p:sp>
        <p:nvSpPr>
          <p:cNvPr id="12" name="Text 10"/>
          <p:cNvSpPr/>
          <p:nvPr/>
        </p:nvSpPr>
        <p:spPr>
          <a:xfrm>
            <a:off x="5242255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5975" y="17830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גרסאות (Versioning)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15975" y="2167128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שינוי הוא commit ל-Git: היסטוריה מלאה של מה השתנה, מתי, ועל ידי מי.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02375" y="3127248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EE1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F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957255" y="335584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3949AB"/>
          </a:solidFill>
          <a:ln/>
        </p:spPr>
      </p:sp>
      <p:sp>
        <p:nvSpPr>
          <p:cNvPr id="17" name="Text 15"/>
          <p:cNvSpPr/>
          <p:nvPr/>
        </p:nvSpPr>
        <p:spPr>
          <a:xfrm>
            <a:off x="10957255" y="33558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30975" y="331012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נראות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430975" y="3694176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"מה פרוס, ואיפה" נענה על ידי קריאת קובץ — לא על ידי שאילת אנשים או חיפוש בלוגים.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7375" y="3127248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EE1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F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242255" y="335584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3949AB"/>
          </a:solidFill>
          <a:ln/>
        </p:spPr>
      </p:sp>
      <p:sp>
        <p:nvSpPr>
          <p:cNvPr id="22" name="Text 20"/>
          <p:cNvSpPr/>
          <p:nvPr/>
        </p:nvSpPr>
        <p:spPr>
          <a:xfrm>
            <a:off x="5242255" y="33558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5975" y="331012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התאוששות מאסון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15975" y="3694176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איבדתם cluster או namespace? פרויקט ה-Helm לבדו מספיק כדי לשחזר את המצב הרצוי מאפס.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02375" y="4654296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EE1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F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957255" y="4882896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3949AB"/>
          </a:solidFill>
          <a:ln/>
        </p:spPr>
      </p:sp>
      <p:sp>
        <p:nvSpPr>
          <p:cNvPr id="27" name="Text 25"/>
          <p:cNvSpPr/>
          <p:nvPr/>
        </p:nvSpPr>
        <p:spPr>
          <a:xfrm>
            <a:off x="10957255" y="48828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30975" y="4837176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ביקורת (audit) ותאימות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6430975" y="5221224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deploy הוא commit ל-Git הניתן לייחוס ולסקירה, במקום פעולת pipeline לא מתועדת.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7375" y="4654296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EE1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F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242255" y="4882896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3949AB"/>
          </a:solidFill>
          <a:ln/>
        </p:spPr>
      </p:sp>
      <p:sp>
        <p:nvSpPr>
          <p:cNvPr id="32" name="Text 30"/>
          <p:cNvSpPr/>
          <p:nvPr/>
        </p:nvSpPr>
        <p:spPr>
          <a:xfrm>
            <a:off x="5242255" y="48828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15975" y="4837176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סביבות עקביות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715975" y="5221224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אותו מנגנון דקלרטיבי בכל הסביבות — אוטומציה, טסט, פרודקשן — מבטל סטיות שנובעות מפעולות ידניות.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416552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רה-ארגון ה-CI/CD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657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65408" y="219456"/>
            <a:ext cx="118872" cy="118872"/>
          </a:xfrm>
          <a:prstGeom prst="ellipse">
            <a:avLst/>
          </a:prstGeom>
          <a:solidFill>
            <a:srgbClr val="FFB100"/>
          </a:solidFill>
          <a:ln/>
        </p:spPr>
      </p:sp>
      <p:sp>
        <p:nvSpPr>
          <p:cNvPr id="3" name="Text 1"/>
          <p:cNvSpPr/>
          <p:nvPr/>
        </p:nvSpPr>
        <p:spPr>
          <a:xfrm>
            <a:off x="2496312" y="146304"/>
            <a:ext cx="8641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spc="10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משתנה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76072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שלושה מרכיבי יסוד במודל החדש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46720" y="1691640"/>
            <a:ext cx="3429000" cy="379476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EE1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F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698480" y="19659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3949AB"/>
          </a:solidFill>
          <a:ln/>
        </p:spPr>
      </p:sp>
      <p:sp>
        <p:nvSpPr>
          <p:cNvPr id="7" name="Text 5"/>
          <p:cNvSpPr/>
          <p:nvPr/>
        </p:nvSpPr>
        <p:spPr>
          <a:xfrm>
            <a:off x="1069848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321040" y="265176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catdevops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321040" y="3154680"/>
            <a:ext cx="2880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ספריית CI/CD משותפת, בבעלות צוות ה-DevOps, נכללת (include) בראש כל .gitlab-ci.yml — גם ב-Nx repo וגם בפוליי-repos.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97680" y="1691640"/>
            <a:ext cx="3429000" cy="379476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EE1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F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949440" y="19659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694944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0" y="265176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Nx affected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72000" y="3154680"/>
            <a:ext cx="2880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push או MR מפעיל בדיקת nx affected. רק השירותים שבאמת השתנו נבנים — שום דבר אחר.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1691640"/>
            <a:ext cx="3429000" cy="379476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EE1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F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19659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B1F3B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2960" y="265176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אספקה מבוססת Helm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22960" y="3154680"/>
            <a:ext cx="2880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jobs הבנייה מבצעים commit לתגית ה-image החדשה ישירות לפרויקט ה-Helm. OpenShift משקף בדיוק את מה שמחובר שם.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416552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רה-ארגון ה-CI/CD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65408" y="219456"/>
            <a:ext cx="118872" cy="118872"/>
          </a:xfrm>
          <a:prstGeom prst="ellipse">
            <a:avLst/>
          </a:prstGeom>
          <a:solidFill>
            <a:srgbClr val="FFB100"/>
          </a:solidFill>
          <a:ln/>
        </p:spPr>
      </p:sp>
      <p:sp>
        <p:nvSpPr>
          <p:cNvPr id="3" name="Text 1"/>
          <p:cNvSpPr/>
          <p:nvPr/>
        </p:nvSpPr>
        <p:spPr>
          <a:xfrm>
            <a:off x="2496312" y="146304"/>
            <a:ext cx="8641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spc="10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צינור העבודה החדש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76072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מ-push ועד production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1240719" y="1508760"/>
            <a:ext cx="402336" cy="402336"/>
          </a:xfrm>
          <a:prstGeom prst="ellipse">
            <a:avLst/>
          </a:prstGeom>
          <a:solidFill>
            <a:srgbClr val="3949AB"/>
          </a:solidFill>
          <a:ln/>
        </p:spPr>
      </p:sp>
      <p:sp>
        <p:nvSpPr>
          <p:cNvPr id="6" name="Text 4"/>
          <p:cNvSpPr/>
          <p:nvPr/>
        </p:nvSpPr>
        <p:spPr>
          <a:xfrm>
            <a:off x="11240719" y="15087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595567" y="1481328"/>
            <a:ext cx="4480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או פתיחת MR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1481328"/>
            <a:ext cx="5943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בפרויקט ה-Nx, או בכל פוליי-repo שמשתמש ב-catdevops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441887" y="1911096"/>
            <a:ext cx="0" cy="201168"/>
          </a:xfrm>
          <a:prstGeom prst="line">
            <a:avLst/>
          </a:prstGeom>
          <a:noFill/>
          <a:ln w="19050">
            <a:solidFill>
              <a:srgbClr val="DEE1EC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1240719" y="2112264"/>
            <a:ext cx="402336" cy="402336"/>
          </a:xfrm>
          <a:prstGeom prst="ellipse">
            <a:avLst/>
          </a:prstGeom>
          <a:solidFill>
            <a:srgbClr val="3949AB"/>
          </a:solidFill>
          <a:ln/>
        </p:spPr>
      </p:sp>
      <p:sp>
        <p:nvSpPr>
          <p:cNvPr id="11" name="Text 9"/>
          <p:cNvSpPr/>
          <p:nvPr/>
        </p:nvSpPr>
        <p:spPr>
          <a:xfrm>
            <a:off x="11240719" y="211226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595567" y="2084832"/>
            <a:ext cx="4480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מריצים nx affected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" y="2084832"/>
            <a:ext cx="5943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השוואה מול הקומיט הקודם, או מול ה-branch היעד של ה-MR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1441887" y="2514600"/>
            <a:ext cx="0" cy="201168"/>
          </a:xfrm>
          <a:prstGeom prst="line">
            <a:avLst/>
          </a:prstGeom>
          <a:noFill/>
          <a:ln w="19050">
            <a:solidFill>
              <a:srgbClr val="DEE1EC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11240719" y="2715768"/>
            <a:ext cx="402336" cy="402336"/>
          </a:xfrm>
          <a:prstGeom prst="ellipse">
            <a:avLst/>
          </a:prstGeom>
          <a:solidFill>
            <a:srgbClr val="3949AB"/>
          </a:solidFill>
          <a:ln/>
        </p:spPr>
      </p:sp>
      <p:sp>
        <p:nvSpPr>
          <p:cNvPr id="16" name="Text 14"/>
          <p:cNvSpPr/>
          <p:nvPr/>
        </p:nvSpPr>
        <p:spPr>
          <a:xfrm>
            <a:off x="11240719" y="27157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595567" y="2688336"/>
            <a:ext cx="4480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נוצר pipeline דינמי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48640" y="2688336"/>
            <a:ext cx="5943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בנייה אחד לכל שירות מושפע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1441887" y="3118104"/>
            <a:ext cx="0" cy="201168"/>
          </a:xfrm>
          <a:prstGeom prst="line">
            <a:avLst/>
          </a:prstGeom>
          <a:noFill/>
          <a:ln w="19050">
            <a:solidFill>
              <a:srgbClr val="DEE1EC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11240719" y="3319272"/>
            <a:ext cx="402336" cy="402336"/>
          </a:xfrm>
          <a:prstGeom prst="ellipse">
            <a:avLst/>
          </a:prstGeom>
          <a:solidFill>
            <a:srgbClr val="3949AB"/>
          </a:solidFill>
          <a:ln/>
        </p:spPr>
      </p:sp>
      <p:sp>
        <p:nvSpPr>
          <p:cNvPr id="21" name="Text 19"/>
          <p:cNvSpPr/>
          <p:nvPr/>
        </p:nvSpPr>
        <p:spPr>
          <a:xfrm>
            <a:off x="11240719" y="33192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595567" y="3291840"/>
            <a:ext cx="4480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תגית מחוברת (committed) לפרויקט ה-Helm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48640" y="3291840"/>
            <a:ext cx="5943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branches/&lt;שם-branch-מומר&gt;/ — serviceName, image, tag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1441887" y="3721608"/>
            <a:ext cx="0" cy="201168"/>
          </a:xfrm>
          <a:prstGeom prst="line">
            <a:avLst/>
          </a:prstGeom>
          <a:noFill/>
          <a:ln w="19050">
            <a:solidFill>
              <a:srgbClr val="DEE1EC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11240719" y="3922776"/>
            <a:ext cx="402336" cy="402336"/>
          </a:xfrm>
          <a:prstGeom prst="ellipse">
            <a:avLst/>
          </a:prstGeom>
          <a:solidFill>
            <a:srgbClr val="3949AB"/>
          </a:solidFill>
          <a:ln/>
        </p:spPr>
      </p:sp>
      <p:sp>
        <p:nvSpPr>
          <p:cNvPr id="26" name="Text 24"/>
          <p:cNvSpPr/>
          <p:nvPr/>
        </p:nvSpPr>
        <p:spPr>
          <a:xfrm>
            <a:off x="11240719" y="392277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595567" y="3895344"/>
            <a:ext cx="4480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המפתח בוחר סביבה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48640" y="3895344"/>
            <a:ext cx="5943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בחירה ידנית — האפשרויות תלויות ב-branch (feature / preprod / master)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1441887" y="4325112"/>
            <a:ext cx="0" cy="201168"/>
          </a:xfrm>
          <a:prstGeom prst="line">
            <a:avLst/>
          </a:prstGeom>
          <a:noFill/>
          <a:ln w="19050">
            <a:solidFill>
              <a:srgbClr val="DEE1EC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11240719" y="4526280"/>
            <a:ext cx="402336" cy="402336"/>
          </a:xfrm>
          <a:prstGeom prst="ellipse">
            <a:avLst/>
          </a:prstGeom>
          <a:solidFill>
            <a:srgbClr val="3949AB"/>
          </a:solidFill>
          <a:ln/>
        </p:spPr>
      </p:sp>
      <p:sp>
        <p:nvSpPr>
          <p:cNvPr id="31" name="Text 29"/>
          <p:cNvSpPr/>
          <p:nvPr/>
        </p:nvSpPr>
        <p:spPr>
          <a:xfrm>
            <a:off x="11240719" y="45262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595567" y="4498848"/>
            <a:ext cx="4480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הפריסה מריץ helm upgrade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548640" y="4498848"/>
            <a:ext cx="5943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רק לשירותים שהשתנו — OpenShift משקף את ה-commit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1441887" y="4928616"/>
            <a:ext cx="0" cy="201168"/>
          </a:xfrm>
          <a:prstGeom prst="line">
            <a:avLst/>
          </a:prstGeom>
          <a:noFill/>
          <a:ln w="19050">
            <a:solidFill>
              <a:srgbClr val="DEE1EC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11240719" y="5129784"/>
            <a:ext cx="402336" cy="402336"/>
          </a:xfrm>
          <a:prstGeom prst="ellipse">
            <a:avLst/>
          </a:prstGeom>
          <a:solidFill>
            <a:srgbClr val="FFB100"/>
          </a:solidFill>
          <a:ln/>
        </p:spPr>
      </p:sp>
      <p:sp>
        <p:nvSpPr>
          <p:cNvPr id="36" name="Text 34"/>
          <p:cNvSpPr/>
          <p:nvPr/>
        </p:nvSpPr>
        <p:spPr>
          <a:xfrm>
            <a:off x="11240719" y="512978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6595567" y="5102352"/>
            <a:ext cx="4480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רצים טסטים אוטומטיים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548640" y="5102352"/>
            <a:ext cx="5943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קטגוריות ברירת מחדל, אוטומטית, בפריסה לסביבת אוטומציה/QA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416552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רה-ארגון ה-CI/CD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657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65408" y="219456"/>
            <a:ext cx="118872" cy="118872"/>
          </a:xfrm>
          <a:prstGeom prst="ellipse">
            <a:avLst/>
          </a:prstGeom>
          <a:solidFill>
            <a:srgbClr val="FFB100"/>
          </a:solidFill>
          <a:ln/>
        </p:spPr>
      </p:sp>
      <p:sp>
        <p:nvSpPr>
          <p:cNvPr id="3" name="Text 1"/>
          <p:cNvSpPr/>
          <p:nvPr/>
        </p:nvSpPr>
        <p:spPr>
          <a:xfrm>
            <a:off x="2496312" y="146304"/>
            <a:ext cx="8641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spc="10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צינור העבודה החדש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76072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ספרייה אחת, הרבה repos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248095" y="1645920"/>
            <a:ext cx="539496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EE1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F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568135" y="1828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catdevops לא רק ב-Nx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568135" y="228600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פוליי-repos — repos עצמאיים מחוץ למונו-repo של Nx — מאמצים גם הם את catdevops. כל push שם מפעיל את אותה התנהגות: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68135" y="3063240"/>
            <a:ext cx="4846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בנייה רצה עם כל push</a:t>
            </a:r>
            <a:endParaRPr lang="en-US" sz="1300" dirty="0"/>
          </a:p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תגית ה-image מחוברת (committed) לפרויקט ה-Helm, באותו מבנה תיקיות לפי branch</a:t>
            </a:r>
            <a:endParaRPr lang="en-US" sz="1300" dirty="0"/>
          </a:p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המפתח בוחר סביבה בהמשך, בדיוק כמו בתהליך של Nx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33095" y="1645920"/>
            <a:ext cx="5394960" cy="4114800"/>
          </a:xfrm>
          <a:prstGeom prst="roundRect">
            <a:avLst>
              <a:gd name="adj" fmla="val 1778"/>
            </a:avLst>
          </a:prstGeom>
          <a:solidFill>
            <a:srgbClr val="1B1F3B"/>
          </a:solidFill>
          <a:ln/>
          <a:effectLst>
            <a:outerShdw sx="100000" sy="100000" kx="0" ky="0" algn="bl" rotWithShape="0" blurRad="76200" dist="25400" dir="5400000">
              <a:srgbClr val="9AA5AF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53135" y="1828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FC9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חשוב לשמור על שמות branch זהים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53135" y="228600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כשפיצ'ר כולל שינויים גם ב-Nx repo וגם בפוליי-repo, יש להשתמש באותו שם branch בשניהם.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53135" y="2971800"/>
            <a:ext cx="4846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למה: כל repo מבצע commit לשירותים שלו לאותה תיקיית branches/&lt;branch&gt;/ בפרויקט ה-Helm. שמות תואמים אומרים ששני הצדדים ינחתו יחד — שמות לא תואמים אומרים ששירותי הפיצ'ר שלכם יתפצלו לשתי תיקיות שונות, ולא ייפרסו כיחידה אחת.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416552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רה-ארגון ה-CI/CD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65408" y="219456"/>
            <a:ext cx="118872" cy="118872"/>
          </a:xfrm>
          <a:prstGeom prst="ellipse">
            <a:avLst/>
          </a:prstGeom>
          <a:solidFill>
            <a:srgbClr val="FFB100"/>
          </a:solidFill>
          <a:ln/>
        </p:spPr>
      </p:sp>
      <p:sp>
        <p:nvSpPr>
          <p:cNvPr id="3" name="Text 1"/>
          <p:cNvSpPr/>
          <p:nvPr/>
        </p:nvSpPr>
        <p:spPr>
          <a:xfrm>
            <a:off x="2496312" y="146304"/>
            <a:ext cx="8641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spc="10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שלב 1–2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76072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זיהוי מה באמת השתנה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248095" y="1645920"/>
            <a:ext cx="539496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EE1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F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568135" y="18745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אין MR פתוח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568135" y="233172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nx affected משווה מול הקומיט הקודם ב-branch.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568135" y="3383280"/>
            <a:ext cx="4754880" cy="0"/>
          </a:xfrm>
          <a:prstGeom prst="line">
            <a:avLst/>
          </a:prstGeom>
          <a:noFill/>
          <a:ln w="12700">
            <a:solidFill>
              <a:srgbClr val="DEE1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68135" y="35661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יש MR פתוח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68135" y="402336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nx affected משווה מול ה-branch היעד של ה-MR.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568135" y="493776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i="1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התוצאה: נוצר pipeline דינמי עם job בנייה אחד בדיוק לכל שירות מושפע — לא יותר.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33095" y="1645920"/>
            <a:ext cx="5394960" cy="4023360"/>
          </a:xfrm>
          <a:prstGeom prst="roundRect">
            <a:avLst>
              <a:gd name="adj" fmla="val 1818"/>
            </a:avLst>
          </a:prstGeom>
          <a:solidFill>
            <a:srgbClr val="1B1F3B"/>
          </a:solidFill>
          <a:ln/>
          <a:effectLst>
            <a:outerShdw sx="100000" sy="100000" kx="0" ky="0" algn="bl" rotWithShape="0" blurRad="76200" dist="25400" dir="5400000">
              <a:srgbClr val="9AA5AF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53135" y="18745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6FE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דוגמה: 5 שירותים במונו-repo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53135" y="2377440"/>
            <a:ext cx="4754880" cy="566928"/>
          </a:xfrm>
          <a:prstGeom prst="roundRect">
            <a:avLst>
              <a:gd name="adj" fmla="val 9677"/>
            </a:avLst>
          </a:prstGeom>
          <a:solidFill>
            <a:srgbClr val="00A896"/>
          </a:solidFill>
          <a:ln w="12700">
            <a:solidFill>
              <a:srgbClr val="6FE7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36015" y="237744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billing-service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962095" y="2377440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050" b="1" dirty="0">
                <a:solidFill>
                  <a:srgbClr val="6FE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מושפע ← בנייה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53135" y="3035808"/>
            <a:ext cx="4754880" cy="566928"/>
          </a:xfrm>
          <a:prstGeom prst="roundRect">
            <a:avLst>
              <a:gd name="adj" fmla="val 9677"/>
            </a:avLst>
          </a:prstGeom>
          <a:solidFill>
            <a:srgbClr val="2C3766"/>
          </a:solidFill>
          <a:ln w="12700">
            <a:solidFill>
              <a:srgbClr val="3C47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36015" y="3035808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auth-service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962095" y="3035808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0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ללא שינוי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53135" y="3694176"/>
            <a:ext cx="4754880" cy="566928"/>
          </a:xfrm>
          <a:prstGeom prst="roundRect">
            <a:avLst>
              <a:gd name="adj" fmla="val 9677"/>
            </a:avLst>
          </a:prstGeom>
          <a:solidFill>
            <a:srgbClr val="00A896"/>
          </a:solidFill>
          <a:ln w="12700">
            <a:solidFill>
              <a:srgbClr val="6FE7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36015" y="3694176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notification-service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962095" y="3694176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050" b="1" dirty="0">
                <a:solidFill>
                  <a:srgbClr val="6FE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מושפע ← בנייה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53135" y="4352544"/>
            <a:ext cx="4754880" cy="566928"/>
          </a:xfrm>
          <a:prstGeom prst="roundRect">
            <a:avLst>
              <a:gd name="adj" fmla="val 9677"/>
            </a:avLst>
          </a:prstGeom>
          <a:solidFill>
            <a:srgbClr val="2C3766"/>
          </a:solidFill>
          <a:ln w="12700">
            <a:solidFill>
              <a:srgbClr val="3C477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36015" y="4352544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reporting-service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962095" y="4352544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0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ללא שינוי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53135" y="5010912"/>
            <a:ext cx="4754880" cy="566928"/>
          </a:xfrm>
          <a:prstGeom prst="roundRect">
            <a:avLst>
              <a:gd name="adj" fmla="val 9677"/>
            </a:avLst>
          </a:prstGeom>
          <a:solidFill>
            <a:srgbClr val="2C3766"/>
          </a:solidFill>
          <a:ln w="12700">
            <a:solidFill>
              <a:srgbClr val="3C477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36015" y="5010912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gateway-service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962095" y="5010912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0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ללא שינוי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416552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רה-ארגון ה-CI/CD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65408" y="219456"/>
            <a:ext cx="118872" cy="118872"/>
          </a:xfrm>
          <a:prstGeom prst="ellipse">
            <a:avLst/>
          </a:prstGeom>
          <a:solidFill>
            <a:srgbClr val="FFB100"/>
          </a:solidFill>
          <a:ln/>
        </p:spPr>
      </p:sp>
      <p:sp>
        <p:nvSpPr>
          <p:cNvPr id="3" name="Text 1"/>
          <p:cNvSpPr/>
          <p:nvPr/>
        </p:nvSpPr>
        <p:spPr>
          <a:xfrm>
            <a:off x="2496312" y="146304"/>
            <a:ext cx="8641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spc="10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שלב 3–4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76072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בנייה, תיוג, ו-commit ל-Helm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שירות מושפע מקבל job בנייה משלו. בהצלחה, ה-job כותב את תגית ה-image החדשה ישירות לפרויקט ה-Helm — זה מה ש-OpenShift משקף, וממנו ה-deploy יקרא.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39535" y="2286000"/>
            <a:ext cx="530352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EE1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F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13855" y="248716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מבנה פרויקט ה-Helm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613855" y="3017520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branches/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13855" y="3346704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94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feature-x/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13855" y="3675888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values.yaml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13855" y="416052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שם ה-branch מומר (slugified) לשם תיקייה תקין (למשל feature/x ← feature-x). אותה תיקייה משותפת ל-Nx repo ולכל פוליי-repo על אותו branch.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33095" y="2286000"/>
            <a:ext cx="5532120" cy="3383280"/>
          </a:xfrm>
          <a:prstGeom prst="roundRect">
            <a:avLst>
              <a:gd name="adj" fmla="val 2162"/>
            </a:avLst>
          </a:prstGeom>
          <a:solidFill>
            <a:srgbClr val="1B1F3B"/>
          </a:solidFill>
          <a:ln/>
          <a:effectLst>
            <a:outerShdw sx="100000" sy="100000" kx="0" ky="0" algn="bl" rotWithShape="0" blurRad="76200" dist="25400" dir="5400000">
              <a:srgbClr val="9AA5AF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07415" y="248716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6FE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ערכים מחוברים (committed)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07415" y="30632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FD3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serviceName: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544775" y="30632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billing-service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07415" y="36118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FD3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image: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544775" y="36118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registry/billing-service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7415" y="41605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FD3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tag: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544775" y="41605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a3f9c21 (commit SHA)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07415" y="49377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בנייה אחד = שירות אחד = commit אחד עם התגית שלו. שירותים שלא נגעו בהם לעולם לא נבנים ולא מתויגים מחדש.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416552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רה-ארגון ה-CI/CD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65408" y="219456"/>
            <a:ext cx="118872" cy="118872"/>
          </a:xfrm>
          <a:prstGeom prst="ellipse">
            <a:avLst/>
          </a:prstGeom>
          <a:solidFill>
            <a:srgbClr val="FFB100"/>
          </a:solidFill>
          <a:ln/>
        </p:spPr>
      </p:sp>
      <p:sp>
        <p:nvSpPr>
          <p:cNvPr id="3" name="Text 1"/>
          <p:cNvSpPr/>
          <p:nvPr/>
        </p:nvSpPr>
        <p:spPr>
          <a:xfrm>
            <a:off x="2496312" y="146304"/>
            <a:ext cx="8641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spc="10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הדרך לפרודקשן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76072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בנייה טרייה, לא העתקה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images של dev/test ו-images של פרודקשן חיים ב-repos נפרדים ב-Artifactory — כך שפרודקשן הוא לא עותק מקודם (promoted) של artifact מ-dev, אלא בנייה נפרדת.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339535" y="2148840"/>
            <a:ext cx="530352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EE1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F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13855" y="23774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אוטומציה / טסט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613855" y="276148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ענפי feature/* ו-preprod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613855" y="320040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תגית ה-image = ה-commit SHA של אותו branch. נדחף ל-repo של dev ב-Artifactory.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13855" y="4114800"/>
            <a:ext cx="4754880" cy="0"/>
          </a:xfrm>
          <a:prstGeom prst="line">
            <a:avLst/>
          </a:prstGeom>
          <a:noFill/>
          <a:ln w="12700">
            <a:solidFill>
              <a:srgbClr val="DEE1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13855" y="42976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פרודקשן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13855" y="468172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ענף master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13855" y="507492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מיזוג ל-master מפעיל בנייה טרייה של אותו commit — image חדש, מתויג עם ה-commit SHA של master, נדחף ל-repo של פרודקשן ב-Artifactory.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33095" y="2148840"/>
            <a:ext cx="5532120" cy="3566160"/>
          </a:xfrm>
          <a:prstGeom prst="roundRect">
            <a:avLst>
              <a:gd name="adj" fmla="val 2051"/>
            </a:avLst>
          </a:prstGeom>
          <a:solidFill>
            <a:srgbClr val="1B1F3B"/>
          </a:solidFill>
          <a:ln/>
          <a:effectLst>
            <a:outerShdw sx="100000" sy="100000" kx="0" ky="0" algn="bl" rotWithShape="0" blurRad="76200" dist="25400" dir="5400000">
              <a:srgbClr val="9AA5AF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07415" y="23774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6FE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למה זה חשוב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07415" y="288036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E7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פרודקשן תמיד מריץ image שנבנה במיוחד מהקוד המדויק שנמצא ב-master — לעולם לא artifact של dev שקיבל תווית מחדש</a:t>
            </a:r>
            <a:endParaRPr lang="en-US" sz="1200" dirty="0"/>
          </a:p>
          <a:p>
            <a:pPr rtl="1" algn="r"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E7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images של dev ושל פרודקשן מופרדים פיזית ב-Artifactory, כך שאין דרך לפרוס בטעות image מ-repo של dev לפרודקשן</a:t>
            </a:r>
            <a:endParaRPr lang="en-US" sz="1200" dirty="0"/>
          </a:p>
          <a:p>
            <a:pPr rtl="1" algn="r"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E7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הפשרה: זו גישת "בנייה מחדש לפרודקשן", לא "בנייה אחת, קידום לכל מקום" — שווה לדעת אם משווים למודלים אחרים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16552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רה-ארגון ה-CI/CD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65408" y="219456"/>
            <a:ext cx="118872" cy="118872"/>
          </a:xfrm>
          <a:prstGeom prst="ellipse">
            <a:avLst/>
          </a:prstGeom>
          <a:solidFill>
            <a:srgbClr val="FFB100"/>
          </a:solidFill>
          <a:ln/>
        </p:spPr>
      </p:sp>
      <p:sp>
        <p:nvSpPr>
          <p:cNvPr id="3" name="Text 1"/>
          <p:cNvSpPr/>
          <p:nvPr/>
        </p:nvSpPr>
        <p:spPr>
          <a:xfrm>
            <a:off x="2496312" y="146304"/>
            <a:ext cx="8641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spc="10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שלב 5–6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76072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בוחרים לאן זה הולך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אילו סביבות זמינות לבחירה תלוי ב-branch שממנו פורסים — הכול עדיין מופעל ידנית.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93615" y="2057400"/>
            <a:ext cx="69494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EE1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F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304727" y="2286000"/>
            <a:ext cx="109728" cy="594360"/>
          </a:xfrm>
          <a:prstGeom prst="roundRect">
            <a:avLst>
              <a:gd name="adj" fmla="val 16667"/>
            </a:avLst>
          </a:prstGeom>
          <a:solidFill>
            <a:srgbClr val="3949AB"/>
          </a:solidFill>
          <a:ln/>
        </p:spPr>
      </p:sp>
      <p:sp>
        <p:nvSpPr>
          <p:cNvPr id="8" name="Text 6"/>
          <p:cNvSpPr/>
          <p:nvPr/>
        </p:nvSpPr>
        <p:spPr>
          <a:xfrm>
            <a:off x="5013655" y="222199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94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feature/* branches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13655" y="2606040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אוטומציה, טסט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693615" y="3310128"/>
            <a:ext cx="69494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EE1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F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1304727" y="3538728"/>
            <a:ext cx="109728" cy="594360"/>
          </a:xfrm>
          <a:prstGeom prst="roundRect">
            <a:avLst>
              <a:gd name="adj" fmla="val 16667"/>
            </a:avLst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5013655" y="3474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preprod branch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13655" y="3858768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אוטומציה (טסטים), אינטגרציה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693615" y="4562856"/>
            <a:ext cx="69494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EE1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F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1304727" y="4791456"/>
            <a:ext cx="109728" cy="594360"/>
          </a:xfrm>
          <a:prstGeom prst="roundRect">
            <a:avLst>
              <a:gd name="adj" fmla="val 16667"/>
            </a:avLst>
          </a:prstGeom>
          <a:solidFill>
            <a:srgbClr val="1B1F3B"/>
          </a:solidFill>
          <a:ln/>
        </p:spPr>
      </p:sp>
      <p:sp>
        <p:nvSpPr>
          <p:cNvPr id="16" name="Text 14"/>
          <p:cNvSpPr/>
          <p:nvPr/>
        </p:nvSpPr>
        <p:spPr>
          <a:xfrm>
            <a:off x="5013655" y="472744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master branch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13655" y="5111496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פרודקשן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33095" y="2057400"/>
            <a:ext cx="3886200" cy="3977640"/>
          </a:xfrm>
          <a:prstGeom prst="roundRect">
            <a:avLst>
              <a:gd name="adj" fmla="val 1882"/>
            </a:avLst>
          </a:prstGeom>
          <a:solidFill>
            <a:srgbClr val="3949AB"/>
          </a:solidFill>
          <a:ln/>
          <a:effectLst>
            <a:outerShdw sx="100000" sy="100000" kx="0" ky="0" algn="bl" rotWithShape="0" blurRad="76200" dist="25400" dir="5400000">
              <a:srgbClr val="9AA5AF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07415" y="22860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ה-job של הפריסה עושה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07415" y="2743200"/>
            <a:ext cx="34290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7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המפתח לוחץ ידנית על הסביבה הרצויה, מתוך האפשרויות הזמינות ל-branch הזה</a:t>
            </a:r>
            <a:endParaRPr lang="en-US" sz="1200" dirty="0"/>
          </a:p>
          <a:p>
            <a:pPr rtl="1" algn="r"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7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הפריסה מפעיל את ה-job המתאים בפרויקט ה-Helm</a:t>
            </a:r>
            <a:endParaRPr lang="en-US" sz="1200" dirty="0"/>
          </a:p>
          <a:p>
            <a:pPr rtl="1" algn="r"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7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מריץ helm upgrade עם התגיות שחוברו (committed) ל-branch הזה</a:t>
            </a:r>
            <a:endParaRPr lang="en-US" sz="1200" dirty="0"/>
          </a:p>
          <a:p>
            <a:pPr rtl="1" algn="r"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7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נוגע רק בשירותים שבאמת נבנו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416552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רה-ארגון ה-CI/CD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65408" y="219456"/>
            <a:ext cx="118872" cy="118872"/>
          </a:xfrm>
          <a:prstGeom prst="ellipse">
            <a:avLst/>
          </a:prstGeom>
          <a:solidFill>
            <a:srgbClr val="FFB100"/>
          </a:solidFill>
          <a:ln/>
        </p:spPr>
      </p:sp>
      <p:sp>
        <p:nvSpPr>
          <p:cNvPr id="3" name="Text 1"/>
          <p:cNvSpPr/>
          <p:nvPr/>
        </p:nvSpPr>
        <p:spPr>
          <a:xfrm>
            <a:off x="2496312" y="146304"/>
            <a:ext cx="8641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spc="10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שלב 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76072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טסטים אוטומטיים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1064240" cy="1965960"/>
          </a:xfrm>
          <a:prstGeom prst="roundRect">
            <a:avLst>
              <a:gd name="adj" fmla="val 3721"/>
            </a:avLst>
          </a:prstGeom>
          <a:solidFill>
            <a:srgbClr val="EAF2FA"/>
          </a:solidFill>
          <a:ln w="12700">
            <a:solidFill>
              <a:srgbClr val="DEE1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F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607040" y="196596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3949AB"/>
          </a:solidFill>
          <a:ln/>
        </p:spPr>
      </p:sp>
      <p:sp>
        <p:nvSpPr>
          <p:cNvPr id="7" name="Text 5"/>
          <p:cNvSpPr/>
          <p:nvPr/>
        </p:nvSpPr>
        <p:spPr>
          <a:xfrm>
            <a:off x="1060704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68680" y="2011680"/>
            <a:ext cx="9509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5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פריסה לסביבת אוטומציה/QA מריצה אוטומטית את 3 קטגוריות הטסט ברירת המחדל שלנו.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68680" y="2606040"/>
            <a:ext cx="9326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פריסה לטסט או לפרודקשן לא מפעילה בעצמה את חבילת האוטומציה — אותה נקודת הפעלה כמו בתהליך הישן של chaos-ci.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11064240" cy="2331720"/>
          </a:xfrm>
          <a:prstGeom prst="roundRect">
            <a:avLst>
              <a:gd name="adj" fmla="val 3137"/>
            </a:avLst>
          </a:prstGeom>
          <a:solidFill>
            <a:srgbClr val="1B1F3B"/>
          </a:solidFill>
          <a:ln/>
          <a:effectLst>
            <a:outerShdw sx="100000" sy="100000" kx="0" ky="0" algn="bl" rotWithShape="0" blurRad="76200" dist="25400" dir="5400000">
              <a:srgbClr val="9AA5AF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40233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6FE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צריכים כיסוי מלא או קטגוריות מותאמות אישית?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4434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chaos-ci עדיין קיים בשביל זה. יש להיכנס ל-chaos-ci ו: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68680" y="484632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להזין את שם ה-branch שרוצים לפרוס  .1</a:t>
            </a:r>
            <a:endParaRPr lang="en-US" sz="1350" dirty="0"/>
          </a:p>
          <a:p>
            <a:pPr rtl="1" algn="r"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להזין את שם ה-branch של האוטומציה שמולו רוצים לבדוק  .2</a:t>
            </a:r>
            <a:endParaRPr lang="en-US" sz="1350" dirty="0"/>
          </a:p>
          <a:p>
            <a:pPr rtl="1" algn="r"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לבחור אילו קטגוריות להריץ — כולל את כולן, לא רק את 3 ברירות המחדל  .3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416552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רה-ארגון ה-CI/CD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480560"/>
            <a:ext cx="4937760" cy="4937760"/>
          </a:xfrm>
          <a:prstGeom prst="ellipse">
            <a:avLst/>
          </a:prstGeom>
          <a:solidFill>
            <a:srgbClr val="00A896">
              <a:alpha val="3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-2194560"/>
            <a:ext cx="4023360" cy="4023360"/>
          </a:xfrm>
          <a:prstGeom prst="ellipse">
            <a:avLst/>
          </a:prstGeom>
          <a:solidFill>
            <a:srgbClr val="FFB100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265408" y="219456"/>
            <a:ext cx="118872" cy="118872"/>
          </a:xfrm>
          <a:prstGeom prst="ellipse">
            <a:avLst/>
          </a:prstGeom>
          <a:solidFill>
            <a:srgbClr val="FFB100"/>
          </a:solidFill>
          <a:ln/>
        </p:spPr>
      </p:sp>
      <p:sp>
        <p:nvSpPr>
          <p:cNvPr id="5" name="Text 3"/>
          <p:cNvSpPr/>
          <p:nvPr/>
        </p:nvSpPr>
        <p:spPr>
          <a:xfrm>
            <a:off x="2496312" y="146304"/>
            <a:ext cx="8641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spc="100" kern="0" dirty="0">
                <a:solidFill>
                  <a:srgbClr val="6FE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עוד על chaos-ci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76072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מתי עוד משתמשים ב-chaos-ci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138160" y="1691640"/>
            <a:ext cx="3520440" cy="4160520"/>
          </a:xfrm>
          <a:prstGeom prst="roundRect">
            <a:avLst>
              <a:gd name="adj" fmla="val 2078"/>
            </a:avLst>
          </a:prstGeom>
          <a:solidFill>
            <a:srgbClr val="262B52"/>
          </a:solidFill>
          <a:ln w="12700">
            <a:solidFill>
              <a:srgbClr val="39407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89920" y="1965960"/>
            <a:ext cx="594360" cy="5943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10789920" y="194767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⇄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412480" y="274320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פריסה מקבילה של splash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412480" y="3383280"/>
            <a:ext cx="2971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CB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כשצריך לעקוף את ה-pipeline הרגיל ולפרוס גם את הרכיבים של splash (מערכת של צוות אחר, שלפעמים יש איתה ממשק) — מריצים את chaos-ci ידנית ונותנים לו את שם ה-feature branch שעליו עובדים.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43400" y="1691640"/>
            <a:ext cx="3520440" cy="4160520"/>
          </a:xfrm>
          <a:prstGeom prst="roundRect">
            <a:avLst>
              <a:gd name="adj" fmla="val 2078"/>
            </a:avLst>
          </a:prstGeom>
          <a:solidFill>
            <a:srgbClr val="262B52"/>
          </a:solidFill>
          <a:ln w="12700">
            <a:solidFill>
              <a:srgbClr val="39407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95160" y="1965960"/>
            <a:ext cx="594360" cy="594360"/>
          </a:xfrm>
          <a:prstGeom prst="ellipse">
            <a:avLst/>
          </a:prstGeom>
          <a:solidFill>
            <a:srgbClr val="3949AB"/>
          </a:solidFill>
          <a:ln/>
        </p:spPr>
      </p:sp>
      <p:sp>
        <p:nvSpPr>
          <p:cNvPr id="14" name="Text 12"/>
          <p:cNvSpPr/>
          <p:nvPr/>
        </p:nvSpPr>
        <p:spPr>
          <a:xfrm>
            <a:off x="6995160" y="194767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17720" y="274320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הוספת טסט לאוטומציה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4617720" y="3383280"/>
            <a:ext cx="2971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CB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כשמוסיפים טסט חדש לאוטומציה עצמה, אפשר להריץ מ-chaos-ci את כל קטגוריות האוטומציה על ה-feature branch — כדי לוודא שהטסט החדש עובד לפני שהוא מצטרף לריצה הרגילה.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1691640"/>
            <a:ext cx="3520440" cy="4160520"/>
          </a:xfrm>
          <a:prstGeom prst="roundRect">
            <a:avLst>
              <a:gd name="adj" fmla="val 2078"/>
            </a:avLst>
          </a:prstGeom>
          <a:solidFill>
            <a:srgbClr val="262B52"/>
          </a:solidFill>
          <a:ln w="12700">
            <a:solidFill>
              <a:srgbClr val="39407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1965960"/>
            <a:ext cx="594360" cy="594360"/>
          </a:xfrm>
          <a:prstGeom prst="ellipse">
            <a:avLst/>
          </a:prstGeom>
          <a:solidFill>
            <a:srgbClr val="FFB100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0" y="194767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☾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22960" y="274320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הרצת הלילה (nightly)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822960" y="3383280"/>
            <a:ext cx="2971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CB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הריצה הקבועה שלנו כל לילה מתבצעת דרך chaos-ci — זה אותו כלי שמריץ גם את הבדיקות היזומות וגם את הריצה האוטומטית התקופתית.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416552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רה-ארגון ה-CI/CD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65408" y="219456"/>
            <a:ext cx="118872" cy="118872"/>
          </a:xfrm>
          <a:prstGeom prst="ellipse">
            <a:avLst/>
          </a:prstGeom>
          <a:solidFill>
            <a:srgbClr val="FFB100"/>
          </a:solidFill>
          <a:ln/>
        </p:spPr>
      </p:sp>
      <p:sp>
        <p:nvSpPr>
          <p:cNvPr id="3" name="Text 1"/>
          <p:cNvSpPr/>
          <p:nvPr/>
        </p:nvSpPr>
        <p:spPr>
          <a:xfrm>
            <a:off x="2496312" y="146304"/>
            <a:ext cx="8641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spc="10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תפעול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76072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ביצוע rollback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אין כלי ייעודי ל-rollback — reversion הוא פשוט commit נוסף, וה-pipeline מתייחס אליו בדיוק כמו לכל שינוי אחר.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204143" y="2148840"/>
            <a:ext cx="438912" cy="43891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11204143" y="21488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882335" y="2130552"/>
            <a:ext cx="5257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מבצעים revert לקומיט ב-master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130552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revert רגיל, בדיוק כמו כל שינוי אחר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1204143" y="2788920"/>
            <a:ext cx="438912" cy="43891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11204143" y="27889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882335" y="2770632"/>
            <a:ext cx="5257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ה-push מפעיל את ה-pipeline הרגיל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2770632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על master, בדיוק כמו כל push אחר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1204143" y="3429000"/>
            <a:ext cx="438912" cy="43891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11204143" y="34290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882335" y="3410712"/>
            <a:ext cx="5257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nx affected מזהה את השירותים המושפעים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3410712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בהתאם למה שה-revert בפועל נוגע בו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1204143" y="4069080"/>
            <a:ext cx="438912" cy="43891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11204143" y="40690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882335" y="4050792"/>
            <a:ext cx="5257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רצה בנייה טרייה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4050792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שמייצרת image חדש עם תגית ה-SHA של קומיט ה-revert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1204143" y="4709160"/>
            <a:ext cx="438912" cy="43891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3" name="Text 21"/>
          <p:cNvSpPr/>
          <p:nvPr/>
        </p:nvSpPr>
        <p:spPr>
          <a:xfrm>
            <a:off x="11204143" y="47091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882335" y="4690872"/>
            <a:ext cx="5257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התגית מחוברת (committed) לפרויקט ה-Helm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4690872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אותו מנגנון branches/&lt;branch&gt;/ כרגיל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1204143" y="5349240"/>
            <a:ext cx="438912" cy="43891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7" name="Text 25"/>
          <p:cNvSpPr/>
          <p:nvPr/>
        </p:nvSpPr>
        <p:spPr>
          <a:xfrm>
            <a:off x="11204143" y="53492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882335" y="5330952"/>
            <a:ext cx="5257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הפריסה לפרודקשן ידנית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5330952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בדיוק כמו כל release אחר — בוחרים production ומריצים helm upgrade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608076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EAF2FA"/>
          </a:solidFill>
          <a:ln/>
          <a:effectLst>
            <a:outerShdw sx="100000" sy="100000" kx="0" ky="0" algn="bl" rotWithShape="0" blurRad="76200" dist="25400" dir="5400000">
              <a:srgbClr val="9AA5AF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22960" y="6080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i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המסר המרכזי: rollback הוא לא מערכת נפרדת ללמוד — זה אותו pipeline, מופעל על ידי אותו סוג commit.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416552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רה-ארגון ה-CI/CD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657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65408" y="219456"/>
            <a:ext cx="118872" cy="118872"/>
          </a:xfrm>
          <a:prstGeom prst="ellipse">
            <a:avLst/>
          </a:prstGeom>
          <a:solidFill>
            <a:srgbClr val="FFB100"/>
          </a:solidFill>
          <a:ln/>
        </p:spPr>
      </p:sp>
      <p:sp>
        <p:nvSpPr>
          <p:cNvPr id="3" name="Text 1"/>
          <p:cNvSpPr/>
          <p:nvPr/>
        </p:nvSpPr>
        <p:spPr>
          <a:xfrm>
            <a:off x="2496312" y="146304"/>
            <a:ext cx="8641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spc="10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סיכום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76072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לפני מול אחרי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0" y="1280160"/>
            <a:ext cx="4343400" cy="411480"/>
          </a:xfrm>
          <a:prstGeom prst="roundRect">
            <a:avLst>
              <a:gd name="adj" fmla="val 11111"/>
            </a:avLst>
          </a:prstGeom>
          <a:solidFill>
            <a:srgbClr val="E7EAF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0" y="1280160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לפני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4480560" cy="411480"/>
          </a:xfrm>
          <a:prstGeom prst="roundRect">
            <a:avLst>
              <a:gd name="adj" fmla="val 11111"/>
            </a:avLst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8016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אחרי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783080"/>
            <a:ext cx="109728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9372600" y="1783080"/>
            <a:ext cx="2039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הגדרות / הפעלה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120640" y="1783080"/>
            <a:ext cx="4160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משתנים שהוזנו ידנית ב-UI של GitLab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1783080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5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includes משותפים של catdevops + nx affected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372600" y="2441448"/>
            <a:ext cx="2039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היקף הבנייה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20640" y="2441448"/>
            <a:ext cx="4160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push בונה הכול מחדש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0080" y="2441448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5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רק שירותים מושפעים נבנים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3099816"/>
            <a:ext cx="109728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9372600" y="3099816"/>
            <a:ext cx="2039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מנגנון האספקה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20640" y="3099816"/>
            <a:ext cx="4160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פרויקטי CD נפרדים שפועלים ישירות על OpenShift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40080" y="3099816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5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פרויקט Helm אחד; OpenShift משקף כל commit (GitOps)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372600" y="3758184"/>
            <a:ext cx="2039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היקף ה-repos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20640" y="3758184"/>
            <a:ext cx="4160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רק מונו-repo של Nx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40080" y="3758184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5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גם Nx repo וגם פוליי-repos, אותו מנגנון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416552"/>
            <a:ext cx="109728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9372600" y="4416552"/>
            <a:ext cx="2039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בחירת סביבה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20640" y="4416552"/>
            <a:ext cx="4160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נקבע לפי איזה פרויקט CD רץ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40080" y="4416552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5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בחירה ידנית של סביבה, אותו pipeline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372600" y="5074920"/>
            <a:ext cx="2039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Rollback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20640" y="5074920"/>
            <a:ext cx="4160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revert ידני + הרצה ידנית מחדש של פרויקט ה-CD המתאים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40080" y="5074920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5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revert ב-master ← אותו pipeline אוטומטי ומנגנון ה-commit ל-Helm; פריסה ידנית כמו כל release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48640" y="5733288"/>
            <a:ext cx="109728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9372600" y="5733288"/>
            <a:ext cx="2039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טסטים אוטומטיים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120640" y="5733288"/>
            <a:ext cx="4160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רץ אחרי פריסת chaos-ci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40080" y="5733288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5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קטגוריות ברירת מחדל רצות אוטומטית אחרי פריסת אוטומציה/QA; chaos-ci עדיין זמין להרצות מלאות/מותאמות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416552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רה-ארגון ה-CI/CD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657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108960" y="4206240"/>
            <a:ext cx="5486400" cy="5486400"/>
          </a:xfrm>
          <a:prstGeom prst="ellipse">
            <a:avLst/>
          </a:prstGeom>
          <a:solidFill>
            <a:srgbClr val="3949AB">
              <a:alpha val="4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265408" y="219456"/>
            <a:ext cx="118872" cy="118872"/>
          </a:xfrm>
          <a:prstGeom prst="ellipse">
            <a:avLst/>
          </a:prstGeom>
          <a:solidFill>
            <a:srgbClr val="FFB100"/>
          </a:solidFill>
          <a:ln/>
        </p:spPr>
      </p:sp>
      <p:sp>
        <p:nvSpPr>
          <p:cNvPr id="4" name="Text 2"/>
          <p:cNvSpPr/>
          <p:nvPr/>
        </p:nvSpPr>
        <p:spPr>
          <a:xfrm>
            <a:off x="2496312" y="146304"/>
            <a:ext cx="8641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spc="100" kern="0" dirty="0">
                <a:solidFill>
                  <a:srgbClr val="6FE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מפת דרכים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76072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מבט קדימה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2C3766"/>
          </a:solidFill>
          <a:ln/>
          <a:effectLst>
            <a:outerShdw sx="100000" sy="100000" kx="0" ky="0" algn="bl" rotWithShape="0" blurRad="76200" dist="25400" dir="5400000">
              <a:srgbClr val="9AA5AF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652760" y="1993392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10652760" y="19933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1920240"/>
            <a:ext cx="9646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ArgoCD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2395728"/>
            <a:ext cx="9646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מעבר מאספקה מבוססת push לגישת GitOps אמיתית מבוססת pull: operator לסנכרון (reconciliation) שעוקב ברציפות אחרי פרויקט ה-Helm ומתקן סטיות אוטומטית — גם כאלה שנוצרו משינוי חיצוני ל-pipeline.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33756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2C3766"/>
          </a:solidFill>
          <a:ln/>
          <a:effectLst>
            <a:outerShdw sx="100000" sy="100000" kx="0" ky="0" algn="bl" rotWithShape="0" blurRad="76200" dist="25400" dir="5400000">
              <a:srgbClr val="9AA5AF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0652760" y="3593592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6FE7DD"/>
          </a:solidFill>
          <a:ln/>
        </p:spPr>
      </p:sp>
      <p:sp>
        <p:nvSpPr>
          <p:cNvPr id="13" name="Text 11"/>
          <p:cNvSpPr/>
          <p:nvPr/>
        </p:nvSpPr>
        <p:spPr>
          <a:xfrm>
            <a:off x="10652760" y="35935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2960" y="3520440"/>
            <a:ext cx="9646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סביבות דינמיות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2960" y="3995928"/>
            <a:ext cx="9646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הקמת סביבות אוטומציה וטסט על פי דרישה, לכל branch או MR — במקום לשתף קבוצה קבועה של סביבות. פחות תחרות על משאבים, בידוד טסטים נקי יותר.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5074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i="1" dirty="0">
                <a:solidFill>
                  <a:srgbClr val="9FB3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עוד ערך GitOps בהמשך הדרך — תוספות ושיפורים למפת הדרכים הזו יתקבלו בברכה.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416552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רה-ארגון ה-CI/CD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65408" y="219456"/>
            <a:ext cx="118872" cy="118872"/>
          </a:xfrm>
          <a:prstGeom prst="ellipse">
            <a:avLst/>
          </a:prstGeom>
          <a:solidFill>
            <a:srgbClr val="FFB100"/>
          </a:solidFill>
          <a:ln/>
        </p:spPr>
      </p:sp>
      <p:sp>
        <p:nvSpPr>
          <p:cNvPr id="3" name="Text 1"/>
          <p:cNvSpPr/>
          <p:nvPr/>
        </p:nvSpPr>
        <p:spPr>
          <a:xfrm>
            <a:off x="2496312" y="146304"/>
            <a:ext cx="8641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spc="10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משאבים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76072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ספריית catdevops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6424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EE1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F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771632" y="20116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3949AB"/>
          </a:solidFill>
          <a:ln/>
        </p:spPr>
      </p:sp>
      <p:sp>
        <p:nvSpPr>
          <p:cNvPr id="7" name="Text 5"/>
          <p:cNvSpPr/>
          <p:nvPr/>
        </p:nvSpPr>
        <p:spPr>
          <a:xfrm>
            <a:off x="10771632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 }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989320" y="2029968"/>
            <a:ext cx="4572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catdevops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" y="283464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ספריית CI/CD משותפת בבעלות צוות ה-DevOps שלנו — נכללת (include) בראש כל .gitlab-ci.yml, גם ב-Nx repo וגם בכל פוליי-repo, כדי לשמור על לוגיקת ה-pipeline במקום אחד.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3794760"/>
            <a:ext cx="10424160" cy="1554480"/>
          </a:xfrm>
          <a:prstGeom prst="roundRect">
            <a:avLst>
              <a:gd name="adj" fmla="val 4706"/>
            </a:avLst>
          </a:prstGeom>
          <a:solidFill>
            <a:srgbClr val="F5F6FA"/>
          </a:solidFill>
          <a:ln w="15240">
            <a:solidFill>
              <a:srgbClr val="DEE1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3977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תיעוד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43891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i="1" dirty="0">
                <a:solidFill>
                  <a:srgbClr val="5B65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להוסיף כאן קישור לתיעוד ]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68680" y="553212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צוות בעלים: DevOps  •  נכלל דרך: include בראש קובץ ה-.gitlab-ci.yml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416552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רה-ארגון ה-CI/CD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65408" y="219456"/>
            <a:ext cx="118872" cy="118872"/>
          </a:xfrm>
          <a:prstGeom prst="ellipse">
            <a:avLst/>
          </a:prstGeom>
          <a:solidFill>
            <a:srgbClr val="FFB100"/>
          </a:solidFill>
          <a:ln/>
        </p:spPr>
      </p:sp>
      <p:sp>
        <p:nvSpPr>
          <p:cNvPr id="3" name="Text 1"/>
          <p:cNvSpPr/>
          <p:nvPr/>
        </p:nvSpPr>
        <p:spPr>
          <a:xfrm>
            <a:off x="2496312" y="146304"/>
            <a:ext cx="8641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spc="10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איך מריצים את זה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76072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מדריך מהיר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1185855" y="160020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11185855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882335" y="1581912"/>
            <a:ext cx="5257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לבצע push לקומיט או לפתוח MR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1581912"/>
            <a:ext cx="5760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בפרויקט ה-Nx, או בפוליי-repo — להשתמש באותו שם branch בשניהם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1185855" y="237744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11185855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882335" y="2359152"/>
            <a:ext cx="5257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לעקוב אחרי ה-pipeline שנוצר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48640" y="2359152"/>
            <a:ext cx="5760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יכיל רק jobs לשירותים שבהם נגעתם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1185855" y="315468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11185855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882335" y="3136392"/>
            <a:ext cx="5257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לוודא שה-jobs של הבנייה הצליחו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3136392"/>
            <a:ext cx="5760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התגית מחוברת (committed) לפרויקט ה-Helm אוטומטית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1185855" y="393192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11185855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882335" y="3913632"/>
            <a:ext cx="5257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ללחוץ על הסביבה הרצויה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8640" y="3913632"/>
            <a:ext cx="5760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האפשרויות תלויות ב-branch שלכם — תמיד לחיצה ידנית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11185855" y="470916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2" name="Text 20"/>
          <p:cNvSpPr/>
          <p:nvPr/>
        </p:nvSpPr>
        <p:spPr>
          <a:xfrm>
            <a:off x="11185855" y="4709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882335" y="4690872"/>
            <a:ext cx="5257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לבדוק את הלוגים של job הפריסה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48640" y="4690872"/>
            <a:ext cx="5760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מאשר אילו שירותים עודכנו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1185855" y="548640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11185855" y="5486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882335" y="5468112"/>
            <a:ext cx="5257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בסביבת אוטומציה: 3 קטגוריות ברירת מחדל רצות אוטומטית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48640" y="5468112"/>
            <a:ext cx="5760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צריכים כיסוי מלא/מותאם? יש להשתמש ב-chaos-ci עם שם ה-branch שלכם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6172200"/>
            <a:ext cx="11064240" cy="18288"/>
          </a:xfrm>
          <a:prstGeom prst="roundRect">
            <a:avLst>
              <a:gd name="adj" fmla="val 400000"/>
            </a:avLst>
          </a:prstGeom>
          <a:solidFill>
            <a:srgbClr val="DEE1EC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i="1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המדריך הכתוב המלא, שלב אחר שלב, נמצא במסמך הנלווה.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416552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רה-ארגון ה-CI/CD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57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200400"/>
            <a:ext cx="5943600" cy="5943600"/>
          </a:xfrm>
          <a:prstGeom prst="ellipse">
            <a:avLst/>
          </a:prstGeom>
          <a:solidFill>
            <a:srgbClr val="3949AB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65176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שאלות?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5661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תיעוד, נתיבי תיקיות, ופתרון בעיות נמצאים במדריך הנלווה.</a:t>
            </a:r>
            <a:endParaRPr lang="en-US" sz="1500" dirty="0"/>
          </a:p>
          <a:p>
            <a:pPr rtl="1" algn="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ניתן לפנות בכל עת בערוץ #devops.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2026-07-16T11:08:08Z</dcterms:created>
  <dcterms:modified xsi:type="dcterms:W3CDTF">2026-07-16T11:08:08Z</dcterms:modified>
</cp:coreProperties>
</file>