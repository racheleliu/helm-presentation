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פתחו עם האיור — הוא ממחיש את הרעיון הליבתי: גרף שנראה תקין, עם checkmark שמאשר שהוא זהה ל-baseline. זה בדיוק מה שהכלי עושה.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עברו על סדר היום במהירות — דקה אחת לכל היותר.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הנקודה המרכזית: בדיקות פונקציונליות בודקות התנהגות, ויזואליות בודקות מראה. עבור גרפים — גרף יכול להחזיר נתונים נכונים אך להירנדר בצורה שגויה לחלוטין.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אלה רגרסיות ספציפיות לגרפים — אף אחת מהן לא תיתפס על ידי assertions נתונים. שאלו את הצוות אם חוו אי פעם אחד מאלה בפרודקשן.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pixelmatch עושה את ההשוואה — ה-baseline הוא רק PNG שמגובה ב-repo. הסף הוא החלטת ההגדרה החשובה ביותר.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הסבירו: ה-snapshots נשמרים ב-base_images/snapshots, מגובים ב-git. ה-diff output לא מגובה — עולה כ-artifact.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ההגדרה לוקחת כ-5 דקות. הסף 0.02 מומלץ לגרפים — קצת יותר סבלני מ-UI סטטי.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הדגישו שהפונקציה imageComparator עוטפת את matchImageSnapshot ומוסיפה viewport קבוע ו-threshold מותאם לגרפים.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צעד 2 הוא הלב — GitLab UI, Run Pipeline, BASE_IMAGE=true. כל השאר אוטומטי.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ה-diff יראה בדיוק אילו עמודות או קווים זזו. ה-artifact עולה ל-GitLab אוטומטית.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ה-artifacts block קריטי — תמונות Diff נגישות לסוקרים. expose_as נותן שם ידידותי ב-MR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אנימציית גרף היא המכשול הגדול ביותר. קבעו את כלל הפייפליין מוקדם: baselines תמיד מ-CI, לעולם לא מהמכונה המקומית.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שלב הסקירה קריטי — מישהו חייב לאשר שהשינוי מכוון לפני עדכון ה-baseline.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הנתונים חייבים תמיד להיות מדומים — אחרת הבדיקות לעולם לא יהיו יציבות.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בדיקת רכיבים היא המהירה — ללא overhead. Snapshots רספונסיביים נותנים כיסוי בכל ה-breakpoints בבדיקה אחת.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סכמו ב-2 דקות. חזרו על כלל הפייפליין — תמיד BASE_IMAGE=true, לא ממכונה מקומית.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5986"/>
          </a:solidFill>
          <a:ln w="12700">
            <a:solidFill>
              <a:srgbClr val="2D59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בדיקות רגרסיה ויזואלית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1488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2D59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עם cypress-image-snapshot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840480" y="2788920"/>
            <a:ext cx="1554480" cy="45720"/>
          </a:xfrm>
          <a:prstGeom prst="rect">
            <a:avLst/>
          </a:prstGeom>
          <a:solidFill>
            <a:srgbClr val="2D5986"/>
          </a:solidFill>
          <a:ln w="12700">
            <a:solidFill>
              <a:srgbClr val="2D59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971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9B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צוות QA ואוטומציה  ·  סדנת הכשרה למפתחים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429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9B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אימות פיקסל-פרפקט לגרפי Highcharts ורכיבים מותאמים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640080"/>
            <a:ext cx="3657600" cy="244144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69280" y="3246120"/>
            <a:ext cx="3108960" cy="502920"/>
          </a:xfrm>
          <a:prstGeom prst="roundRect">
            <a:avLst>
              <a:gd name="adj" fmla="val 10909"/>
            </a:avLst>
          </a:prstGeom>
          <a:solidFill>
            <a:srgbClr val="EDF7F1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0" y="326440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A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הגרפים שלכם מאומתים אוטומטית בכל PR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D5986"/>
          </a:solidFill>
          <a:ln w="12700">
            <a:solidFill>
              <a:srgbClr val="2D59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סדר יום הסשן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663440" y="1545336"/>
            <a:ext cx="416052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85048" y="1060704"/>
            <a:ext cx="347472" cy="292608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85048" y="106070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736592" y="10789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מהי בדיקת רגרסיה ויזואלית?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36592" y="10789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דק׳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2212848"/>
            <a:ext cx="416052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85048" y="1728216"/>
            <a:ext cx="347472" cy="292608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85048" y="172821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36592" y="174650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באגים שבדיקות ויזואליות תופסות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36592" y="17465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דק׳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880360"/>
            <a:ext cx="416052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85048" y="2395728"/>
            <a:ext cx="347472" cy="292608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85048" y="239572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36592" y="241401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כיצד cypress-image-snapshot עובד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36592" y="24140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דק׳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547872"/>
            <a:ext cx="416052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85048" y="3063240"/>
            <a:ext cx="347472" cy="292608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85048" y="3063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36592" y="30815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ארכיטקטורת פרויקט והגדרה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36592" y="30815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דק׳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4215384"/>
            <a:ext cx="416052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85048" y="3730752"/>
            <a:ext cx="347472" cy="292608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85048" y="373075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36592" y="37490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כתיבת בדיקות ויזואליות לגרפים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36592" y="3749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דק׳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4882896"/>
            <a:ext cx="416052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85048" y="4398264"/>
            <a:ext cx="347472" cy="292608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85048" y="439826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36592" y="44165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יצירת Base Image — שלב אחר שלב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36592" y="44165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דק׳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1545336"/>
            <a:ext cx="416052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41648" y="1060704"/>
            <a:ext cx="347472" cy="292608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41648" y="106070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93192" y="10789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אינטגרציית CI/CD — GitLab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93192" y="10789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דק׳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2212848"/>
            <a:ext cx="416052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041648" y="1728216"/>
            <a:ext cx="347472" cy="292608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41648" y="172821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93192" y="174650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טעויות נפוצות ודיבוג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93192" y="17465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דק׳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2880360"/>
            <a:ext cx="416052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041648" y="2395728"/>
            <a:ext cx="347472" cy="292608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41648" y="239572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93192" y="241401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מחזור חיי snapshot ו-PR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93192" y="24140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דק׳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0040" y="3547872"/>
            <a:ext cx="416052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041648" y="3063240"/>
            <a:ext cx="347472" cy="292608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41648" y="30632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93192" y="30815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מתי להשתמש (ומתי לא)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93192" y="30815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דק׳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20040" y="4215384"/>
            <a:ext cx="416052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041648" y="3730752"/>
            <a:ext cx="347472" cy="292608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041648" y="373075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393192" y="37490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תרגילים מעשיים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93192" y="3749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דק׳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D5986"/>
          </a:solidFill>
          <a:ln w="12700">
            <a:solidFill>
              <a:srgbClr val="2D59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מהי בדיקת רגרסיה ויזואלית?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754880" y="914400"/>
            <a:ext cx="4069080" cy="4005072"/>
          </a:xfrm>
          <a:prstGeom prst="roundRect">
            <a:avLst>
              <a:gd name="adj" fmla="val 1826"/>
            </a:avLst>
          </a:prstGeom>
          <a:solidFill>
            <a:srgbClr val="F7F8FA"/>
          </a:solidFill>
          <a:ln w="9525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914400"/>
            <a:ext cx="4069080" cy="402336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950976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בדיקות פונקציונליות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1389888"/>
            <a:ext cx="3840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בודקת שכפתורים עובדים, טפסים נשלחים, APIs מחזירים נתונים</a:t>
            </a:r>
            <a:endParaRPr lang="en-US" sz="1200" dirty="0"/>
          </a:p>
          <a:p>
            <a:pPr rtl="1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מאמתת נוכחות DOM וערכי טקסט</a:t>
            </a:r>
            <a:endParaRPr lang="en-US" sz="1200" dirty="0"/>
          </a:p>
          <a:p>
            <a:pPr rtl="1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עיוורת לפריסה, ריווח, צבע והיררכיה ויזואלית</a:t>
            </a:r>
            <a:endParaRPr lang="en-US" sz="1200" dirty="0"/>
          </a:p>
          <a:p>
            <a:pPr rtl="1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יכולה לעבור גם כשה-UI שבור לחלוטין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2450592"/>
            <a:ext cx="640080" cy="64008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24505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914400"/>
            <a:ext cx="3840480" cy="4005072"/>
          </a:xfrm>
          <a:prstGeom prst="roundRect">
            <a:avLst>
              <a:gd name="adj" fmla="val 1905"/>
            </a:avLst>
          </a:prstGeom>
          <a:solidFill>
            <a:srgbClr val="EBF2FA"/>
          </a:solidFill>
          <a:ln w="9525">
            <a:solidFill>
              <a:srgbClr val="2D598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914400"/>
            <a:ext cx="3840480" cy="402336"/>
          </a:xfrm>
          <a:prstGeom prst="rect">
            <a:avLst/>
          </a:prstGeom>
          <a:solidFill>
            <a:srgbClr val="2D5986"/>
          </a:solidFill>
          <a:ln w="12700">
            <a:solidFill>
              <a:srgbClr val="2D59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95097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בדיקות רגרסיה ויזואלית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1389888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מצלמת baseline screenshot במצב תקין</a:t>
            </a:r>
            <a:endParaRPr lang="en-US" sz="1200" dirty="0"/>
          </a:p>
          <a:p>
            <a:pPr rtl="1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בכל ריצה, משווה פיקסל-פיקסל מול ה-baseline</a:t>
            </a:r>
            <a:endParaRPr lang="en-US" sz="1200" dirty="0"/>
          </a:p>
          <a:p>
            <a:pPr rtl="1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מדגישה הבדלים: גבהי עמודות שגויים, סדרות חסרות, שינויי צבע</a:t>
            </a:r>
            <a:endParaRPr lang="en-US" sz="1200" dirty="0"/>
          </a:p>
          <a:p>
            <a:pPr rtl="1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הבדיקה האוטומטית היחידה שרואה מה המשתמש רואה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D5986"/>
          </a:solidFill>
          <a:ln w="12700">
            <a:solidFill>
              <a:srgbClr val="2D59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באגים אמיתיים שבדיקות ויזואליות תופסות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3035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אלה עוברים את כל הבדיקות הפונקציונליות — ומגיעים לפרודקשן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09160" y="914400"/>
            <a:ext cx="4251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09160" y="914400"/>
            <a:ext cx="425196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48472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892040" y="1042416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גבהי עמודות שגויים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892040" y="1426464"/>
            <a:ext cx="388620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517904"/>
            <a:ext cx="393192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שינוי הגדרות Highcharts משנה את קנה המידה של ציר ה-Y. העמודות מירנדרות בפרופורציות שגויות. assertion נתונים: עובר. בדיקה ויזואלית: תופסת מיד.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914400"/>
            <a:ext cx="4251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914400"/>
            <a:ext cx="425196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59352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👁️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02920" y="1042416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סדרה / מקרא חסרים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1426464"/>
            <a:ext cx="388620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517904"/>
            <a:ext cx="393192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עדכון ערכת צבעים מוריד סדרת גרף מהרינדור. הנתונים נטענים תקין — אבל קו אחד נעלם ויזואלית מהגרף.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999232"/>
            <a:ext cx="4251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999232"/>
            <a:ext cx="425196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8472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92040" y="312724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חפיפת Tooltip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892040" y="3511296"/>
            <a:ext cx="388620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602736"/>
            <a:ext cx="393192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שינוי z-index ב-CSS גורם לתיבות ה-tooltip להירנדר מאחורי אלמנטים אחרים. אינטראקטיבי בקוד, בלתי נראה על המסך.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2999232"/>
            <a:ext cx="4251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999232"/>
            <a:ext cx="425196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59352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✂️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02920" y="312724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קיצוץ תוויות ציר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02920" y="3511296"/>
            <a:ext cx="388620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602736"/>
            <a:ext cx="393192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תוויות תאריך ארוכות עוברות לשורה שנייה או מקוצצות אחרי שינוי פונט. הערכים נכונים אך התוויות חתוכות, הופכות את הגרף לבלתי קריא.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D5986"/>
          </a:solidFill>
          <a:ln w="12700">
            <a:solidFill>
              <a:srgbClr val="2D59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כיצד cypress-image-snapshot עובד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274320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35608" y="1078992"/>
            <a:ext cx="502920" cy="5029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35608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1691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📷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11480" y="22860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צילום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2688336"/>
            <a:ext cx="219456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61488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בריצה הראשונה, Cypress מצלם screenshot ושומר אותו כ-PNG baseline. זהו מקור האמת שלכם.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63240" y="21945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B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00400" y="96012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960120"/>
            <a:ext cx="2743200" cy="54864"/>
          </a:xfrm>
          <a:prstGeom prst="rect">
            <a:avLst/>
          </a:prstGeom>
          <a:solidFill>
            <a:srgbClr val="2D5986"/>
          </a:solidFill>
          <a:ln w="12700">
            <a:solidFill>
              <a:srgbClr val="2D598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15968" y="1078992"/>
            <a:ext cx="502920" cy="502920"/>
          </a:xfrm>
          <a:prstGeom prst="ellipse">
            <a:avLst/>
          </a:prstGeom>
          <a:solidFill>
            <a:srgbClr val="2D5986"/>
          </a:solidFill>
          <a:ln w="12700">
            <a:solidFill>
              <a:srgbClr val="2D59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15968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91840" y="1691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291840" y="22860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2D59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השוואה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474720" y="2688336"/>
            <a:ext cx="219456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2761488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בריצות הבאות, screenshot חדש מצולם ומושווה פיקסל-פיקסל מול ה-baseline באמצעות pixelmatch.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0" y="21945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B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080760" y="96012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0760" y="960120"/>
            <a:ext cx="2743200" cy="5486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96328" y="1078992"/>
            <a:ext cx="502920" cy="50292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96328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72200" y="1691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172200" y="22860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דיווח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55080" y="2688336"/>
            <a:ext cx="219456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2761488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אם ה-diff עולה על הסף, הבדיקה נכשלת ותמונת diff נשמרת המדגישה את האזור ששונה.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4251960"/>
            <a:ext cx="8503920" cy="566928"/>
          </a:xfrm>
          <a:prstGeom prst="roundRect">
            <a:avLst>
              <a:gd name="adj" fmla="val 12903"/>
            </a:avLst>
          </a:prstGeom>
          <a:solidFill>
            <a:srgbClr val="EBF2FA"/>
          </a:solidFill>
          <a:ln w="9525">
            <a:solidFill>
              <a:srgbClr val="2D598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909560" y="431596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סף וסובלנות: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297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failureThreshold (0–1) שולט בכמות הפיקסלים השונים המותרת. השתמשו ב-'percent'. מומלץ: 0.01 ל-UI סטטי, 0.02 לגרפים.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D5986"/>
          </a:solidFill>
          <a:ln w="12700">
            <a:solidFill>
              <a:srgbClr val="2D59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ארכיטקטורת פרויקט ומבנה תיקיות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96112"/>
            <a:ext cx="4251960" cy="4279392"/>
          </a:xfrm>
          <a:prstGeom prst="roundRect">
            <a:avLst>
              <a:gd name="adj" fmla="val 1720"/>
            </a:avLst>
          </a:prstGeom>
          <a:solidFill>
            <a:srgbClr val="1E2D3D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05840"/>
            <a:ext cx="39319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cypress/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e2e/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charts.cy.ts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dashboard.cy.ts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base_images/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snapshots/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charts.cy.ts/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revenue-chart.snap.png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dashboard.cy.ts/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kpi-chart.snap.png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__diff_output__/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revenue-chart.diff.png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support/commands.ts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cypress.config.ts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36592" y="960120"/>
            <a:ext cx="408736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36592" y="960120"/>
            <a:ext cx="4087368" cy="54864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1069848"/>
            <a:ext cx="3904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base_images/snapshots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28032" y="1417320"/>
            <a:ext cx="3904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מגובים ב-git — מקור האמת. מועתקים מה-artifact אחרי הרצת BASE_IMAGE=true.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36592" y="2331720"/>
            <a:ext cx="408736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36592" y="2331720"/>
            <a:ext cx="4087368" cy="54864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2441448"/>
            <a:ext cx="3904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פלט Diff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28032" y="2788920"/>
            <a:ext cx="3904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נוצר בכישלון. לא מגובה. מועלה כ-artifact לבדיקה ב-GitLab UI.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36592" y="3703320"/>
            <a:ext cx="408736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36592" y="3703320"/>
            <a:ext cx="4087368" cy="54864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3813048"/>
            <a:ext cx="3904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ממוין לפי קובץ spec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28032" y="4160520"/>
            <a:ext cx="39044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תיקיות snapshot ממחזות את מבנה קבצי הבדיקה אוטומטית.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36592" y="5102352"/>
            <a:ext cx="4087368" cy="320040"/>
          </a:xfrm>
          <a:prstGeom prst="roundRect">
            <a:avLst>
              <a:gd name="adj" fmla="val 22857"/>
            </a:avLst>
          </a:prstGeom>
          <a:solidFill>
            <a:srgbClr val="EBF2FA"/>
          </a:solidFill>
          <a:ln w="9525">
            <a:solidFill>
              <a:srgbClr val="2D598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28032" y="5129784"/>
            <a:ext cx="3904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הוסיפו __diff_output__/ ל-.gitignore. גבו את base_images/snapshots/ כמו קוד מקור.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D5986"/>
          </a:solidFill>
          <a:ln w="12700">
            <a:solidFill>
              <a:srgbClr val="2D59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התקנה והגדרה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96112"/>
            <a:ext cx="85039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39912" y="9601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39912" y="960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התקנת החבילה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298448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1E2D3D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335024"/>
            <a:ext cx="7973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--save-dev cypress-image-snapshot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901952"/>
            <a:ext cx="8503920" cy="1773936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39912" y="19659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9912" y="1965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196596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רישום Plugin  (cypress.config.ts)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2304288"/>
            <a:ext cx="8229600" cy="1298448"/>
          </a:xfrm>
          <a:prstGeom prst="roundRect">
            <a:avLst>
              <a:gd name="adj" fmla="val 3521"/>
            </a:avLst>
          </a:prstGeom>
          <a:solidFill>
            <a:srgbClr val="1E2D3D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340864"/>
            <a:ext cx="797356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addMatchImageSnapshotPlugin } from 'cypress-image-snapshot/plugin';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defineConfig({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e2e: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setupNodeEvents(on, config)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addMatchImageSnapshotPlugin(on, config);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749040"/>
            <a:ext cx="8503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39912" y="3813048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39912" y="3813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81304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הוספת פקודה  (cypress/support/commands.ts)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151376"/>
            <a:ext cx="8229600" cy="896112"/>
          </a:xfrm>
          <a:prstGeom prst="roundRect">
            <a:avLst>
              <a:gd name="adj" fmla="val 5102"/>
            </a:avLst>
          </a:prstGeom>
          <a:solidFill>
            <a:srgbClr val="1E2D3D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4187952"/>
            <a:ext cx="7973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addMatchImageSnapshotCommand } from 'cypress-image-snapshot/command';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addMatchImageSnapshotCommand({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failureThreshold: 0.02,      // 2% לגרפים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failureThresholdType: 'percent',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D5986"/>
          </a:solidFill>
          <a:ln w="12700">
            <a:solidFill>
              <a:srgbClr val="2D59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כתיבת בדיקות ויזואליות לגרפים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96112"/>
            <a:ext cx="5029200" cy="4279392"/>
          </a:xfrm>
          <a:prstGeom prst="roundRect">
            <a:avLst>
              <a:gd name="adj" fmla="val 1709"/>
            </a:avLst>
          </a:prstGeom>
          <a:solidFill>
            <a:srgbClr val="1E2D3D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6926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BA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charts.cy.ts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43584"/>
            <a:ext cx="4663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describe('Revenue Chart', ()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beforeEach(()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cy.intercept('/api/revenue',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fixture: 'revenue.json' 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cy.visit('/dashboard/charts');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cy.get('.highcharts-root')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.should('be.visible');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cy.get('.highcharts-series')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.should('exist');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cy.get('.highcharts-point')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.should('have.length.greaterThan', 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it('matches chart baseline', ()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קריאה ל-imageComparator שלנו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במקום matchImageSnapshot ישירות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imageComparator(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'revenue-chart',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cy.get('[data-testid="revenue-chart"]')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532120" y="932688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596128" y="1042416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987552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המתינו ל-.highcharts-series ו-.highcharts-point — לא רק לטעינת DOM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532120" y="1627632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96128" y="1737360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0" y="1682496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צלמו את מיכל הגרף, לא את הדף המלא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532120" y="2322576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96128" y="2432304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0" y="237744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דמו את ה-API — אותם נתונים = אותו גרף = baseline יציב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32120" y="301752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96128" y="3127248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0" y="3072384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השתמשו בסף של 1–3% לגרפים (שונות פיקסלים גדולה יותר)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32120" y="3712464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96128" y="3822192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0" y="3767328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קראו ל-imageComparator ולא ל-matchImageSnapshot ישירות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532120" y="4407408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596128" y="4517136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0" y="4462272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לעולם אל תצלמו גרפים עם נתונים חיים — דמו הכל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D5986"/>
          </a:solidFill>
          <a:ln w="12700">
            <a:solidFill>
              <a:srgbClr val="2D59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יצירת Base Image — שלב אחר שלב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627632" cy="365760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1627632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1042416"/>
            <a:ext cx="457200" cy="4572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1627632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65760" y="2157984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פרסו על auto 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16352"/>
            <a:ext cx="1261872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898648"/>
            <a:ext cx="144475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וודאו שהסביבה יציבה לפני כל דבר אחר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20240" y="2560320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993392" y="914400"/>
            <a:ext cx="1627632" cy="365760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93392" y="914400"/>
            <a:ext cx="162763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78608" y="1042416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78608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084832" y="1627632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084832" y="2157984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GitLab UI — הגדירו משתנה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76272" y="2816352"/>
            <a:ext cx="1261872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84832" y="2898648"/>
            <a:ext cx="144475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Pipeline ← הוסיפו:</a:t>
            </a:r>
            <a:endParaRPr lang="en-US" sz="1000" dirty="0"/>
          </a:p>
          <a:p>
            <a:pPr rtl="1"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BASE_IMAGE = true</a:t>
            </a:r>
            <a:endParaRPr lang="en-US" sz="1000" dirty="0"/>
          </a:p>
          <a:p>
            <a:pPr rtl="1"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תחת הברנץ׳ שלכם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39312" y="2560320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712464" y="914400"/>
            <a:ext cx="1627632" cy="365760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12464" y="914400"/>
            <a:ext cx="1627632" cy="73152"/>
          </a:xfrm>
          <a:prstGeom prst="rect">
            <a:avLst/>
          </a:prstGeom>
          <a:solidFill>
            <a:srgbClr val="2D5986"/>
          </a:solidFill>
          <a:ln w="12700">
            <a:solidFill>
              <a:srgbClr val="2D598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7680" y="1042416"/>
            <a:ext cx="457200" cy="457200"/>
          </a:xfrm>
          <a:prstGeom prst="ellipse">
            <a:avLst/>
          </a:prstGeom>
          <a:solidFill>
            <a:srgbClr val="2D5986"/>
          </a:solidFill>
          <a:ln w="12700">
            <a:solidFill>
              <a:srgbClr val="2D59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803904" y="1627632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▶️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803904" y="2157984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2D59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הריצו את הפייפליין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895344" y="2816352"/>
            <a:ext cx="1261872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03904" y="2898648"/>
            <a:ext cx="144475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Cypress מצלם את כל הגרפים במצב baseline — ללא השוואה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58384" y="2560320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31536" y="914400"/>
            <a:ext cx="1627632" cy="365760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31536" y="914400"/>
            <a:ext cx="1627632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16752" y="1042416"/>
            <a:ext cx="457200" cy="4572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16752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522976" y="1627632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5522976" y="2157984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הורידו את ה-Artifact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614416" y="2816352"/>
            <a:ext cx="1261872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22976" y="2898648"/>
            <a:ext cx="144475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הפייפליין מייצר תיקיית base/images</a:t>
            </a:r>
            <a:endParaRPr lang="en-US" sz="1000" dirty="0"/>
          </a:p>
          <a:p>
            <a:pPr rtl="1"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הורידו אותה מ-GitLab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077456" y="2560320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150608" y="914400"/>
            <a:ext cx="1627632" cy="365760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150608" y="914400"/>
            <a:ext cx="1627632" cy="7315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35824" y="1042416"/>
            <a:ext cx="457200" cy="457200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35824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7242048" y="1627632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7242048" y="2157984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A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העתיקו וגבו ב-Git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333488" y="2816352"/>
            <a:ext cx="1261872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42048" y="2898648"/>
            <a:ext cx="144475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העתיקו ל-branch:</a:t>
            </a:r>
            <a:endParaRPr lang="en-US" sz="1000" dirty="0"/>
          </a:p>
          <a:p>
            <a:pPr rtl="1"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base_images/snapshots/</a:t>
            </a:r>
            <a:endParaRPr lang="en-US" sz="1000" dirty="0"/>
          </a:p>
          <a:p>
            <a:pPr rtl="1"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add + commit + push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74320" y="4663440"/>
            <a:ext cx="8595360" cy="384048"/>
          </a:xfrm>
          <a:prstGeom prst="roundRect">
            <a:avLst>
              <a:gd name="adj" fmla="val 19048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8229600" y="4709160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חשוב: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384048" y="4709160"/>
            <a:ext cx="7726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הפייפליין רץ על סביבת auto 1 — לכן ה-base images תמיד עקביים עם ה-CI. לעולם אל תייצרו base images ממכונה מקומית.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D5986"/>
          </a:solidFill>
          <a:ln w="12700">
            <a:solidFill>
              <a:srgbClr val="2D59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קורה כשבדיקה נכשלת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743200" cy="2816352"/>
          </a:xfrm>
          <a:prstGeom prst="roundRect">
            <a:avLst>
              <a:gd name="adj" fmla="val 2667"/>
            </a:avLst>
          </a:prstGeom>
          <a:solidFill>
            <a:srgbClr val="EDF7F1"/>
          </a:solidFill>
          <a:ln w="9525">
            <a:solidFill>
              <a:srgbClr val="1A6B3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2743200" cy="7315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2468880" cy="1645920"/>
          </a:xfrm>
          <a:prstGeom prst="roundRect">
            <a:avLst>
              <a:gd name="adj" fmla="val 3333"/>
            </a:avLst>
          </a:prstGeom>
          <a:solidFill>
            <a:srgbClr val="F7F8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5156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i="1" dirty="0">
                <a:solidFill>
                  <a:srgbClr val="9B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צילום גרף 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78892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1A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3099816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i="1" dirty="0">
                <a:solidFill>
                  <a:srgbClr val="9B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מגובה ב-git</a:t>
            </a:r>
            <a:endParaRPr lang="en-US" sz="1000" dirty="0"/>
          </a:p>
          <a:p>
            <a:pPr rtl="1" algn="ctr" indent="0" marL="0">
              <a:buNone/>
            </a:pPr>
            <a:r>
              <a:rPr lang="en-US" sz="1000" i="1" dirty="0">
                <a:solidFill>
                  <a:srgbClr val="9B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מצב גרף צפוי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914400"/>
            <a:ext cx="2743200" cy="2816352"/>
          </a:xfrm>
          <a:prstGeom prst="roundRect">
            <a:avLst>
              <a:gd name="adj" fmla="val 2667"/>
            </a:avLst>
          </a:prstGeom>
          <a:solidFill>
            <a:srgbClr val="FFFBEB"/>
          </a:solidFill>
          <a:ln w="9525">
            <a:solidFill>
              <a:srgbClr val="CA8A0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914400"/>
            <a:ext cx="2743200" cy="73152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051560"/>
            <a:ext cx="2468880" cy="1645920"/>
          </a:xfrm>
          <a:prstGeom prst="roundRect">
            <a:avLst>
              <a:gd name="adj" fmla="val 3333"/>
            </a:avLst>
          </a:prstGeom>
          <a:solidFill>
            <a:srgbClr val="F7F8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05156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i="1" dirty="0">
                <a:solidFill>
                  <a:srgbClr val="9B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צילום גרף 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278892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3099816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i="1" dirty="0">
                <a:solidFill>
                  <a:srgbClr val="9B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צולם בזמן</a:t>
            </a:r>
            <a:endParaRPr lang="en-US" sz="1000" dirty="0"/>
          </a:p>
          <a:p>
            <a:pPr rtl="1" algn="ctr" indent="0" marL="0">
              <a:buNone/>
            </a:pPr>
            <a:r>
              <a:rPr lang="en-US" sz="1000" i="1" dirty="0">
                <a:solidFill>
                  <a:srgbClr val="9B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ריצת הבדיקה הכושלת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914400"/>
            <a:ext cx="2743200" cy="2816352"/>
          </a:xfrm>
          <a:prstGeom prst="roundRect">
            <a:avLst>
              <a:gd name="adj" fmla="val 2667"/>
            </a:avLst>
          </a:prstGeom>
          <a:solidFill>
            <a:srgbClr val="FEF2F2"/>
          </a:solidFill>
          <a:ln w="9525">
            <a:solidFill>
              <a:srgbClr val="B91C1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914400"/>
            <a:ext cx="2743200" cy="7315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051560"/>
            <a:ext cx="2468880" cy="1645920"/>
          </a:xfrm>
          <a:prstGeom prst="roundRect">
            <a:avLst>
              <a:gd name="adj" fmla="val 3333"/>
            </a:avLst>
          </a:prstGeom>
          <a:solidFill>
            <a:srgbClr val="F7F8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05156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i="1" dirty="0">
                <a:solidFill>
                  <a:srgbClr val="9B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צילום גרף ]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72200" y="278892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72200" y="3099816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i="1" dirty="0">
                <a:solidFill>
                  <a:srgbClr val="9B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שינויים מודגשים</a:t>
            </a:r>
            <a:endParaRPr lang="en-US" sz="1000" dirty="0"/>
          </a:p>
          <a:p>
            <a:pPr rtl="1" algn="ctr" indent="0" marL="0">
              <a:buNone/>
            </a:pPr>
            <a:r>
              <a:rPr lang="en-US" sz="1000" i="1" dirty="0">
                <a:solidFill>
                  <a:srgbClr val="9B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נשמר ב-__diff_output__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822192"/>
            <a:ext cx="8503920" cy="1261872"/>
          </a:xfrm>
          <a:prstGeom prst="roundRect">
            <a:avLst>
              <a:gd name="adj" fmla="val 5797"/>
            </a:avLst>
          </a:prstGeom>
          <a:solidFill>
            <a:srgbClr val="1E2D3D"/>
          </a:solidFill>
          <a:ln w="9525">
            <a:solidFill>
              <a:srgbClr val="B91C1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3913632"/>
            <a:ext cx="8229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CypressError: 'revenue-chart' image mismatch!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Expected: 0 differing pixels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Received: 5,812 pixels (1.87% of total)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Threshold: 1.00%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Diff saved: cypress/__diff_output__/revenue-chart.diff.png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D5986"/>
          </a:solidFill>
          <a:ln w="12700">
            <a:solidFill>
              <a:srgbClr val="2D59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אינטגרציית CI/CD — GitLab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96112"/>
            <a:ext cx="5166360" cy="4279392"/>
          </a:xfrm>
          <a:prstGeom prst="roundRect">
            <a:avLst>
              <a:gd name="adj" fmla="val 1709"/>
            </a:avLst>
          </a:prstGeom>
          <a:solidFill>
            <a:srgbClr val="1E2D3D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6926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BA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.gitlab-ci.yml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48920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visual-regression: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stage: test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image: cypress/included:13.0.0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script: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npm ci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npx cypress run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--spec "cypress/e2e/**/*.cy.ts"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artifacts: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when: on_failure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cypress/__diff_output__/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expire_in: 7 days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expose_as: "Visual Diff Output"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rules: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if: $CI_PIPELINE_SOURCE == "merge_request_event"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if: $CI_COMMIT_BRANCH == "main"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50992" y="932688"/>
            <a:ext cx="3172968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50992" y="932688"/>
            <a:ext cx="3172968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87568" y="1042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126480" y="10241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רץ ב-MR + main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87568" y="1389888"/>
            <a:ext cx="3044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תפסו רגרסיות לפני מיזוג, אמתו בכל push ל-main.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50992" y="1993392"/>
            <a:ext cx="3172968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50992" y="1993392"/>
            <a:ext cx="3172968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7568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26480" y="208483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 בכישלון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87568" y="2450592"/>
            <a:ext cx="3044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תמונות Diff מועלות ומקושרות ב-UI של הפייפליין — ללא חיפוש ידני.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50992" y="3054096"/>
            <a:ext cx="3172968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50992" y="3054096"/>
            <a:ext cx="3172968" cy="54864"/>
          </a:xfrm>
          <a:prstGeom prst="rect">
            <a:avLst/>
          </a:prstGeom>
          <a:solidFill>
            <a:srgbClr val="2D5986"/>
          </a:solidFill>
          <a:ln w="12700">
            <a:solidFill>
              <a:srgbClr val="2D598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87568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🐳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26480" y="314553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2D59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של Cypress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87568" y="3511296"/>
            <a:ext cx="3044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השתמשו ב-cypress/included — רינדור עקבי כמו CI.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50992" y="4114800"/>
            <a:ext cx="3172968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50992" y="4114800"/>
            <a:ext cx="3172968" cy="5486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87568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126480" y="42062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A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עדכוני Baseline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87568" y="4572000"/>
            <a:ext cx="3044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לעולם אל תעדכנו baselines אוטומטית ב-CI. עדכנו ידנית ב-GitLab UI.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D5986"/>
          </a:solidFill>
          <a:ln w="12700">
            <a:solidFill>
              <a:srgbClr val="2D59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טעויות נפוצות ודיבוג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434840" y="82296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9B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בעיה / גורם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9B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פתרון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850392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8503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92440" y="1207008"/>
            <a:ext cx="685800" cy="228600"/>
          </a:xfrm>
          <a:prstGeom prst="roundRect">
            <a:avLst>
              <a:gd name="adj" fmla="val 16000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207008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8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בעיה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117957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אנימציית גרף באמצע פריים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80560" y="150876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9B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גורם: Highcharts מאנימה בטעינה — snapshot שנלקח במהלך האנימציה מלכד רינדור חלקי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1508760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פתרון: הגדירו animation: false ב-Highcharts.setOptions() גלובלית ב-e2e.ts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103120"/>
            <a:ext cx="8503920" cy="914400"/>
          </a:xfrm>
          <a:prstGeom prst="rect">
            <a:avLst/>
          </a:prstGeom>
          <a:solidFill>
            <a:srgbClr val="F7F8FA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2194560"/>
            <a:ext cx="685800" cy="228600"/>
          </a:xfrm>
          <a:prstGeom prst="roundRect">
            <a:avLst>
              <a:gd name="adj" fmla="val 16000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2440" y="219456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8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בעיה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21671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snapshots של Canvas מתנדנדים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480560" y="249631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9B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גורם: גרפי Canvas מירנדרים אסינכרונית — האלמנט קיים לפני שהפיקסלים מצוירים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496312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פתרון: חשפו אירוע rendered מהגרף ו-cy.wrap() אותו; או השתמשו ב-cy.should() עם assertion מותאם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090672"/>
            <a:ext cx="8503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92440" y="3182112"/>
            <a:ext cx="685800" cy="228600"/>
          </a:xfrm>
          <a:prstGeom prst="roundRect">
            <a:avLst>
              <a:gd name="adj" fmla="val 16000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92440" y="3182112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8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בעיה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315468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הבדלי רינדור OS / פונט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480560" y="348386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9B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גורם: תוויות ציר גרף מירנדרות שונה ב-macOS לעומת Linux CI — anti-aliasing משתנה לפי 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483864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פתרון: תמיד צלמו ועדכנו baselines דרך הפייפליין בלבד — לא ממכונה מקומית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4078224"/>
            <a:ext cx="8503920" cy="914400"/>
          </a:xfrm>
          <a:prstGeom prst="rect">
            <a:avLst/>
          </a:prstGeom>
          <a:solidFill>
            <a:srgbClr val="F7F8FA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92440" y="4169664"/>
            <a:ext cx="685800" cy="228600"/>
          </a:xfrm>
          <a:prstGeom prst="roundRect">
            <a:avLst>
              <a:gd name="adj" fmla="val 16000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92440" y="4169664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8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בעיה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414223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נתונים חיים ב-baseline של גרף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480560" y="4471416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9BA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גורם: הגרף מושך API אמיתי — ערכים שונים בכל ריצה מייצרים צורות גרף שונות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471416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פתרון: תמיד cy.intercept() את endpoint נתוני הגרף עם קובץ fixture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D5986"/>
          </a:solidFill>
          <a:ln w="12700">
            <a:solidFill>
              <a:srgbClr val="2D59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מחזור חיי Snapshot ותהליך סקירת PR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57860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2578608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90472" y="1088136"/>
            <a:ext cx="502920" cy="5029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90472" y="1088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709928"/>
            <a:ext cx="23957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שינוי גרף</a:t>
            </a:r>
            <a:endParaRPr lang="en-US" sz="1200" dirty="0"/>
          </a:p>
          <a:p>
            <a:pPr rtl="1"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מוזג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960120"/>
            <a:ext cx="257860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B91C1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960120"/>
            <a:ext cx="2578608" cy="7315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088136"/>
            <a:ext cx="502920" cy="50292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25112" y="1088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1709928"/>
            <a:ext cx="23957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בדיקה ויזואלית</a:t>
            </a:r>
            <a:endParaRPr lang="en-US" sz="1200" dirty="0"/>
          </a:p>
          <a:p>
            <a:pPr rtl="1"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נכשלת ב-CI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960120"/>
            <a:ext cx="257860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A8A0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960120"/>
            <a:ext cx="2578608" cy="73152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59752" y="1088136"/>
            <a:ext cx="502920" cy="502920"/>
          </a:xfrm>
          <a:prstGeom prst="ellipse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59752" y="1088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1709928"/>
            <a:ext cx="23957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המפתח סוקר</a:t>
            </a:r>
            <a:endParaRPr lang="en-US" sz="1200" dirty="0"/>
          </a:p>
          <a:p>
            <a:pPr rtl="1"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תמונות Diff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953512"/>
            <a:ext cx="257860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953512"/>
            <a:ext cx="2578608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90472" y="3081528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3081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3703320"/>
            <a:ext cx="23957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מכוון?</a:t>
            </a:r>
            <a:endParaRPr lang="en-US" sz="1200" dirty="0"/>
          </a:p>
          <a:p>
            <a:pPr rtl="1"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אישור עדכון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91840" y="2953512"/>
            <a:ext cx="257860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2D598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2953512"/>
            <a:ext cx="2578608" cy="73152"/>
          </a:xfrm>
          <a:prstGeom prst="rect">
            <a:avLst/>
          </a:prstGeom>
          <a:solidFill>
            <a:srgbClr val="2D5986"/>
          </a:solidFill>
          <a:ln w="12700">
            <a:solidFill>
              <a:srgbClr val="2D598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25112" y="3081528"/>
            <a:ext cx="502920" cy="502920"/>
          </a:xfrm>
          <a:prstGeom prst="ellipse">
            <a:avLst/>
          </a:prstGeom>
          <a:solidFill>
            <a:srgbClr val="2D5986"/>
          </a:solidFill>
          <a:ln w="12700">
            <a:solidFill>
              <a:srgbClr val="2D598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25112" y="3081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83280" y="3703320"/>
            <a:ext cx="23957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BASE_IMAGE=true</a:t>
            </a:r>
            <a:endParaRPr lang="en-US" sz="1200" dirty="0"/>
          </a:p>
          <a:p>
            <a:pPr rtl="1"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ב-GitLab UI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26480" y="2953512"/>
            <a:ext cx="257860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A6B3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2953512"/>
            <a:ext cx="2578608" cy="7315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59752" y="3081528"/>
            <a:ext cx="502920" cy="502920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59752" y="3081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17920" y="3703320"/>
            <a:ext cx="23957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→ העתק</a:t>
            </a:r>
            <a:endParaRPr lang="en-US" sz="1200" dirty="0"/>
          </a:p>
          <a:p>
            <a:pPr rtl="1"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ל-base_images/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0040" y="4681728"/>
            <a:ext cx="8503920" cy="384048"/>
          </a:xfrm>
          <a:prstGeom prst="roundRect">
            <a:avLst>
              <a:gd name="adj" fmla="val 19048"/>
            </a:avLst>
          </a:prstGeom>
          <a:solidFill>
            <a:srgbClr val="1E2D3D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57200" y="47457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GitLab UI → Run Pipeline → Add variable: BASE_IMAGE=true  →  הורד artifact  →  העתק ל-base_images/snapshots/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D5986"/>
          </a:solidFill>
          <a:ln w="12700">
            <a:solidFill>
              <a:srgbClr val="2D59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מתי להשתמש בבדיקות ויזואליות — ומתי לא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709160" y="914400"/>
            <a:ext cx="4114800" cy="4224528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9525">
            <a:solidFill>
              <a:srgbClr val="1A6B3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09160" y="914400"/>
            <a:ext cx="4114800" cy="7315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10241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A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השתמשו עבור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00600" y="1417320"/>
            <a:ext cx="393192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481328"/>
            <a:ext cx="393192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גרפי Highcharts עם נתונים יציבים ומדומים</a:t>
            </a:r>
            <a:endParaRPr lang="en-US" sz="1150" dirty="0"/>
          </a:p>
          <a:p>
            <a:pPr rtl="1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רכיבי גרף SVG או D3 מותאמים</a:t>
            </a:r>
            <a:endParaRPr lang="en-US" sz="1150" dirty="0"/>
          </a:p>
          <a:p>
            <a:pPr rtl="1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הגדרות גרף לאחר שדרוג גרסת Highcharts</a:t>
            </a:r>
            <a:endParaRPr lang="en-US" sz="1150" dirty="0"/>
          </a:p>
          <a:p>
            <a:pPr rtl="1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דפי דשבורד עם מערכי נתונים ידועים ומבוקרים</a:t>
            </a:r>
            <a:endParaRPr lang="en-US" sz="1150" dirty="0"/>
          </a:p>
          <a:p>
            <a:pPr rtl="1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פריסות גרף רספונסיביות על פני breakpoints</a:t>
            </a:r>
            <a:endParaRPr lang="en-US" sz="1150" dirty="0"/>
          </a:p>
          <a:p>
            <a:pPr rtl="1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לאחר שינויי design system או פלטת צבעים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914400"/>
            <a:ext cx="4251960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9525">
            <a:solidFill>
              <a:srgbClr val="B91C1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914400"/>
            <a:ext cx="4251960" cy="7315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024128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אל תשתמשו עבור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1417320"/>
            <a:ext cx="406908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481328"/>
            <a:ext cx="406908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גרפים חיים עם נתונים בזמן אמת או streaming</a:t>
            </a:r>
            <a:endParaRPr lang="en-US" sz="1150" dirty="0"/>
          </a:p>
          <a:p>
            <a:pPr rtl="1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גרפים בהם מספר נקודות הנתונים משתנה בין ריצות</a:t>
            </a:r>
            <a:endParaRPr lang="en-US" sz="1150" dirty="0"/>
          </a:p>
          <a:p>
            <a:pPr rtl="1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רכיבי גרף תחת עיצוב מחדש ויזואלי פעיל</a:t>
            </a:r>
            <a:endParaRPr lang="en-US" sz="1150" dirty="0"/>
          </a:p>
          <a:p>
            <a:pPr rtl="1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מצבי loading / skeleton של מיכלי גרף</a:t>
            </a:r>
            <a:endParaRPr lang="en-US" sz="1150" dirty="0"/>
          </a:p>
          <a:p>
            <a:pPr rtl="1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גרפים עם נתחי נתונים אקראיים או ספציפיים למשתמש</a:t>
            </a:r>
            <a:endParaRPr lang="en-US" sz="1150" dirty="0"/>
          </a:p>
          <a:p>
            <a:pPr rtl="1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כתחליף לבדיקות דיוק נתונים / unit tests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D5986"/>
          </a:solidFill>
          <a:ln w="12700">
            <a:solidFill>
              <a:srgbClr val="2D59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דפוסים מתקדמים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3035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סקלת בדיקות ויזואליות בפרויקטים ברמת פרודקשן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09160" y="960120"/>
            <a:ext cx="4251960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09160" y="960120"/>
            <a:ext cx="425196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58200" y="108813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🧩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892040" y="108813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בדיקה ויזואלית של רכיבים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92040" y="1508760"/>
            <a:ext cx="388620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600200"/>
            <a:ext cx="3931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השתמשו ב-Cypress Component Testing (cy.mount()) לצילום snapshot של רכיבי גרף בבידוד — מהיר יותר מ-E2E וממוקד יותר.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960120"/>
            <a:ext cx="4251960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960120"/>
            <a:ext cx="4251960" cy="73152"/>
          </a:xfrm>
          <a:prstGeom prst="rect">
            <a:avLst/>
          </a:prstGeom>
          <a:solidFill>
            <a:srgbClr val="2D5986"/>
          </a:solidFill>
          <a:ln w="12700">
            <a:solidFill>
              <a:srgbClr val="2D59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69080" y="108813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02920" y="108813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2D59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Snapshots רספונסיביים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1508760"/>
            <a:ext cx="388620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600200"/>
            <a:ext cx="3931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[375, 768, 1280, 1440].forEach(w =&gt; { cy.viewport(w, 900); cy.matchImageSnapshot(`chart-${w}`); }) — בדיקה אחת, כל ה-breakpoints.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3136392"/>
            <a:ext cx="4251960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3136392"/>
            <a:ext cx="42519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326440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92040" y="32644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ביצוע מקבילי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92040" y="3685032"/>
            <a:ext cx="388620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776472"/>
            <a:ext cx="3931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חלקו specs בין jobs מקבילים ב-CI. כל job מקבל תיקיית snapshots משלו. לעולם אל תשתפו תיקיית snapshot לכתיבה.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136392"/>
            <a:ext cx="4251960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9525">
            <a:solidFill>
              <a:srgbClr val="E8EC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136392"/>
            <a:ext cx="4251960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69080" y="326440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02920" y="32644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Snapshots של דף מלא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" y="3685032"/>
            <a:ext cx="388620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776472"/>
            <a:ext cx="3931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העבירו { capture: 'fullPage' } לצילום scroll של דשבורדים. צילומי עמוד מלא רגישים יותר — השתמשו בסף גבוה יותר (2–3%).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2D5986"/>
          </a:solidFill>
          <a:ln w="12700">
            <a:solidFill>
              <a:srgbClr val="2D59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מסקנות מרכזיות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96112"/>
            <a:ext cx="850392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1033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7726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assertions נתונים לבדם לא יכולים לתפוס רגרסיות גרף — בדיקות ויזואליות הן השכבה החסרה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554480"/>
            <a:ext cx="850392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7532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" y="1664208"/>
            <a:ext cx="7726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בטלו אנימציות Highcharts גלובלית ב-e2e.ts — עשו זאת פעם אחת, הרוויחו בכל בדיקות הגרפים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212848"/>
            <a:ext cx="850392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1480" y="2322576"/>
            <a:ext cx="7726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תמיד דמו נתוני גרף עם fixtures — נתונים חיים הופכים את ה-baselines לבלתי ניתנים לתחזוקה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2871216"/>
            <a:ext cx="850392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2980944"/>
            <a:ext cx="7726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צרו base images דרך הפייפליין בלבד (BASE_IMAGE=true) — לעולם לא ממכונה מקומית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3529584"/>
            <a:ext cx="850392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3666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11480" y="3639312"/>
            <a:ext cx="7726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צלמו את אלמנט מיכל הגרף, לא את הדף כולו — שומר על בדיקות ממוקדות ומהירות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4187952"/>
            <a:ext cx="8503920" cy="18288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4325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11480" y="4297680"/>
            <a:ext cx="7726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התחילו עם 3–5 גרפים יציבים ומדומים. העלו את הסף מעט (1–2%) לרכיבי גרף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371600" y="4754880"/>
            <a:ext cx="6400800" cy="329184"/>
          </a:xfrm>
          <a:prstGeom prst="roundRect">
            <a:avLst>
              <a:gd name="adj" fmla="val 22222"/>
            </a:avLst>
          </a:prstGeom>
          <a:solidFill>
            <a:srgbClr val="1E3A5F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371600" y="477316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שאלות? צללו לתרגילים  ←  cypress/e2e/workshop/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2026-09-08T08:49:32Z</dcterms:created>
  <dcterms:modified xsi:type="dcterms:W3CDTF">2026-09-08T08:49:32Z</dcterms:modified>
</cp:coreProperties>
</file>